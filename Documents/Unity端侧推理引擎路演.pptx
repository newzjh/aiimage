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a6f8c888d74dbc" /><Relationship Type="http://schemas.openxmlformats.org/officeDocument/2006/relationships/extended-properties" Target="/docProps/app.xml" Id="Rcf232687e37a4b7e" /><Relationship Type="http://schemas.openxmlformats.org/officeDocument/2006/relationships/officeDocument" Target="/ppt/presentation.xml" Id="Rc07c4f8adc4841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15cf0cffc34cde"/>
  </p:sldMasterIdLst>
  <p:notesMasterIdLst>
    <p:notesMasterId xmlns:r="http://schemas.openxmlformats.org/officeDocument/2006/relationships" r:id="Rc4f7cebb71154725"/>
  </p:notesMasterIdLst>
  <p:sldIdLst>
    <p:sldId xmlns:r="http://schemas.openxmlformats.org/officeDocument/2006/relationships" id="256" r:id="Rbbb0db8f226f496e"/>
    <p:sldId xmlns:r="http://schemas.openxmlformats.org/officeDocument/2006/relationships" id="257" r:id="Rbb6b8eb4aea34736"/>
    <p:sldId xmlns:r="http://schemas.openxmlformats.org/officeDocument/2006/relationships" id="258" r:id="R884595abd9044c95"/>
    <p:sldId xmlns:r="http://schemas.openxmlformats.org/officeDocument/2006/relationships" id="259" r:id="R435eb5d891a8471c"/>
    <p:sldId xmlns:r="http://schemas.openxmlformats.org/officeDocument/2006/relationships" id="260" r:id="Rb67ffb0dd79f4319"/>
    <p:sldId xmlns:r="http://schemas.openxmlformats.org/officeDocument/2006/relationships" id="261" r:id="Rf5034f84439a43f1"/>
    <p:sldId xmlns:r="http://schemas.openxmlformats.org/officeDocument/2006/relationships" id="262" r:id="R28de483a1435458f"/>
    <p:sldId xmlns:r="http://schemas.openxmlformats.org/officeDocument/2006/relationships" id="263" r:id="R831af26cc0ed44e0"/>
    <p:sldId xmlns:r="http://schemas.openxmlformats.org/officeDocument/2006/relationships" id="264" r:id="R76689760295445a2"/>
    <p:sldId xmlns:r="http://schemas.openxmlformats.org/officeDocument/2006/relationships" id="265" r:id="Ra510f81e50ce4fc9"/>
    <p:sldId xmlns:r="http://schemas.openxmlformats.org/officeDocument/2006/relationships" id="266" r:id="R6f4d44cc35684869"/>
    <p:sldId xmlns:r="http://schemas.openxmlformats.org/officeDocument/2006/relationships" id="267" r:id="R45ca87921fa7451e"/>
    <p:sldId xmlns:r="http://schemas.openxmlformats.org/officeDocument/2006/relationships" id="268" r:id="Rd5c6d662ce064e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d44a613eb24432" /><Relationship Type="http://schemas.openxmlformats.org/officeDocument/2006/relationships/slideMaster" Target="/ppt/slideMasters/slideMaster1.xml" Id="R1a15cf0cffc34cde" /><Relationship Type="http://schemas.openxmlformats.org/officeDocument/2006/relationships/notesMaster" Target="/ppt/notesMasters/notesMaster1.xml" Id="Rc4f7cebb71154725" /><Relationship Type="http://schemas.openxmlformats.org/officeDocument/2006/relationships/presProps" Target="/ppt/presProps.xml" Id="Rd1b84678fee64487" /><Relationship Type="http://schemas.openxmlformats.org/officeDocument/2006/relationships/tableStyles" Target="/ppt/tableStyles.xml" Id="R9980ee4f3d484644" /><Relationship Type="http://schemas.openxmlformats.org/officeDocument/2006/relationships/slide" Target="/ppt/slides/slide1.xml" Id="Rbbb0db8f226f496e" /><Relationship Type="http://schemas.openxmlformats.org/officeDocument/2006/relationships/slide" Target="/ppt/slides/slide2.xml" Id="Rbb6b8eb4aea34736" /><Relationship Type="http://schemas.openxmlformats.org/officeDocument/2006/relationships/slide" Target="/ppt/slides/slide3.xml" Id="R884595abd9044c95" /><Relationship Type="http://schemas.openxmlformats.org/officeDocument/2006/relationships/slide" Target="/ppt/slides/slide4.xml" Id="R435eb5d891a8471c" /><Relationship Type="http://schemas.openxmlformats.org/officeDocument/2006/relationships/slide" Target="/ppt/slides/slide5.xml" Id="Rb67ffb0dd79f4319" /><Relationship Type="http://schemas.openxmlformats.org/officeDocument/2006/relationships/slide" Target="/ppt/slides/slide6.xml" Id="Rf5034f84439a43f1" /><Relationship Type="http://schemas.openxmlformats.org/officeDocument/2006/relationships/slide" Target="/ppt/slides/slide7.xml" Id="R28de483a1435458f" /><Relationship Type="http://schemas.openxmlformats.org/officeDocument/2006/relationships/slide" Target="/ppt/slides/slide8.xml" Id="R831af26cc0ed44e0" /><Relationship Type="http://schemas.openxmlformats.org/officeDocument/2006/relationships/slide" Target="/ppt/slides/slide9.xml" Id="R76689760295445a2" /><Relationship Type="http://schemas.openxmlformats.org/officeDocument/2006/relationships/slide" Target="/ppt/slides/slide10.xml" Id="Ra510f81e50ce4fc9" /><Relationship Type="http://schemas.openxmlformats.org/officeDocument/2006/relationships/slide" Target="/ppt/slides/slide11.xml" Id="R6f4d44cc35684869" /><Relationship Type="http://schemas.openxmlformats.org/officeDocument/2006/relationships/slide" Target="/ppt/slides/slide12.xml" Id="R45ca87921fa7451e" /><Relationship Type="http://schemas.openxmlformats.org/officeDocument/2006/relationships/slide" Target="/ppt/slides/slide13.xml" Id="Rd5c6d662ce064e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e8f503df3543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a83904bcc74ce2" /><Relationship Type="http://schemas.openxmlformats.org/officeDocument/2006/relationships/notesMaster" Target="/ppt/notesMasters/notesMaster1.xml" Id="R5b19a28a69574d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987d21d4eb483d" /><Relationship Type="http://schemas.openxmlformats.org/officeDocument/2006/relationships/notesMaster" Target="/ppt/notesMasters/notesMaster1.xml" Id="Rd976b7f1798946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ce0f0795364433" /><Relationship Type="http://schemas.openxmlformats.org/officeDocument/2006/relationships/notesMaster" Target="/ppt/notesMasters/notesMaster1.xml" Id="R430192d70eca47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70a665c4e64901" /><Relationship Type="http://schemas.openxmlformats.org/officeDocument/2006/relationships/notesMaster" Target="/ppt/notesMasters/notesMaster1.xml" Id="R4ccd7f3d3b454f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84f1491a674a21" /><Relationship Type="http://schemas.openxmlformats.org/officeDocument/2006/relationships/notesMaster" Target="/ppt/notesMasters/notesMaster1.xml" Id="R0d95ec540c964f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f06a13c3674d74" /><Relationship Type="http://schemas.openxmlformats.org/officeDocument/2006/relationships/notesMaster" Target="/ppt/notesMasters/notesMaster1.xml" Id="Re729b32df2a84e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83756bc78a4136" /><Relationship Type="http://schemas.openxmlformats.org/officeDocument/2006/relationships/notesMaster" Target="/ppt/notesMasters/notesMaster1.xml" Id="R5d30b891438a45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e290a7e2ac4147" /><Relationship Type="http://schemas.openxmlformats.org/officeDocument/2006/relationships/notesMaster" Target="/ppt/notesMasters/notesMaster1.xml" Id="Re0ed9de49f8240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dd0839aedf4103" /><Relationship Type="http://schemas.openxmlformats.org/officeDocument/2006/relationships/notesMaster" Target="/ppt/notesMasters/notesMaster1.xml" Id="Re943050691b448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79aef622ca419f" /><Relationship Type="http://schemas.openxmlformats.org/officeDocument/2006/relationships/notesMaster" Target="/ppt/notesMasters/notesMaster1.xml" Id="R283c6723165a4a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7ebb6285fc40a9" /><Relationship Type="http://schemas.openxmlformats.org/officeDocument/2006/relationships/notesMaster" Target="/ppt/notesMasters/notesMaster1.xml" Id="Rdc591f2319d440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5121826f48440e" /><Relationship Type="http://schemas.openxmlformats.org/officeDocument/2006/relationships/notesMaster" Target="/ppt/notesMasters/notesMaster1.xml" Id="R95c197459dd342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39859b0b05451a" /><Relationship Type="http://schemas.openxmlformats.org/officeDocument/2006/relationships/notesMaster" Target="/ppt/notesMasters/notesMaster1.xml" Id="R0ce4d4825a024c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8471f628041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c2ed19f6ea4814" /><Relationship Type="http://schemas.openxmlformats.org/officeDocument/2006/relationships/slideLayout" Target="/ppt/slideLayouts/slideLayout1.xml" Id="R36e5da8a66634d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e5da8a66634d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621faf3bf43bf" /><Relationship Type="http://schemas.openxmlformats.org/officeDocument/2006/relationships/notesSlide" Target="/ppt/notesSlides/notesSlide1.xml" Id="R6eaf82a4324a45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1919555424e73" /><Relationship Type="http://schemas.openxmlformats.org/officeDocument/2006/relationships/notesSlide" Target="/ppt/notesSlides/notesSlide2.xml" Id="Ree9aef74f88b4c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56dc3f5e24e8f" /><Relationship Type="http://schemas.openxmlformats.org/officeDocument/2006/relationships/notesSlide" Target="/ppt/notesSlides/notesSlide3.xml" Id="R9641fa0447484e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aaff9e2c34fe8" /><Relationship Type="http://schemas.openxmlformats.org/officeDocument/2006/relationships/notesSlide" Target="/ppt/notesSlides/notesSlide4.xml" Id="R1aecc66a7bcc45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c8030112c4eeb" /><Relationship Type="http://schemas.openxmlformats.org/officeDocument/2006/relationships/notesSlide" Target="/ppt/notesSlides/notesSlide5.xml" Id="R5ae3bbed0dbf46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3129b0be449b3" /><Relationship Type="http://schemas.openxmlformats.org/officeDocument/2006/relationships/notesSlide" Target="/ppt/notesSlides/notesSlide6.xml" Id="R5928c8e5ee0645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62f580489480a" /><Relationship Type="http://schemas.openxmlformats.org/officeDocument/2006/relationships/notesSlide" Target="/ppt/notesSlides/notesSlide7.xml" Id="Ra22c9dda5b6843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5c9c2c4ff4829" /><Relationship Type="http://schemas.openxmlformats.org/officeDocument/2006/relationships/notesSlide" Target="/ppt/notesSlides/notesSlide8.xml" Id="Rb4528e6d297546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b483e199c43c6" /><Relationship Type="http://schemas.openxmlformats.org/officeDocument/2006/relationships/image" Target="/ppt/media/image.jpeg" Id="Re5a38b858c4146e7" /><Relationship Type="http://schemas.openxmlformats.org/officeDocument/2006/relationships/notesSlide" Target="/ppt/notesSlides/notesSlide9.xml" Id="R93d478502e044b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45d7f86a44cd0" /><Relationship Type="http://schemas.openxmlformats.org/officeDocument/2006/relationships/notesSlide" Target="/ppt/notesSlides/notesSlide10.xml" Id="Rc67332656f044f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903da7e7040a5" /><Relationship Type="http://schemas.openxmlformats.org/officeDocument/2006/relationships/notesSlide" Target="/ppt/notesSlides/notesSlide11.xml" Id="R2c62af57919d45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3371092fb4828" /><Relationship Type="http://schemas.openxmlformats.org/officeDocument/2006/relationships/notesSlide" Target="/ppt/notesSlides/notesSlide12.xml" Id="R5e8a2408e4a34a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b1b478a694f29" /><Relationship Type="http://schemas.openxmlformats.org/officeDocument/2006/relationships/notesSlide" Target="/ppt/notesSlides/notesSlide13.xml" Id="Ra7bb631d64444c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-field">
            <a:extLst xmlns:a="http://schemas.openxmlformats.org/drawingml/2006/main">
              <a:ext uri="{FF2B5EF4-FFF2-40B4-BE49-F238E27FC236}">
                <a16:creationId xmlns:a16="http://schemas.microsoft.com/office/drawing/2014/main" id="{81BDEE4D-040D-4FD4-9D3E-961CF588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" name="cover-cyan-bar">
            <a:extLst xmlns:a="http://schemas.openxmlformats.org/drawingml/2006/main">
              <a:ext uri="{FF2B5EF4-FFF2-40B4-BE49-F238E27FC236}">
                <a16:creationId xmlns:a16="http://schemas.microsoft.com/office/drawing/2014/main" id="{46E4CD2E-548D-470B-8225-BDE74606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B128B6C-FED2-44E0-9416-C0BDE7DA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A777CE6-098F-489A-8DBE-D4F5A9BA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57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Unity</a:t>
            </a:r>
          </a:p>
          <a:p xmlns:a="http://schemas.openxmlformats.org/drawingml/2006/main">
            <a:pPr algn="l">
              <a:def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端侧推理引擎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EA2AB0C-1439-495C-8AE1-BE4D9625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676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从 ncnn 的 Unity 跨平台复刻需求，演进为</a:t>
            </a:r>
          </a:p>
          <a:p xmlns:a="http://schemas.openxmlformats.org/drawingml/2006/main">
            <a:pPr algn="l">
              <a:defRPr sz="18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多格式、纹理原生、可按领域扩展的统一推理平台</a:t>
            </a:r>
          </a:p>
        </p:txBody>
      </p:sp>
      <p:cxnSp>
        <p:nvCxnSpPr>
          <p:cNvPr id="16" name="cover-rule"/>
          <p:cNvCxnSpPr/>
          <p:nvPr/>
        </p:nvCxnSpPr>
        <p:spPr>
          <a:xfrm xmlns:a="http://schemas.openxmlformats.org/drawingml/2006/main">
            <a:off x="647700" y="4524375"/>
            <a:ext cx="60769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sp>
        <p:nvSpPr>
          <p:cNvPr id="7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F7CEB9F2-C9A3-4EE7-932D-40F3678A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依据项目 documents / 2026.06 - 2026.07</a:t>
            </a:r>
          </a:p>
        </p:txBody>
      </p:sp>
      <p:sp>
        <p:nvSpPr>
          <p:cNvPr id="8" name="cover-right-title">
            <a:extLst xmlns:a="http://schemas.openxmlformats.org/drawingml/2006/main">
              <a:ext uri="{FF2B5EF4-FFF2-40B4-BE49-F238E27FC236}">
                <a16:creationId xmlns:a16="http://schemas.microsoft.com/office/drawing/2014/main" id="{DAA76A99-6A53-48C3-B816-A8D7A61D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04950"/>
            <a:ext cx="2524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一套模型语义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一条生产路径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五类领域应用</a:t>
            </a:r>
          </a:p>
        </p:txBody>
      </p:sp>
      <p:sp>
        <p:nvSpPr>
          <p:cNvPr id="9" name="cover-right-body">
            <a:extLst xmlns:a="http://schemas.openxmlformats.org/drawingml/2006/main">
              <a:ext uri="{FF2B5EF4-FFF2-40B4-BE49-F238E27FC236}">
                <a16:creationId xmlns:a16="http://schemas.microsoft.com/office/drawing/2014/main" id="{388D5BDB-7D4D-463A-BAD4-A08A7124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14775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ncnn  ·  ONNX / Sentis  ·  MNN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Pack4 RenderTexture / TextureArray</a:t>
            </a:r>
          </a:p>
          <a:p xmlns:a="http://schemas.openxmlformats.org/drawingml/2006/main">
            <a:pPr algn="l">
              <a:def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CommandBuffer / InferenceFence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0AD30C00-242A-466D-B7D6-3DB221E9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ROADSHOW / 2026.07</a:t>
            </a:r>
          </a:p>
        </p:txBody>
      </p:sp>
    </p:spTree>
    <p:extLst>
      <p:ext uri="{BB962C8B-B14F-4D97-AF65-F5344CB8AC3E}">
        <p14:creationId xmlns:p14="http://schemas.microsoft.com/office/powerpoint/2010/main" val="331882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2">
            <a:extLst xmlns:a="http://schemas.openxmlformats.org/drawingml/2006/main">
              <a:ext uri="{FF2B5EF4-FFF2-40B4-BE49-F238E27FC236}">
                <a16:creationId xmlns:a16="http://schemas.microsoft.com/office/drawing/2014/main" id="{61292A86-AE30-4882-9277-C3CE054E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ORIGIN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F83727B-23CE-4713-80D9-C5B0063A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起点是 ncnn 很难直接成为 Unity 跨平台同一套代码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0D9BADB7-715A-4E12-BE2C-5713B348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cxnSp>
        <p:nvCxnSpPr>
          <p:cNvPr id="26" name="header-rule-2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cxnSp>
        <p:nvCxnSpPr>
          <p:cNvPr id="27" name="origin-timeline"/>
          <p:cNvCxnSpPr/>
          <p:nvPr/>
        </p:nvCxnSpPr>
        <p:spPr>
          <a:xfrm xmlns:a="http://schemas.openxmlformats.org/drawingml/2006/main">
            <a:off x="1095375" y="3438525"/>
            <a:ext cx="9639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sp>
        <p:nvSpPr>
          <p:cNvPr id="6" name="origin-dot-1">
            <a:extLst xmlns:a="http://schemas.openxmlformats.org/drawingml/2006/main">
              <a:ext uri="{FF2B5EF4-FFF2-40B4-BE49-F238E27FC236}">
                <a16:creationId xmlns:a16="http://schemas.microsoft.com/office/drawing/2014/main" id="{4BB702E1-5A51-4359-B864-11221F17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62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7" name="origin-dot-2">
            <a:extLst xmlns:a="http://schemas.openxmlformats.org/drawingml/2006/main">
              <a:ext uri="{FF2B5EF4-FFF2-40B4-BE49-F238E27FC236}">
                <a16:creationId xmlns:a16="http://schemas.microsoft.com/office/drawing/2014/main" id="{CC91414A-5001-40B7-BC10-03CAAF33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62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8" name="origin-dot-3">
            <a:extLst xmlns:a="http://schemas.openxmlformats.org/drawingml/2006/main">
              <a:ext uri="{FF2B5EF4-FFF2-40B4-BE49-F238E27FC236}">
                <a16:creationId xmlns:a16="http://schemas.microsoft.com/office/drawing/2014/main" id="{E443A0C8-C460-4552-B49A-66D978B1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362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origin-tag-1">
            <a:extLst xmlns:a="http://schemas.openxmlformats.org/drawingml/2006/main">
              <a:ext uri="{FF2B5EF4-FFF2-40B4-BE49-F238E27FC236}">
                <a16:creationId xmlns:a16="http://schemas.microsoft.com/office/drawing/2014/main" id="{948875F4-1AFB-49BB-9D57-68CBE681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10" name="origin-tag-2">
            <a:extLst xmlns:a="http://schemas.openxmlformats.org/drawingml/2006/main">
              <a:ext uri="{FF2B5EF4-FFF2-40B4-BE49-F238E27FC236}">
                <a16:creationId xmlns:a16="http://schemas.microsoft.com/office/drawing/2014/main" id="{C422087E-425B-4AA8-8960-4F76736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81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9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9A11"/>
                </a:solidFill>
                <a:latin typeface="Microsoft YaHei"/>
                <a:ea typeface="Microsoft YaHei"/>
                <a:cs typeface="Microsoft YaHei"/>
              </a:rPr>
              <a:t>复刻</a:t>
            </a:r>
          </a:p>
        </p:txBody>
      </p:sp>
      <p:sp>
        <p:nvSpPr>
          <p:cNvPr id="11" name="origin-tag-3">
            <a:extLst xmlns:a="http://schemas.openxmlformats.org/drawingml/2006/main">
              <a:ext uri="{FF2B5EF4-FFF2-40B4-BE49-F238E27FC236}">
                <a16:creationId xmlns:a16="http://schemas.microsoft.com/office/drawing/2014/main" id="{BC502E9C-9E86-4BE3-91F2-230DEE2B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演进</a:t>
            </a:r>
          </a:p>
        </p:txBody>
      </p:sp>
      <p:sp>
        <p:nvSpPr>
          <p:cNvPr id="12" name="origin-h-1">
            <a:extLst xmlns:a="http://schemas.openxmlformats.org/drawingml/2006/main">
              <a:ext uri="{FF2B5EF4-FFF2-40B4-BE49-F238E27FC236}">
                <a16:creationId xmlns:a16="http://schemas.microsoft.com/office/drawing/2014/main" id="{CA095D41-2157-43A4-99C6-AAC49855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ncnn Vulkan</a:t>
            </a:r>
          </a:p>
        </p:txBody>
      </p:sp>
      <p:sp>
        <p:nvSpPr>
          <p:cNvPr id="13" name="origin-b-1">
            <a:extLst xmlns:a="http://schemas.openxmlformats.org/drawingml/2006/main">
              <a:ext uri="{FF2B5EF4-FFF2-40B4-BE49-F238E27FC236}">
                <a16:creationId xmlns:a16="http://schemas.microsoft.com/office/drawing/2014/main" id="{932FAC95-9B6E-498F-96DA-C3145C71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2667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模型、算子与数值基线已经成熟；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但 C++ / Vulkan 路径不等于 Unity 内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可跨平台复用的同一运行时。</a:t>
            </a:r>
          </a:p>
        </p:txBody>
      </p:sp>
      <p:sp>
        <p:nvSpPr>
          <p:cNvPr id="14" name="origin-h-2">
            <a:extLst xmlns:a="http://schemas.openxmlformats.org/drawingml/2006/main">
              <a:ext uri="{FF2B5EF4-FFF2-40B4-BE49-F238E27FC236}">
                <a16:creationId xmlns:a16="http://schemas.microsoft.com/office/drawing/2014/main" id="{6A906532-26EA-42C0-8C90-1AEBFAE9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48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Unity Runner Repro</a:t>
            </a:r>
          </a:p>
        </p:txBody>
      </p:sp>
      <p:sp>
        <p:nvSpPr>
          <p:cNvPr id="15" name="origin-b-2">
            <a:extLst xmlns:a="http://schemas.openxmlformats.org/drawingml/2006/main">
              <a:ext uri="{FF2B5EF4-FFF2-40B4-BE49-F238E27FC236}">
                <a16:creationId xmlns:a16="http://schemas.microsoft.com/office/drawing/2014/main" id="{30155FC1-3D36-4D19-8095-852352F8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76725"/>
            <a:ext cx="285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将模型语义、Pack4 纹理与计算内核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引入 Unity；从单一 runner 的复刻，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开始获得渲染 / XR 可直接消费的输出。</a:t>
            </a:r>
          </a:p>
        </p:txBody>
      </p:sp>
      <p:sp>
        <p:nvSpPr>
          <p:cNvPr id="16" name="origin-h-3">
            <a:extLst xmlns:a="http://schemas.openxmlformats.org/drawingml/2006/main">
              <a:ext uri="{FF2B5EF4-FFF2-40B4-BE49-F238E27FC236}">
                <a16:creationId xmlns:a16="http://schemas.microsoft.com/office/drawing/2014/main" id="{1C454FFD-0698-4636-8C20-74C875F5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48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统一端侧平台</a:t>
            </a:r>
          </a:p>
        </p:txBody>
      </p:sp>
      <p:sp>
        <p:nvSpPr>
          <p:cNvPr id="17" name="origin-b-3">
            <a:extLst xmlns:a="http://schemas.openxmlformats.org/drawingml/2006/main">
              <a:ext uri="{FF2B5EF4-FFF2-40B4-BE49-F238E27FC236}">
                <a16:creationId xmlns:a16="http://schemas.microsoft.com/office/drawing/2014/main" id="{52402B59-9C0F-46D1-A453-7B75D58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76725"/>
            <a:ext cx="27241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让 ncnn、ONNX / Sentis 与 MNN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只作为模型来源，导入后汇到统一 IR，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共享同一条可验证的 GPU 生产路径。</a:t>
            </a:r>
          </a:p>
        </p:txBody>
      </p:sp>
      <p:sp>
        <p:nvSpPr>
          <p:cNvPr id="18" name="origin-takeaway">
            <a:extLst xmlns:a="http://schemas.openxmlformats.org/drawingml/2006/main">
              <a:ext uri="{FF2B5EF4-FFF2-40B4-BE49-F238E27FC236}">
                <a16:creationId xmlns:a16="http://schemas.microsoft.com/office/drawing/2014/main" id="{75B04276-CE17-4F70-9FBB-046D3B05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53075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19" name="origin-takeaway-text">
            <a:extLst xmlns:a="http://schemas.openxmlformats.org/drawingml/2006/main">
              <a:ext uri="{FF2B5EF4-FFF2-40B4-BE49-F238E27FC236}">
                <a16:creationId xmlns:a16="http://schemas.microsoft.com/office/drawing/2014/main" id="{28EE6FF6-6FB6-4885-AED9-9A3A3087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0547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关键转变：不把产品绑定到某一套 native runner，而是在 Unity 内统一承载模型语义与 GPU 执行。</a:t>
            </a:r>
          </a:p>
        </p:txBody>
      </p:sp>
      <p:cxnSp>
        <p:nvCxnSpPr>
          <p:cNvPr id="42" name="footer-rule-2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2">
            <a:extLst xmlns:a="http://schemas.openxmlformats.org/drawingml/2006/main">
              <a:ext uri="{FF2B5EF4-FFF2-40B4-BE49-F238E27FC236}">
                <a16:creationId xmlns:a16="http://schemas.microsoft.com/office/drawing/2014/main" id="{B5A239AE-F4EF-4255-9A9B-E96CADBF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2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2133E352-4F07-45A1-A5F1-DDA91E69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1127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3">
            <a:extLst xmlns:a="http://schemas.openxmlformats.org/drawingml/2006/main">
              <a:ext uri="{FF2B5EF4-FFF2-40B4-BE49-F238E27FC236}">
                <a16:creationId xmlns:a16="http://schemas.microsoft.com/office/drawing/2014/main" id="{F0720BF9-9F3B-49F7-BFF1-8BDC76E7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CURRENT BASELINE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1698BA9-B65B-416C-B842-18E044EC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注册覆盖是入口，不是生产承诺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33857737-33AF-42DD-9610-ECD0982C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34" name="header-rule-3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reality-lede">
            <a:extLst xmlns:a="http://schemas.openxmlformats.org/drawingml/2006/main">
              <a:ext uri="{FF2B5EF4-FFF2-40B4-BE49-F238E27FC236}">
                <a16:creationId xmlns:a16="http://schemas.microsoft.com/office/drawing/2014/main" id="{86007479-F1BD-4F85-965D-76CAE693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当前底座已经建立起广泛的模型识别、层注册和真实 runner 验证；生产能力仍以 Cmd Pack4 的实际证据为准。</a:t>
            </a:r>
          </a:p>
        </p:txBody>
      </p:sp>
      <p:sp>
        <p:nvSpPr>
          <p:cNvPr id="6" name="reality-1-panel">
            <a:extLst xmlns:a="http://schemas.openxmlformats.org/drawingml/2006/main">
              <a:ext uri="{FF2B5EF4-FFF2-40B4-BE49-F238E27FC236}">
                <a16:creationId xmlns:a16="http://schemas.microsoft.com/office/drawing/2014/main" id="{263F8B5B-7A12-47E2-8D1B-496D6375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33718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7" name="reality-1-accent">
            <a:extLst xmlns:a="http://schemas.openxmlformats.org/drawingml/2006/main">
              <a:ext uri="{FF2B5EF4-FFF2-40B4-BE49-F238E27FC236}">
                <a16:creationId xmlns:a16="http://schemas.microsoft.com/office/drawing/2014/main" id="{C978BE9F-85EF-4B6D-A613-68C4ACAB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571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8" name="reality-1-title">
            <a:extLst xmlns:a="http://schemas.openxmlformats.org/drawingml/2006/main">
              <a:ext uri="{FF2B5EF4-FFF2-40B4-BE49-F238E27FC236}">
                <a16:creationId xmlns:a16="http://schemas.microsoft.com/office/drawing/2014/main" id="{1E9DF600-AF2C-4938-B9E2-A2DE4FFC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297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64 / 64</a:t>
            </a:r>
          </a:p>
        </p:txBody>
      </p:sp>
      <p:sp>
        <p:nvSpPr>
          <p:cNvPr id="9" name="reality-1-body">
            <a:extLst xmlns:a="http://schemas.openxmlformats.org/drawingml/2006/main">
              <a:ext uri="{FF2B5EF4-FFF2-40B4-BE49-F238E27FC236}">
                <a16:creationId xmlns:a16="http://schemas.microsoft.com/office/drawing/2014/main" id="{3DFE6E66-11C0-4862-8350-729CA454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971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官方 ncnn Vulkan layer</a:t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全部已有复刻入口。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这是图可识别的起点。</a:t>
            </a:r>
          </a:p>
        </p:txBody>
      </p:sp>
      <p:sp>
        <p:nvSpPr>
          <p:cNvPr id="10" name="reality-2-panel">
            <a:extLst xmlns:a="http://schemas.openxmlformats.org/drawingml/2006/main">
              <a:ext uri="{FF2B5EF4-FFF2-40B4-BE49-F238E27FC236}">
                <a16:creationId xmlns:a16="http://schemas.microsoft.com/office/drawing/2014/main" id="{5D1BDF9F-3AA6-4BDA-835B-21982A31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33625"/>
            <a:ext cx="33718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reality-2-accent">
            <a:extLst xmlns:a="http://schemas.openxmlformats.org/drawingml/2006/main">
              <a:ext uri="{FF2B5EF4-FFF2-40B4-BE49-F238E27FC236}">
                <a16:creationId xmlns:a16="http://schemas.microsoft.com/office/drawing/2014/main" id="{1A6A2F26-EDF3-4BC2-A3E8-5D8D54F1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33625"/>
            <a:ext cx="571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12" name="reality-2-title">
            <a:extLst xmlns:a="http://schemas.openxmlformats.org/drawingml/2006/main">
              <a:ext uri="{FF2B5EF4-FFF2-40B4-BE49-F238E27FC236}">
                <a16:creationId xmlns:a16="http://schemas.microsoft.com/office/drawing/2014/main" id="{F9C135C6-94E9-4A9C-8150-DD2B2DA8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297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13" name="reality-2-body">
            <a:extLst xmlns:a="http://schemas.openxmlformats.org/drawingml/2006/main">
              <a:ext uri="{FF2B5EF4-FFF2-40B4-BE49-F238E27FC236}">
                <a16:creationId xmlns:a16="http://schemas.microsoft.com/office/drawing/2014/main" id="{D94CAAA4-6705-4F05-9A1C-BD806F8F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2971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NcnnLayerFactoryRepro</a:t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当前注册入口总数。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包含 ncnn / PNNX / Sentis 扩展。</a:t>
            </a:r>
          </a:p>
        </p:txBody>
      </p:sp>
      <p:sp>
        <p:nvSpPr>
          <p:cNvPr id="14" name="reality-3-panel">
            <a:extLst xmlns:a="http://schemas.openxmlformats.org/drawingml/2006/main">
              <a:ext uri="{FF2B5EF4-FFF2-40B4-BE49-F238E27FC236}">
                <a16:creationId xmlns:a16="http://schemas.microsoft.com/office/drawing/2014/main" id="{8BF4BBE9-E50D-43C5-B19A-000CCCE6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33718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reality-3-accent">
            <a:extLst xmlns:a="http://schemas.openxmlformats.org/drawingml/2006/main">
              <a:ext uri="{FF2B5EF4-FFF2-40B4-BE49-F238E27FC236}">
                <a16:creationId xmlns:a16="http://schemas.microsoft.com/office/drawing/2014/main" id="{C66CDE36-156D-40D0-BF19-3971F888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571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6" name="reality-3-title">
            <a:extLst xmlns:a="http://schemas.openxmlformats.org/drawingml/2006/main">
              <a:ext uri="{FF2B5EF4-FFF2-40B4-BE49-F238E27FC236}">
                <a16:creationId xmlns:a16="http://schemas.microsoft.com/office/drawing/2014/main" id="{104361AE-05E5-46E1-BAFC-A4E414C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05075"/>
            <a:ext cx="297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  <p:sp>
        <p:nvSpPr>
          <p:cNvPr id="17" name="reality-3-body">
            <a:extLst xmlns:a="http://schemas.openxmlformats.org/drawingml/2006/main">
              <a:ext uri="{FF2B5EF4-FFF2-40B4-BE49-F238E27FC236}">
                <a16:creationId xmlns:a16="http://schemas.microsoft.com/office/drawing/2014/main" id="{4023351E-A835-4007-9A94-A8A39E62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971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Ncnn*LayerRepro</a:t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实现文件数。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实现深度仍随 RT / Cmd 分支而异。</a:t>
            </a:r>
          </a:p>
        </p:txBody>
      </p:sp>
      <p:cxnSp>
        <p:nvCxnSpPr>
          <p:cNvPr id="48" name="reality-flow"/>
          <p:cNvCxnSpPr/>
          <p:nvPr/>
        </p:nvCxnSpPr>
        <p:spPr>
          <a:xfrm xmlns:a="http://schemas.openxmlformats.org/drawingml/2006/main">
            <a:off x="1524000" y="5095875"/>
            <a:ext cx="9144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sp>
        <p:nvSpPr>
          <p:cNvPr id="19" name="reality-dot-1">
            <a:extLst xmlns:a="http://schemas.openxmlformats.org/drawingml/2006/main">
              <a:ext uri="{FF2B5EF4-FFF2-40B4-BE49-F238E27FC236}">
                <a16:creationId xmlns:a16="http://schemas.microsoft.com/office/drawing/2014/main" id="{0406AE5C-5A4F-4988-A202-7EDA3912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9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20" name="reality-dot-2">
            <a:extLst xmlns:a="http://schemas.openxmlformats.org/drawingml/2006/main">
              <a:ext uri="{FF2B5EF4-FFF2-40B4-BE49-F238E27FC236}">
                <a16:creationId xmlns:a16="http://schemas.microsoft.com/office/drawing/2014/main" id="{E520A780-DB29-4121-BD8D-F3CD9581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19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21" name="reality-dot-3">
            <a:extLst xmlns:a="http://schemas.openxmlformats.org/drawingml/2006/main">
              <a:ext uri="{FF2B5EF4-FFF2-40B4-BE49-F238E27FC236}">
                <a16:creationId xmlns:a16="http://schemas.microsoft.com/office/drawing/2014/main" id="{09415052-64C8-4EA1-BAAD-2E49D0A4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19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22" name="reality-dot-4">
            <a:extLst xmlns:a="http://schemas.openxmlformats.org/drawingml/2006/main">
              <a:ext uri="{FF2B5EF4-FFF2-40B4-BE49-F238E27FC236}">
                <a16:creationId xmlns:a16="http://schemas.microsoft.com/office/drawing/2014/main" id="{0609A278-3C23-4AF0-B78C-CFABA9A1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019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3" name="reality-flow-1">
            <a:extLst xmlns:a="http://schemas.openxmlformats.org/drawingml/2006/main">
              <a:ext uri="{FF2B5EF4-FFF2-40B4-BE49-F238E27FC236}">
                <a16:creationId xmlns:a16="http://schemas.microsoft.com/office/drawing/2014/main" id="{84608DD3-8410-4977-B9C8-99510467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149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Import</a:t>
            </a:r>
          </a:p>
        </p:txBody>
      </p:sp>
      <p:sp>
        <p:nvSpPr>
          <p:cNvPr id="24" name="reality-flow-2">
            <a:extLst xmlns:a="http://schemas.openxmlformats.org/drawingml/2006/main">
              <a:ext uri="{FF2B5EF4-FFF2-40B4-BE49-F238E27FC236}">
                <a16:creationId xmlns:a16="http://schemas.microsoft.com/office/drawing/2014/main" id="{F0B0B437-AD61-4859-A575-7B975787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14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Shape / RT</a:t>
            </a:r>
          </a:p>
        </p:txBody>
      </p:sp>
      <p:sp>
        <p:nvSpPr>
          <p:cNvPr id="25" name="reality-flow-3">
            <a:extLst xmlns:a="http://schemas.openxmlformats.org/drawingml/2006/main">
              <a:ext uri="{FF2B5EF4-FFF2-40B4-BE49-F238E27FC236}">
                <a16:creationId xmlns:a16="http://schemas.microsoft.com/office/drawing/2014/main" id="{557B4DF1-491F-480E-BE88-AB6E7249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4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Cmd</a:t>
            </a:r>
          </a:p>
        </p:txBody>
      </p:sp>
      <p:sp>
        <p:nvSpPr>
          <p:cNvPr id="26" name="reality-flow-4">
            <a:extLst xmlns:a="http://schemas.openxmlformats.org/drawingml/2006/main">
              <a:ext uri="{FF2B5EF4-FFF2-40B4-BE49-F238E27FC236}">
                <a16:creationId xmlns:a16="http://schemas.microsoft.com/office/drawing/2014/main" id="{B967388A-A9EE-4B52-95F0-CA6691FB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3149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Validation</a:t>
            </a:r>
          </a:p>
        </p:txBody>
      </p:sp>
      <p:sp>
        <p:nvSpPr>
          <p:cNvPr id="27" name="reality-definition">
            <a:extLst xmlns:a="http://schemas.openxmlformats.org/drawingml/2006/main">
              <a:ext uri="{FF2B5EF4-FFF2-40B4-BE49-F238E27FC236}">
                <a16:creationId xmlns:a16="http://schemas.microsoft.com/office/drawing/2014/main" id="{E5593363-70A7-4E11-A28A-4D04B459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生产定义 = CommandBuffer + Pack4 texture + 精度/任务验证；缺 Cmd 的分支不能宣称生产可用。</a:t>
            </a:r>
          </a:p>
        </p:txBody>
      </p:sp>
      <p:cxnSp>
        <p:nvCxnSpPr>
          <p:cNvPr id="58" name="footer-rule-3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9" name="footer-3">
            <a:extLst xmlns:a="http://schemas.openxmlformats.org/drawingml/2006/main">
              <a:ext uri="{FF2B5EF4-FFF2-40B4-BE49-F238E27FC236}">
                <a16:creationId xmlns:a16="http://schemas.microsoft.com/office/drawing/2014/main" id="{2396C59B-E877-4FE5-AD8B-BB3C45CE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3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A1CE247A-2511-4044-B759-86F0507A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9716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4">
            <a:extLst xmlns:a="http://schemas.openxmlformats.org/drawingml/2006/main">
              <a:ext uri="{FF2B5EF4-FFF2-40B4-BE49-F238E27FC236}">
                <a16:creationId xmlns:a16="http://schemas.microsoft.com/office/drawing/2014/main" id="{20FFDB2A-F90B-4B8B-B8AE-4EED0A6A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728D52A-99BF-4B36-B141-DA0F2436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多格式导入汇到一个 IR，生产端只保留一条纹理原生路径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EFBFD49C-BCC1-44D4-8F16-11E1130D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46" name="header-rule-4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cxnSp>
        <p:nvCxnSpPr>
          <p:cNvPr id="47" name="arch-line-a"/>
          <p:cNvCxnSpPr/>
          <p:nvPr/>
        </p:nvCxnSpPr>
        <p:spPr>
          <a:xfrm xmlns:a="http://schemas.openxmlformats.org/drawingml/2006/main">
            <a:off x="6096000" y="2381250"/>
            <a:ext cx="9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cxnSp>
        <p:nvCxnSpPr>
          <p:cNvPr id="48" name="arch-line-b"/>
          <p:cNvCxnSpPr/>
          <p:nvPr/>
        </p:nvCxnSpPr>
        <p:spPr>
          <a:xfrm xmlns:a="http://schemas.openxmlformats.org/drawingml/2006/main">
            <a:off x="6096000" y="3295650"/>
            <a:ext cx="9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cxnSp>
        <p:nvCxnSpPr>
          <p:cNvPr id="49" name="arch-line-c"/>
          <p:cNvCxnSpPr/>
          <p:nvPr/>
        </p:nvCxnSpPr>
        <p:spPr>
          <a:xfrm xmlns:a="http://schemas.openxmlformats.org/drawingml/2006/main">
            <a:off x="6096000" y="4210050"/>
            <a:ext cx="9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cxnSp>
        <p:nvCxnSpPr>
          <p:cNvPr id="50" name="arch-line-d"/>
          <p:cNvCxnSpPr/>
          <p:nvPr/>
        </p:nvCxnSpPr>
        <p:spPr>
          <a:xfrm xmlns:a="http://schemas.openxmlformats.org/drawingml/2006/main">
            <a:off x="6096000" y="5124450"/>
            <a:ext cx="9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cxnSp>
        <p:nvCxnSpPr>
          <p:cNvPr id="51" name="arch-source-line"/>
          <p:cNvCxnSpPr/>
          <p:nvPr/>
        </p:nvCxnSpPr>
        <p:spPr>
          <a:xfrm xmlns:a="http://schemas.openxmlformats.org/drawingml/2006/main">
            <a:off x="2266950" y="1952625"/>
            <a:ext cx="76581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cxnSp>
        <p:nvCxnSpPr>
          <p:cNvPr id="52" name="arch-domain-line"/>
          <p:cNvCxnSpPr/>
          <p:nvPr/>
        </p:nvCxnSpPr>
        <p:spPr>
          <a:xfrm xmlns:a="http://schemas.openxmlformats.org/drawingml/2006/main">
            <a:off x="1143000" y="5934075"/>
            <a:ext cx="9867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11" name="arch-src-1-panel">
            <a:extLst xmlns:a="http://schemas.openxmlformats.org/drawingml/2006/main">
              <a:ext uri="{FF2B5EF4-FFF2-40B4-BE49-F238E27FC236}">
                <a16:creationId xmlns:a16="http://schemas.microsoft.com/office/drawing/2014/main" id="{0BF6E589-A872-4A61-94E9-24B804BE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2" name="arch-src-1-accent">
            <a:extLst xmlns:a="http://schemas.openxmlformats.org/drawingml/2006/main">
              <a:ext uri="{FF2B5EF4-FFF2-40B4-BE49-F238E27FC236}">
                <a16:creationId xmlns:a16="http://schemas.microsoft.com/office/drawing/2014/main" id="{A8DB2156-144B-413B-83EA-F5455166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3" name="arch-src-1-title">
            <a:extLst xmlns:a="http://schemas.openxmlformats.org/drawingml/2006/main">
              <a:ext uri="{FF2B5EF4-FFF2-40B4-BE49-F238E27FC236}">
                <a16:creationId xmlns:a16="http://schemas.microsoft.com/office/drawing/2014/main" id="{0F5EE1F3-33F6-43AA-B8A4-5DDAE519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ncnn</a:t>
            </a:r>
          </a:p>
        </p:txBody>
      </p:sp>
      <p:sp>
        <p:nvSpPr>
          <p:cNvPr id="14" name="arch-src-1-body">
            <a:extLst xmlns:a="http://schemas.openxmlformats.org/drawingml/2006/main">
              <a:ext uri="{FF2B5EF4-FFF2-40B4-BE49-F238E27FC236}">
                <a16:creationId xmlns:a16="http://schemas.microsoft.com/office/drawing/2014/main" id="{6F00EA2F-2482-494E-90B9-BD040EDA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.param / .bin / PNNX</a:t>
            </a:r>
          </a:p>
        </p:txBody>
      </p:sp>
      <p:sp>
        <p:nvSpPr>
          <p:cNvPr id="15" name="arch-src-2-panel">
            <a:extLst xmlns:a="http://schemas.openxmlformats.org/drawingml/2006/main">
              <a:ext uri="{FF2B5EF4-FFF2-40B4-BE49-F238E27FC236}">
                <a16:creationId xmlns:a16="http://schemas.microsoft.com/office/drawing/2014/main" id="{9038729C-BF8F-456D-A279-02EC397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6" name="arch-src-2-accent">
            <a:extLst xmlns:a="http://schemas.openxmlformats.org/drawingml/2006/main">
              <a:ext uri="{FF2B5EF4-FFF2-40B4-BE49-F238E27FC236}">
                <a16:creationId xmlns:a16="http://schemas.microsoft.com/office/drawing/2014/main" id="{D48FD191-C7AE-4F9C-9DE6-24882E97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7" name="arch-src-2-title">
            <a:extLst xmlns:a="http://schemas.openxmlformats.org/drawingml/2006/main">
              <a:ext uri="{FF2B5EF4-FFF2-40B4-BE49-F238E27FC236}">
                <a16:creationId xmlns:a16="http://schemas.microsoft.com/office/drawing/2014/main" id="{DDA5625E-5FF7-45EF-8761-277928CF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859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ONNX / Sentis</a:t>
            </a:r>
          </a:p>
        </p:txBody>
      </p:sp>
      <p:sp>
        <p:nvSpPr>
          <p:cNvPr id="18" name="arch-src-2-body">
            <a:extLst xmlns:a="http://schemas.openxmlformats.org/drawingml/2006/main">
              <a:ext uri="{FF2B5EF4-FFF2-40B4-BE49-F238E27FC236}">
                <a16:creationId xmlns:a16="http://schemas.microsoft.com/office/drawing/2014/main" id="{062E92A0-B30F-458D-ACDF-EDDB6FE2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716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opset + graph structure</a:t>
            </a:r>
          </a:p>
        </p:txBody>
      </p:sp>
      <p:sp>
        <p:nvSpPr>
          <p:cNvPr id="19" name="arch-src-3-panel">
            <a:extLst xmlns:a="http://schemas.openxmlformats.org/drawingml/2006/main">
              <a:ext uri="{FF2B5EF4-FFF2-40B4-BE49-F238E27FC236}">
                <a16:creationId xmlns:a16="http://schemas.microsoft.com/office/drawing/2014/main" id="{4149B03D-DE59-4AE7-8C7D-A9BCEA93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621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0" name="arch-src-3-accent">
            <a:extLst xmlns:a="http://schemas.openxmlformats.org/drawingml/2006/main">
              <a:ext uri="{FF2B5EF4-FFF2-40B4-BE49-F238E27FC236}">
                <a16:creationId xmlns:a16="http://schemas.microsoft.com/office/drawing/2014/main" id="{A4A864B1-F31A-48A8-91C7-91059233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621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1" name="arch-src-3-title">
            <a:extLst xmlns:a="http://schemas.openxmlformats.org/drawingml/2006/main">
              <a:ext uri="{FF2B5EF4-FFF2-40B4-BE49-F238E27FC236}">
                <a16:creationId xmlns:a16="http://schemas.microsoft.com/office/drawing/2014/main" id="{7151C138-28CA-44BA-9E9C-404D6E2F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859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MNN</a:t>
            </a:r>
          </a:p>
        </p:txBody>
      </p:sp>
      <p:sp>
        <p:nvSpPr>
          <p:cNvPr id="22" name="arch-src-3-body">
            <a:extLst xmlns:a="http://schemas.openxmlformats.org/drawingml/2006/main">
              <a:ext uri="{FF2B5EF4-FFF2-40B4-BE49-F238E27FC236}">
                <a16:creationId xmlns:a16="http://schemas.microsoft.com/office/drawing/2014/main" id="{00001156-A898-4657-8580-D87FA65F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716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model + quant metadata</a:t>
            </a:r>
          </a:p>
        </p:txBody>
      </p:sp>
      <p:sp>
        <p:nvSpPr>
          <p:cNvPr id="23" name="arch-import-panel">
            <a:extLst xmlns:a="http://schemas.openxmlformats.org/drawingml/2006/main">
              <a:ext uri="{FF2B5EF4-FFF2-40B4-BE49-F238E27FC236}">
                <a16:creationId xmlns:a16="http://schemas.microsoft.com/office/drawing/2014/main" id="{17F12CE5-9E48-4AA5-A664-47F37D70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0325"/>
            <a:ext cx="480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4" name="arch-import-accent">
            <a:extLst xmlns:a="http://schemas.openxmlformats.org/drawingml/2006/main">
              <a:ext uri="{FF2B5EF4-FFF2-40B4-BE49-F238E27FC236}">
                <a16:creationId xmlns:a16="http://schemas.microsoft.com/office/drawing/2014/main" id="{C0630740-A0B7-4F50-8A85-38D3C302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032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25" name="arch-import-title">
            <a:extLst xmlns:a="http://schemas.openxmlformats.org/drawingml/2006/main">
              <a:ext uri="{FF2B5EF4-FFF2-40B4-BE49-F238E27FC236}">
                <a16:creationId xmlns:a16="http://schemas.microsoft.com/office/drawing/2014/main" id="{430CDFCF-753D-4D12-ACDB-F5064586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Import adapters + ModelManifest</a:t>
            </a:r>
          </a:p>
        </p:txBody>
      </p:sp>
      <p:sp>
        <p:nvSpPr>
          <p:cNvPr id="26" name="arch-import-body">
            <a:extLst xmlns:a="http://schemas.openxmlformats.org/drawingml/2006/main">
              <a:ext uri="{FF2B5EF4-FFF2-40B4-BE49-F238E27FC236}">
                <a16:creationId xmlns:a16="http://schemas.microsoft.com/office/drawing/2014/main" id="{52395654-6480-403C-91CF-C900B5FC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990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版本 / profile / quant / license</a:t>
            </a:r>
          </a:p>
        </p:txBody>
      </p:sp>
      <p:sp>
        <p:nvSpPr>
          <p:cNvPr id="27" name="arch-ir-panel">
            <a:extLst xmlns:a="http://schemas.openxmlformats.org/drawingml/2006/main">
              <a:ext uri="{FF2B5EF4-FFF2-40B4-BE49-F238E27FC236}">
                <a16:creationId xmlns:a16="http://schemas.microsoft.com/office/drawing/2014/main" id="{51FD1C2F-C782-4FDD-A2AB-7A17DE8F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14725"/>
            <a:ext cx="480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8" name="arch-ir-accent">
            <a:extLst xmlns:a="http://schemas.openxmlformats.org/drawingml/2006/main">
              <a:ext uri="{FF2B5EF4-FFF2-40B4-BE49-F238E27FC236}">
                <a16:creationId xmlns:a16="http://schemas.microsoft.com/office/drawing/2014/main" id="{A75B56F7-4673-44AC-AB24-0DFC0AB0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1472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9" name="arch-ir-title">
            <a:extLst xmlns:a="http://schemas.openxmlformats.org/drawingml/2006/main">
              <a:ext uri="{FF2B5EF4-FFF2-40B4-BE49-F238E27FC236}">
                <a16:creationId xmlns:a16="http://schemas.microsoft.com/office/drawing/2014/main" id="{1D6A68B5-7F5F-4B1B-9CEE-1C6F9C13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Unified Graph IR + Shape IR</a:t>
            </a:r>
          </a:p>
        </p:txBody>
      </p:sp>
      <p:sp>
        <p:nvSpPr>
          <p:cNvPr id="30" name="arch-ir-body">
            <a:extLst xmlns:a="http://schemas.openxmlformats.org/drawingml/2006/main">
              <a:ext uri="{FF2B5EF4-FFF2-40B4-BE49-F238E27FC236}">
                <a16:creationId xmlns:a16="http://schemas.microsoft.com/office/drawing/2014/main" id="{6FBC3B24-7CF6-4F95-BEAD-75744CBE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2430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canonical op / shape / lowering / planner</a:t>
            </a:r>
          </a:p>
        </p:txBody>
      </p:sp>
      <p:sp>
        <p:nvSpPr>
          <p:cNvPr id="31" name="arch-backend-panel">
            <a:extLst xmlns:a="http://schemas.openxmlformats.org/drawingml/2006/main">
              <a:ext uri="{FF2B5EF4-FFF2-40B4-BE49-F238E27FC236}">
                <a16:creationId xmlns:a16="http://schemas.microsoft.com/office/drawing/2014/main" id="{8CD9F597-D4FC-4C99-AAF5-426BA861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29125"/>
            <a:ext cx="5981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2" name="arch-backend-accent">
            <a:extLst xmlns:a="http://schemas.openxmlformats.org/drawingml/2006/main">
              <a:ext uri="{FF2B5EF4-FFF2-40B4-BE49-F238E27FC236}">
                <a16:creationId xmlns:a16="http://schemas.microsoft.com/office/drawing/2014/main" id="{D299D1C7-FBDC-481A-8E7D-FA14653A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2912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33" name="arch-backend-title">
            <a:extLst xmlns:a="http://schemas.openxmlformats.org/drawingml/2006/main">
              <a:ext uri="{FF2B5EF4-FFF2-40B4-BE49-F238E27FC236}">
                <a16:creationId xmlns:a16="http://schemas.microsoft.com/office/drawing/2014/main" id="{3564526A-D637-4F87-9D7D-90AD527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558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CommandBuffer Pack4 texture backend</a:t>
            </a:r>
          </a:p>
        </p:txBody>
      </p:sp>
      <p:sp>
        <p:nvSpPr>
          <p:cNvPr id="34" name="arch-backend-body">
            <a:extLst xmlns:a="http://schemas.openxmlformats.org/drawingml/2006/main">
              <a:ext uri="{FF2B5EF4-FFF2-40B4-BE49-F238E27FC236}">
                <a16:creationId xmlns:a16="http://schemas.microsoft.com/office/drawing/2014/main" id="{D0498594-7D0A-49B6-BC0F-C5642702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38700"/>
            <a:ext cx="558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RT lifetime  |  alias  |  barriers  |  profiling  |  cancellation</a:t>
            </a:r>
          </a:p>
        </p:txBody>
      </p:sp>
      <p:sp>
        <p:nvSpPr>
          <p:cNvPr id="35" name="arch-output-panel">
            <a:extLst xmlns:a="http://schemas.openxmlformats.org/drawingml/2006/main">
              <a:ext uri="{FF2B5EF4-FFF2-40B4-BE49-F238E27FC236}">
                <a16:creationId xmlns:a16="http://schemas.microsoft.com/office/drawing/2014/main" id="{43367CFB-CB6C-4953-8BE3-9BB7235C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3435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6" name="arch-output-accent">
            <a:extLst xmlns:a="http://schemas.openxmlformats.org/drawingml/2006/main">
              <a:ext uri="{FF2B5EF4-FFF2-40B4-BE49-F238E27FC236}">
                <a16:creationId xmlns:a16="http://schemas.microsoft.com/office/drawing/2014/main" id="{57889BB0-AA6D-4712-952B-D5C721DD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34352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37" name="arch-output-title">
            <a:extLst xmlns:a="http://schemas.openxmlformats.org/drawingml/2006/main">
              <a:ext uri="{FF2B5EF4-FFF2-40B4-BE49-F238E27FC236}">
                <a16:creationId xmlns:a16="http://schemas.microsoft.com/office/drawing/2014/main" id="{788B9849-0EB7-4C8E-AD0E-A2BB6D56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673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Texture outputs + InferenceFence</a:t>
            </a:r>
          </a:p>
        </p:txBody>
      </p:sp>
      <p:sp>
        <p:nvSpPr>
          <p:cNvPr id="38" name="arch-domains-label">
            <a:extLst xmlns:a="http://schemas.openxmlformats.org/drawingml/2006/main">
              <a:ext uri="{FF2B5EF4-FFF2-40B4-BE49-F238E27FC236}">
                <a16:creationId xmlns:a16="http://schemas.microsoft.com/office/drawing/2014/main" id="{B5557E87-2783-4D37-869A-F85FB8D1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领域包在引擎之上组合，不进入核心执行器</a:t>
            </a:r>
          </a:p>
        </p:txBody>
      </p:sp>
      <p:sp>
        <p:nvSpPr>
          <p:cNvPr id="39" name="arch-domains">
            <a:extLst xmlns:a="http://schemas.openxmlformats.org/drawingml/2006/main">
              <a:ext uri="{FF2B5EF4-FFF2-40B4-BE49-F238E27FC236}">
                <a16:creationId xmlns:a16="http://schemas.microsoft.com/office/drawing/2014/main" id="{B65BC400-7645-48AF-A7C6-FC9E1BE1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96000"/>
            <a:ext cx="624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Medical  |  Game AR  |  Education  |  Molecule  |  AIImage</a:t>
            </a:r>
          </a:p>
        </p:txBody>
      </p:sp>
      <p:cxnSp>
        <p:nvCxnSpPr>
          <p:cNvPr id="82" name="footer-rule-4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41" name="footer-4">
            <a:extLst xmlns:a="http://schemas.openxmlformats.org/drawingml/2006/main">
              <a:ext uri="{FF2B5EF4-FFF2-40B4-BE49-F238E27FC236}">
                <a16:creationId xmlns:a16="http://schemas.microsoft.com/office/drawing/2014/main" id="{3ECDDDF8-95ED-4C1A-AD0C-FF45C98E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42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BAA662C8-B672-401F-A44C-9D6A8A31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45694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5">
            <a:extLst xmlns:a="http://schemas.openxmlformats.org/drawingml/2006/main">
              <a:ext uri="{FF2B5EF4-FFF2-40B4-BE49-F238E27FC236}">
                <a16:creationId xmlns:a16="http://schemas.microsoft.com/office/drawing/2014/main" id="{5A2B6F1D-CF31-430F-9B34-9B2E822E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PRODUCTION CONTRACT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BA54E27-4111-474E-965D-31D6BF73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生产链只拥有 texture-native 张量，Buffer 只做隔离的数值对照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4993DDAF-4B43-426E-AB5B-B580D1C5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cxnSp>
        <p:nvCxnSpPr>
          <p:cNvPr id="41" name="header-rule-5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contract-lede">
            <a:extLst xmlns:a="http://schemas.openxmlformats.org/drawingml/2006/main">
              <a:ext uri="{FF2B5EF4-FFF2-40B4-BE49-F238E27FC236}">
                <a16:creationId xmlns:a16="http://schemas.microsoft.com/office/drawing/2014/main" id="{FFBE4114-5C90-4FAB-A4D6-CE53B01A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这不是存储偏好，而是避免隐式回退、同步 readback 和无法解释的性能/内存行为的工程边界。</a:t>
            </a:r>
          </a:p>
        </p:txBody>
      </p:sp>
      <p:sp>
        <p:nvSpPr>
          <p:cNvPr id="6" name="contract-side">
            <a:extLst xmlns:a="http://schemas.openxmlformats.org/drawingml/2006/main">
              <a:ext uri="{FF2B5EF4-FFF2-40B4-BE49-F238E27FC236}">
                <a16:creationId xmlns:a16="http://schemas.microsoft.com/office/drawing/2014/main" id="{28EF7608-5388-4790-9B96-AFB66BA7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43050"/>
            <a:ext cx="334327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contract-side-title">
            <a:extLst xmlns:a="http://schemas.openxmlformats.org/drawingml/2006/main">
              <a:ext uri="{FF2B5EF4-FFF2-40B4-BE49-F238E27FC236}">
                <a16:creationId xmlns:a16="http://schemas.microsoft.com/office/drawing/2014/main" id="{B496D1BD-E41D-439E-B1FE-3D4B95BF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8595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Production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TextureOnly</a:t>
            </a:r>
          </a:p>
        </p:txBody>
      </p:sp>
      <p:cxnSp>
        <p:nvCxnSpPr>
          <p:cNvPr id="45" name="contract-side-rule"/>
          <p:cNvCxnSpPr/>
          <p:nvPr/>
        </p:nvCxnSpPr>
        <p:spPr>
          <a:xfrm xmlns:a="http://schemas.openxmlformats.org/drawingml/2006/main">
            <a:off x="8705850" y="2419350"/>
            <a:ext cx="23336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4829B"/>
            </a:solidFill>
            <a:prstDash val="solid"/>
          </a:ln>
        </p:spPr>
      </p:cxnSp>
      <p:sp>
        <p:nvSpPr>
          <p:cNvPr id="9" name="contract-side-body">
            <a:extLst xmlns:a="http://schemas.openxmlformats.org/drawingml/2006/main">
              <a:ext uri="{FF2B5EF4-FFF2-40B4-BE49-F238E27FC236}">
                <a16:creationId xmlns:a16="http://schemas.microsoft.com/office/drawing/2014/main" id="{CD6BD7CC-7D5F-4237-A954-9422885A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05100"/>
            <a:ext cx="2571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固定输入可一次性上传。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中间 activation 不得进入 Buffer；</a:t>
            </a:r>
          </a:p>
          <a:p xmlns:a="http://schemas.openxmlformats.org/drawingml/2006/main">
            <a:pPr algn="l"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GetOrConvertToBuffer、scratch buffer</a:t>
            </a:r>
          </a:p>
          <a:p xmlns:a="http://schemas.openxmlformats.org/drawingml/2006/main">
            <a:pPr algn="l"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及 Buffer-to-texture materialization</a:t>
            </a:r>
          </a:p>
          <a:p xmlns:a="http://schemas.openxmlformats.org/drawingml/2006/main">
            <a:pPr algn="l"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均会被拒绝。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失败定位：layer / blob / shape / dtype。</a:t>
            </a:r>
          </a:p>
        </p:txBody>
      </p:sp>
      <p:sp>
        <p:nvSpPr>
          <p:cNvPr id="10" name="contract-side-note">
            <a:extLst xmlns:a="http://schemas.openxmlformats.org/drawingml/2006/main">
              <a:ext uri="{FF2B5EF4-FFF2-40B4-BE49-F238E27FC236}">
                <a16:creationId xmlns:a16="http://schemas.microsoft.com/office/drawing/2014/main" id="{BF662EBF-9F6E-4FAF-A661-B3868320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054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E7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E7DC"/>
                </a:solidFill>
                <a:latin typeface="Microsoft YaHei"/>
                <a:ea typeface="Microsoft YaHei"/>
                <a:cs typeface="Microsoft YaHei"/>
              </a:rPr>
              <a:t>日志门禁：</a:t>
            </a:r>
          </a:p>
          <a:p xmlns:a="http://schemas.openxmlformats.org/drawingml/2006/main">
            <a:pPr algn="l">
              <a:defRPr sz="1125" b="1">
                <a:solidFill>
                  <a:srgbClr val="8EE7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E7DC"/>
                </a:solidFill>
                <a:latin typeface="Microsoft YaHei"/>
                <a:ea typeface="Microsoft YaHei"/>
                <a:cs typeface="Microsoft YaHei"/>
              </a:rPr>
              <a:t>中间 Buffer materialization = 0</a:t>
            </a:r>
          </a:p>
        </p:txBody>
      </p:sp>
      <p:sp>
        <p:nvSpPr>
          <p:cNvPr id="11" name="contract-1-panel">
            <a:extLst xmlns:a="http://schemas.openxmlformats.org/drawingml/2006/main">
              <a:ext uri="{FF2B5EF4-FFF2-40B4-BE49-F238E27FC236}">
                <a16:creationId xmlns:a16="http://schemas.microsoft.com/office/drawing/2014/main" id="{DB96998B-0D8A-4202-AB8C-D5CADB31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2" name="contract-1-accent">
            <a:extLst xmlns:a="http://schemas.openxmlformats.org/drawingml/2006/main">
              <a:ext uri="{FF2B5EF4-FFF2-40B4-BE49-F238E27FC236}">
                <a16:creationId xmlns:a16="http://schemas.microsoft.com/office/drawing/2014/main" id="{817E5807-556F-42EC-9721-B9045178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3" name="contract-1-title">
            <a:extLst xmlns:a="http://schemas.openxmlformats.org/drawingml/2006/main">
              <a:ext uri="{FF2B5EF4-FFF2-40B4-BE49-F238E27FC236}">
                <a16:creationId xmlns:a16="http://schemas.microsoft.com/office/drawing/2014/main" id="{DF3A3DB6-4552-439A-BFA1-68BA4597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TensorDescriptor</a:t>
            </a:r>
          </a:p>
        </p:txBody>
      </p:sp>
      <p:sp>
        <p:nvSpPr>
          <p:cNvPr id="14" name="contract-1-body">
            <a:extLst xmlns:a="http://schemas.openxmlformats.org/drawingml/2006/main">
              <a:ext uri="{FF2B5EF4-FFF2-40B4-BE49-F238E27FC236}">
                <a16:creationId xmlns:a16="http://schemas.microsoft.com/office/drawing/2014/main" id="{94A0E73A-F5FD-4CA3-82B0-195D3744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3076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logical shape、storage shape、layout、dtype、quantization、alias / lifetime。</a:t>
            </a:r>
          </a:p>
        </p:txBody>
      </p:sp>
      <p:sp>
        <p:nvSpPr>
          <p:cNvPr id="15" name="contract-2-panel">
            <a:extLst xmlns:a="http://schemas.openxmlformats.org/drawingml/2006/main">
              <a:ext uri="{FF2B5EF4-FFF2-40B4-BE49-F238E27FC236}">
                <a16:creationId xmlns:a16="http://schemas.microsoft.com/office/drawing/2014/main" id="{EFF340C0-CC01-4BDC-84A6-FBA5F810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6" name="contract-2-accent">
            <a:extLst xmlns:a="http://schemas.openxmlformats.org/drawingml/2006/main">
              <a:ext uri="{FF2B5EF4-FFF2-40B4-BE49-F238E27FC236}">
                <a16:creationId xmlns:a16="http://schemas.microsoft.com/office/drawing/2014/main" id="{837BB80C-D62B-45F3-9A83-AEBB9DF0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17" name="contract-2-title">
            <a:extLst xmlns:a="http://schemas.openxmlformats.org/drawingml/2006/main">
              <a:ext uri="{FF2B5EF4-FFF2-40B4-BE49-F238E27FC236}">
                <a16:creationId xmlns:a16="http://schemas.microsoft.com/office/drawing/2014/main" id="{A7F9ACB2-F84E-4409-BF5F-D3354720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CommandBuffer execution</a:t>
            </a:r>
          </a:p>
        </p:txBody>
      </p:sp>
      <p:sp>
        <p:nvSpPr>
          <p:cNvPr id="18" name="contract-2-body">
            <a:extLst xmlns:a="http://schemas.openxmlformats.org/drawingml/2006/main">
              <a:ext uri="{FF2B5EF4-FFF2-40B4-BE49-F238E27FC236}">
                <a16:creationId xmlns:a16="http://schemas.microsoft.com/office/drawing/2014/main" id="{460373D4-B89A-4B9E-9AAA-D3F17223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3076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编译图 -&gt; 临时 Pack4 RT -&gt; 记录全图 -&gt; submit -&gt; GPU fence。</a:t>
            </a:r>
          </a:p>
        </p:txBody>
      </p:sp>
      <p:sp>
        <p:nvSpPr>
          <p:cNvPr id="19" name="contract-3-panel">
            <a:extLst xmlns:a="http://schemas.openxmlformats.org/drawingml/2006/main">
              <a:ext uri="{FF2B5EF4-FFF2-40B4-BE49-F238E27FC236}">
                <a16:creationId xmlns:a16="http://schemas.microsoft.com/office/drawing/2014/main" id="{3D59FBA0-5EB5-4595-BBA8-24E6231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0" name="contract-3-accent">
            <a:extLst xmlns:a="http://schemas.openxmlformats.org/drawingml/2006/main">
              <a:ext uri="{FF2B5EF4-FFF2-40B4-BE49-F238E27FC236}">
                <a16:creationId xmlns:a16="http://schemas.microsoft.com/office/drawing/2014/main" id="{3842844B-9E5E-49E7-92BB-D5A98880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1" name="contract-3-title">
            <a:extLst xmlns:a="http://schemas.openxmlformats.org/drawingml/2006/main">
              <a:ext uri="{FF2B5EF4-FFF2-40B4-BE49-F238E27FC236}">
                <a16:creationId xmlns:a16="http://schemas.microsoft.com/office/drawing/2014/main" id="{3CF4205D-C537-44CB-A9A2-1D9B65E3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InferenceFence</a:t>
            </a:r>
          </a:p>
        </p:txBody>
      </p:sp>
      <p:sp>
        <p:nvSpPr>
          <p:cNvPr id="22" name="contract-3-body">
            <a:extLst xmlns:a="http://schemas.openxmlformats.org/drawingml/2006/main">
              <a:ext uri="{FF2B5EF4-FFF2-40B4-BE49-F238E27FC236}">
                <a16:creationId xmlns:a16="http://schemas.microsoft.com/office/drawing/2014/main" id="{A5B0F375-1CDE-4456-82AC-0E475E7F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3076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医学可以 await，游戏异步轮转，渲染可直接采样 texture 输出。</a:t>
            </a:r>
          </a:p>
        </p:txBody>
      </p:sp>
      <p:sp>
        <p:nvSpPr>
          <p:cNvPr id="23" name="contract-4-panel">
            <a:extLst xmlns:a="http://schemas.openxmlformats.org/drawingml/2006/main">
              <a:ext uri="{FF2B5EF4-FFF2-40B4-BE49-F238E27FC236}">
                <a16:creationId xmlns:a16="http://schemas.microsoft.com/office/drawing/2014/main" id="{BC44F0CC-CF1B-4113-9C83-E5F48999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764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4" name="contract-4-accent">
            <a:extLst xmlns:a="http://schemas.openxmlformats.org/drawingml/2006/main">
              <a:ext uri="{FF2B5EF4-FFF2-40B4-BE49-F238E27FC236}">
                <a16:creationId xmlns:a16="http://schemas.microsoft.com/office/drawing/2014/main" id="{0B2084C7-DE2F-4E29-86DF-36900746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764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25" name="contract-4-title">
            <a:extLst xmlns:a="http://schemas.openxmlformats.org/drawingml/2006/main">
              <a:ext uri="{FF2B5EF4-FFF2-40B4-BE49-F238E27FC236}">
                <a16:creationId xmlns:a16="http://schemas.microsoft.com/office/drawing/2014/main" id="{8E87BD1F-C0AC-45AA-90E6-49074461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4792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Strict capability planner</a:t>
            </a:r>
          </a:p>
        </p:txBody>
      </p:sp>
      <p:sp>
        <p:nvSpPr>
          <p:cNvPr id="26" name="contract-4-body">
            <a:extLst xmlns:a="http://schemas.openxmlformats.org/drawingml/2006/main">
              <a:ext uri="{FF2B5EF4-FFF2-40B4-BE49-F238E27FC236}">
                <a16:creationId xmlns:a16="http://schemas.microsoft.com/office/drawing/2014/main" id="{87EB979C-F526-433F-9B53-BDEF213D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3076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缺 RT / Cmd / dtype 能力时在 import / plan 阶段失败，不留 placeholder。</a:t>
            </a:r>
          </a:p>
        </p:txBody>
      </p:sp>
      <p:sp>
        <p:nvSpPr>
          <p:cNvPr id="27" name="contract-5-panel">
            <a:extLst xmlns:a="http://schemas.openxmlformats.org/drawingml/2006/main">
              <a:ext uri="{FF2B5EF4-FFF2-40B4-BE49-F238E27FC236}">
                <a16:creationId xmlns:a16="http://schemas.microsoft.com/office/drawing/2014/main" id="{9B071461-3220-4A9D-AE90-D9AA40BE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8" name="contract-5-accent">
            <a:extLst xmlns:a="http://schemas.openxmlformats.org/drawingml/2006/main">
              <a:ext uri="{FF2B5EF4-FFF2-40B4-BE49-F238E27FC236}">
                <a16:creationId xmlns:a16="http://schemas.microsoft.com/office/drawing/2014/main" id="{D0FA03DE-2ACC-4264-A898-42621E8B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29" name="contract-5-title">
            <a:extLst xmlns:a="http://schemas.openxmlformats.org/drawingml/2006/main">
              <a:ext uri="{FF2B5EF4-FFF2-40B4-BE49-F238E27FC236}">
                <a16:creationId xmlns:a16="http://schemas.microsoft.com/office/drawing/2014/main" id="{44C95C07-925D-4183-8DA9-946FB199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4332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Debug Oracle</a:t>
            </a:r>
          </a:p>
        </p:txBody>
      </p:sp>
      <p:sp>
        <p:nvSpPr>
          <p:cNvPr id="30" name="contract-5-body">
            <a:extLst xmlns:a="http://schemas.openxmlformats.org/drawingml/2006/main">
              <a:ext uri="{FF2B5EF4-FFF2-40B4-BE49-F238E27FC236}">
                <a16:creationId xmlns:a16="http://schemas.microsoft.com/office/drawing/2014/main" id="{DF2114CD-4658-41EE-AB77-02700B86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3076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Buffer kernel 与 readback 留在 UNITY_EDITOR 或 AIIMAGE_INFERENCE_DEBUG_ORACLE。</a:t>
            </a:r>
          </a:p>
        </p:txBody>
      </p:sp>
      <p:sp>
        <p:nvSpPr>
          <p:cNvPr id="31" name="contract-6-panel">
            <a:extLst xmlns:a="http://schemas.openxmlformats.org/drawingml/2006/main">
              <a:ext uri="{FF2B5EF4-FFF2-40B4-BE49-F238E27FC236}">
                <a16:creationId xmlns:a16="http://schemas.microsoft.com/office/drawing/2014/main" id="{041B9A89-F0A9-49E3-AA5C-6CB5DAEE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672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2" name="contract-6-accent">
            <a:extLst xmlns:a="http://schemas.openxmlformats.org/drawingml/2006/main">
              <a:ext uri="{FF2B5EF4-FFF2-40B4-BE49-F238E27FC236}">
                <a16:creationId xmlns:a16="http://schemas.microsoft.com/office/drawing/2014/main" id="{3B2B6B47-4526-4FB9-8C47-9DA67641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672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33" name="contract-6-title">
            <a:extLst xmlns:a="http://schemas.openxmlformats.org/drawingml/2006/main">
              <a:ext uri="{FF2B5EF4-FFF2-40B4-BE49-F238E27FC236}">
                <a16:creationId xmlns:a16="http://schemas.microsoft.com/office/drawing/2014/main" id="{34A22BC2-0086-42FD-BE2E-F9148348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3872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可观测与回归</a:t>
            </a:r>
          </a:p>
        </p:txBody>
      </p:sp>
      <p:sp>
        <p:nvSpPr>
          <p:cNvPr id="34" name="contract-6-body">
            <a:extLst xmlns:a="http://schemas.openxmlformats.org/drawingml/2006/main">
              <a:ext uri="{FF2B5EF4-FFF2-40B4-BE49-F238E27FC236}">
                <a16:creationId xmlns:a16="http://schemas.microsoft.com/office/drawing/2014/main" id="{66D1D663-A598-4F7C-84C7-B17ABFF7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10200"/>
            <a:ext cx="3076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能力矩阵、golden、层级误差、模型 manifest 与性能门禁共同构成发布证据。</a:t>
            </a:r>
          </a:p>
        </p:txBody>
      </p:sp>
      <p:cxnSp>
        <p:nvCxnSpPr>
          <p:cNvPr id="72" name="footer-rule-5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36" name="footer-5">
            <a:extLst xmlns:a="http://schemas.openxmlformats.org/drawingml/2006/main">
              <a:ext uri="{FF2B5EF4-FFF2-40B4-BE49-F238E27FC236}">
                <a16:creationId xmlns:a16="http://schemas.microsoft.com/office/drawing/2014/main" id="{2A47A041-43CD-42BB-8421-6A781C2D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37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0619268-CF59-46CC-B9D8-1FAC8ED1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8456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6">
            <a:extLst xmlns:a="http://schemas.openxmlformats.org/drawingml/2006/main">
              <a:ext uri="{FF2B5EF4-FFF2-40B4-BE49-F238E27FC236}">
                <a16:creationId xmlns:a16="http://schemas.microsoft.com/office/drawing/2014/main" id="{2D5B6848-C20A-4A73-8FE2-79639FCD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FORMAT STRATEGY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C395582-49D5-4424-8682-00C74D2A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三种格式共享一个执行后端，而非三套执行器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5850B6EB-438E-4E47-952A-1835BD5F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cxnSp>
        <p:nvCxnSpPr>
          <p:cNvPr id="31" name="header-rule-6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format-lede">
            <a:extLst xmlns:a="http://schemas.openxmlformats.org/drawingml/2006/main">
              <a:ext uri="{FF2B5EF4-FFF2-40B4-BE49-F238E27FC236}">
                <a16:creationId xmlns:a16="http://schemas.microsoft.com/office/drawing/2014/main" id="{06D5FEC5-C59B-48B6-9875-D8A26BED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格式解决模型来源与生态接入；生产执行统一交给 canonical IR 与 CommandBuffer Pack4 后端。</a:t>
            </a:r>
          </a:p>
        </p:txBody>
      </p:sp>
      <p:cxnSp>
        <p:nvCxnSpPr>
          <p:cNvPr id="33" name="format-base-line"/>
          <p:cNvCxnSpPr/>
          <p:nvPr/>
        </p:nvCxnSpPr>
        <p:spPr>
          <a:xfrm xmlns:a="http://schemas.openxmlformats.org/drawingml/2006/main">
            <a:off x="1381125" y="5286375"/>
            <a:ext cx="94297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cxnSp>
        <p:nvCxnSpPr>
          <p:cNvPr id="34" name="format-v1"/>
          <p:cNvCxnSpPr/>
          <p:nvPr/>
        </p:nvCxnSpPr>
        <p:spPr>
          <a:xfrm xmlns:a="http://schemas.openxmlformats.org/drawingml/2006/main">
            <a:off x="2409825" y="3971925"/>
            <a:ext cx="95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cxnSp>
        <p:nvCxnSpPr>
          <p:cNvPr id="35" name="format-v2"/>
          <p:cNvCxnSpPr/>
          <p:nvPr/>
        </p:nvCxnSpPr>
        <p:spPr>
          <a:xfrm xmlns:a="http://schemas.openxmlformats.org/drawingml/2006/main">
            <a:off x="6096000" y="3971925"/>
            <a:ext cx="95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cxnSp>
        <p:nvCxnSpPr>
          <p:cNvPr id="36" name="format-v3"/>
          <p:cNvCxnSpPr/>
          <p:nvPr/>
        </p:nvCxnSpPr>
        <p:spPr>
          <a:xfrm xmlns:a="http://schemas.openxmlformats.org/drawingml/2006/main">
            <a:off x="9782175" y="3971925"/>
            <a:ext cx="95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10" name="format-ncnn-panel">
            <a:extLst xmlns:a="http://schemas.openxmlformats.org/drawingml/2006/main">
              <a:ext uri="{FF2B5EF4-FFF2-40B4-BE49-F238E27FC236}">
                <a16:creationId xmlns:a16="http://schemas.microsoft.com/office/drawing/2014/main" id="{EE40F0B1-340B-40CD-A09E-F9CF427A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486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format-ncnn-accent">
            <a:extLst xmlns:a="http://schemas.openxmlformats.org/drawingml/2006/main">
              <a:ext uri="{FF2B5EF4-FFF2-40B4-BE49-F238E27FC236}">
                <a16:creationId xmlns:a16="http://schemas.microsoft.com/office/drawing/2014/main" id="{3C8C9842-53D1-43B5-A2C4-5C74D5F5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2" name="format-ncnn-title">
            <a:extLst xmlns:a="http://schemas.openxmlformats.org/drawingml/2006/main">
              <a:ext uri="{FF2B5EF4-FFF2-40B4-BE49-F238E27FC236}">
                <a16:creationId xmlns:a16="http://schemas.microsoft.com/office/drawing/2014/main" id="{FBA8337D-5A4A-451C-AB69-5E93A16E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14575"/>
            <a:ext cx="3086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ncnn</a:t>
            </a:r>
          </a:p>
        </p:txBody>
      </p:sp>
      <p:sp>
        <p:nvSpPr>
          <p:cNvPr id="13" name="format-ncnn-body">
            <a:extLst xmlns:a="http://schemas.openxmlformats.org/drawingml/2006/main">
              <a:ext uri="{FF2B5EF4-FFF2-40B4-BE49-F238E27FC236}">
                <a16:creationId xmlns:a16="http://schemas.microsoft.com/office/drawing/2014/main" id="{7ECA2A62-0658-4C72-84AF-F30FCA92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08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第一优先级兼容源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保留 .param / .bin / PNNX。</a:t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导入后映射为 canonical op。</a:t>
            </a:r>
          </a:p>
        </p:txBody>
      </p:sp>
      <p:sp>
        <p:nvSpPr>
          <p:cNvPr id="14" name="format-sentis-panel">
            <a:extLst xmlns:a="http://schemas.openxmlformats.org/drawingml/2006/main">
              <a:ext uri="{FF2B5EF4-FFF2-40B4-BE49-F238E27FC236}">
                <a16:creationId xmlns:a16="http://schemas.microsoft.com/office/drawing/2014/main" id="{8183F561-E9D3-4B3F-999B-92E5FC44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43125"/>
            <a:ext cx="3486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format-sentis-accent">
            <a:extLst xmlns:a="http://schemas.openxmlformats.org/drawingml/2006/main">
              <a:ext uri="{FF2B5EF4-FFF2-40B4-BE49-F238E27FC236}">
                <a16:creationId xmlns:a16="http://schemas.microsoft.com/office/drawing/2014/main" id="{55335829-39B9-49EB-8C05-D5EFFCD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43125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6" name="format-sentis-title">
            <a:extLst xmlns:a="http://schemas.openxmlformats.org/drawingml/2006/main">
              <a:ext uri="{FF2B5EF4-FFF2-40B4-BE49-F238E27FC236}">
                <a16:creationId xmlns:a16="http://schemas.microsoft.com/office/drawing/2014/main" id="{FB58133D-8D56-48F8-BA65-6B227E84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14575"/>
            <a:ext cx="3086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ONNX / Sentis</a:t>
            </a:r>
          </a:p>
        </p:txBody>
      </p:sp>
      <p:sp>
        <p:nvSpPr>
          <p:cNvPr id="17" name="format-sentis-body">
            <a:extLst xmlns:a="http://schemas.openxmlformats.org/drawingml/2006/main">
              <a:ext uri="{FF2B5EF4-FFF2-40B4-BE49-F238E27FC236}">
                <a16:creationId xmlns:a16="http://schemas.microsoft.com/office/drawing/2014/main" id="{0E36E59A-0670-4B9F-96E2-201E6950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86050"/>
            <a:ext cx="308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长期通用模型格式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保留 Shape / Size / Range / Gather。</a:t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Sentis worker 不作生产 fallback。</a:t>
            </a:r>
          </a:p>
        </p:txBody>
      </p:sp>
      <p:sp>
        <p:nvSpPr>
          <p:cNvPr id="18" name="format-mnn-panel">
            <a:extLst xmlns:a="http://schemas.openxmlformats.org/drawingml/2006/main">
              <a:ext uri="{FF2B5EF4-FFF2-40B4-BE49-F238E27FC236}">
                <a16:creationId xmlns:a16="http://schemas.microsoft.com/office/drawing/2014/main" id="{2652955B-A4DA-4883-97F1-2B10CEDF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43125"/>
            <a:ext cx="3486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9" name="format-mnn-accent">
            <a:extLst xmlns:a="http://schemas.openxmlformats.org/drawingml/2006/main">
              <a:ext uri="{FF2B5EF4-FFF2-40B4-BE49-F238E27FC236}">
                <a16:creationId xmlns:a16="http://schemas.microsoft.com/office/drawing/2014/main" id="{A0D10A41-92B8-4563-8E38-CB133CE9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43125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0" name="format-mnn-title">
            <a:extLst xmlns:a="http://schemas.openxmlformats.org/drawingml/2006/main">
              <a:ext uri="{FF2B5EF4-FFF2-40B4-BE49-F238E27FC236}">
                <a16:creationId xmlns:a16="http://schemas.microsoft.com/office/drawing/2014/main" id="{13975293-C629-4358-8D0E-911E02F7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14575"/>
            <a:ext cx="3086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MNN</a:t>
            </a:r>
          </a:p>
        </p:txBody>
      </p:sp>
      <p:sp>
        <p:nvSpPr>
          <p:cNvPr id="21" name="format-mnn-body">
            <a:extLst xmlns:a="http://schemas.openxmlformats.org/drawingml/2006/main">
              <a:ext uri="{FF2B5EF4-FFF2-40B4-BE49-F238E27FC236}">
                <a16:creationId xmlns:a16="http://schemas.microsoft.com/office/drawing/2014/main" id="{D9AE0431-8684-4AE2-A8D2-97CFAD43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308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移动模型来源与量化生态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先离线 MNN -&gt; IR / ONNX / PNNX。</a:t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MNN CPU / Vulkan 只作为 oracle。</a:t>
            </a:r>
          </a:p>
        </p:txBody>
      </p:sp>
      <p:sp>
        <p:nvSpPr>
          <p:cNvPr id="22" name="format-ir-panel">
            <a:extLst xmlns:a="http://schemas.openxmlformats.org/drawingml/2006/main">
              <a:ext uri="{FF2B5EF4-FFF2-40B4-BE49-F238E27FC236}">
                <a16:creationId xmlns:a16="http://schemas.microsoft.com/office/drawing/2014/main" id="{8E97BE26-6AAF-4D74-BD2E-DA768391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295900"/>
            <a:ext cx="57721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23" name="format-ir-title">
            <a:extLst xmlns:a="http://schemas.openxmlformats.org/drawingml/2006/main">
              <a:ext uri="{FF2B5EF4-FFF2-40B4-BE49-F238E27FC236}">
                <a16:creationId xmlns:a16="http://schemas.microsoft.com/office/drawing/2014/main" id="{ABDC5DC9-AC73-41C5-917E-73E56170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429250"/>
            <a:ext cx="518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Canonical IR + capability report + ModelManifest</a:t>
            </a:r>
          </a:p>
        </p:txBody>
      </p:sp>
      <p:sp>
        <p:nvSpPr>
          <p:cNvPr id="24" name="format-ir-note">
            <a:extLst xmlns:a="http://schemas.openxmlformats.org/drawingml/2006/main">
              <a:ext uri="{FF2B5EF4-FFF2-40B4-BE49-F238E27FC236}">
                <a16:creationId xmlns:a16="http://schemas.microsoft.com/office/drawing/2014/main" id="{AD9939D5-3124-486B-9297-42533729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81700"/>
            <a:ext cx="632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缺少能力时，在导入 / 编译阶段报告节点、shape、dtype 与可操作替代建议。</a:t>
            </a:r>
          </a:p>
        </p:txBody>
      </p:sp>
      <p:cxnSp>
        <p:nvCxnSpPr>
          <p:cNvPr id="52" name="footer-rule-6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6" name="footer-6">
            <a:extLst xmlns:a="http://schemas.openxmlformats.org/drawingml/2006/main">
              <a:ext uri="{FF2B5EF4-FFF2-40B4-BE49-F238E27FC236}">
                <a16:creationId xmlns:a16="http://schemas.microsoft.com/office/drawing/2014/main" id="{239F423B-BAEE-48EF-84BE-90779B4C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27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6C367632-F950-4954-A686-87C2B019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7517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7">
            <a:extLst xmlns:a="http://schemas.openxmlformats.org/drawingml/2006/main">
              <a:ext uri="{FF2B5EF4-FFF2-40B4-BE49-F238E27FC236}">
                <a16:creationId xmlns:a16="http://schemas.microsoft.com/office/drawing/2014/main" id="{366ADA5F-A806-4762-8448-62B27516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OPERATOR ENGINE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E000B63-E72E-4BCF-BC03-9480B1E4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“支持算子”要拆成七项能力，而不是一个注册数字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FA896B4F-B6F5-4657-968A-17F9D92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cxnSp>
        <p:nvCxnSpPr>
          <p:cNvPr id="26" name="header-rule-7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op-matrix">
            <a:extLst xmlns:a="http://schemas.openxmlformats.org/drawingml/2006/main">
              <a:ext uri="{FF2B5EF4-FFF2-40B4-BE49-F238E27FC236}">
                <a16:creationId xmlns:a16="http://schemas.microsoft.com/office/drawing/2014/main" id="{FC2C1763-0474-4896-90EC-B2D706A9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6" name="op-matrix-text">
            <a:extLst xmlns:a="http://schemas.openxmlformats.org/drawingml/2006/main">
              <a:ext uri="{FF2B5EF4-FFF2-40B4-BE49-F238E27FC236}">
                <a16:creationId xmlns:a16="http://schemas.microsoft.com/office/drawing/2014/main" id="{CAF355B6-DDF0-4AAC-B931-E4276EC7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Import  +  Shape  +  RT  +  Cmd  +  FP16  +  INT8  +  Validation</a:t>
            </a:r>
          </a:p>
        </p:txBody>
      </p:sp>
      <p:sp>
        <p:nvSpPr>
          <p:cNvPr id="7" name="op-matrix-note">
            <a:extLst xmlns:a="http://schemas.openxmlformats.org/drawingml/2006/main">
              <a:ext uri="{FF2B5EF4-FFF2-40B4-BE49-F238E27FC236}">
                <a16:creationId xmlns:a16="http://schemas.microsoft.com/office/drawing/2014/main" id="{680AA105-EE6E-4186-B979-C9659FEA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rPr>
              <a:t>只有 Cmd Pack4 路径与验证同时成立，才可列为生产支持。</a:t>
            </a:r>
          </a:p>
        </p:txBody>
      </p:sp>
      <p:sp>
        <p:nvSpPr>
          <p:cNvPr id="8" name="op-band-1-panel">
            <a:extLst xmlns:a="http://schemas.openxmlformats.org/drawingml/2006/main">
              <a:ext uri="{FF2B5EF4-FFF2-40B4-BE49-F238E27FC236}">
                <a16:creationId xmlns:a16="http://schemas.microsoft.com/office/drawing/2014/main" id="{5517E775-8FA6-4A7A-9682-1B939E0C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11277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9" name="op-band-1-accent">
            <a:extLst xmlns:a="http://schemas.openxmlformats.org/drawingml/2006/main">
              <a:ext uri="{FF2B5EF4-FFF2-40B4-BE49-F238E27FC236}">
                <a16:creationId xmlns:a16="http://schemas.microsoft.com/office/drawing/2014/main" id="{508B1E39-E685-4FAE-8139-9809EFCC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0" name="op-band-1-title">
            <a:extLst xmlns:a="http://schemas.openxmlformats.org/drawingml/2006/main">
              <a:ext uri="{FF2B5EF4-FFF2-40B4-BE49-F238E27FC236}">
                <a16:creationId xmlns:a16="http://schemas.microsoft.com/office/drawing/2014/main" id="{E634862C-3DBC-4D1D-9692-D821F354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7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已有真实纹理路径的代表性能力</a:t>
            </a:r>
          </a:p>
        </p:txBody>
      </p:sp>
      <p:sp>
        <p:nvSpPr>
          <p:cNvPr id="11" name="op-band-1-body">
            <a:extLst xmlns:a="http://schemas.openxmlformats.org/drawingml/2006/main">
              <a:ext uri="{FF2B5EF4-FFF2-40B4-BE49-F238E27FC236}">
                <a16:creationId xmlns:a16="http://schemas.microsoft.com/office/drawing/2014/main" id="{942D1364-4021-4DB5-A80D-0D178420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877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Unary / Pointwise / BatchNorm / Copy；静态 Shape、Size、ArgMax / ArgMin、Where、Gather / GatherElements 等结构算子。</a:t>
            </a:r>
          </a:p>
        </p:txBody>
      </p:sp>
      <p:sp>
        <p:nvSpPr>
          <p:cNvPr id="12" name="op-band-2-panel">
            <a:extLst xmlns:a="http://schemas.openxmlformats.org/drawingml/2006/main">
              <a:ext uri="{FF2B5EF4-FFF2-40B4-BE49-F238E27FC236}">
                <a16:creationId xmlns:a16="http://schemas.microsoft.com/office/drawing/2014/main" id="{30FCB7A2-8F16-401F-9CC0-54154EE4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11277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3" name="op-band-2-accent">
            <a:extLst xmlns:a="http://schemas.openxmlformats.org/drawingml/2006/main">
              <a:ext uri="{FF2B5EF4-FFF2-40B4-BE49-F238E27FC236}">
                <a16:creationId xmlns:a16="http://schemas.microsoft.com/office/drawing/2014/main" id="{B5773A23-D59B-4124-899D-5B7BFEE6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4" name="op-band-2-title">
            <a:extLst xmlns:a="http://schemas.openxmlformats.org/drawingml/2006/main">
              <a:ext uri="{FF2B5EF4-FFF2-40B4-BE49-F238E27FC236}">
                <a16:creationId xmlns:a16="http://schemas.microsoft.com/office/drawing/2014/main" id="{59DD44F0-4B6D-4AA9-B26E-32AAB014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7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P0：必须收敛的主干 Cmd Pack4</a:t>
            </a:r>
          </a:p>
        </p:txBody>
      </p:sp>
      <p:sp>
        <p:nvSpPr>
          <p:cNvPr id="15" name="op-band-2-body">
            <a:extLst xmlns:a="http://schemas.openxmlformats.org/drawingml/2006/main">
              <a:ext uri="{FF2B5EF4-FFF2-40B4-BE49-F238E27FC236}">
                <a16:creationId xmlns:a16="http://schemas.microsoft.com/office/drawing/2014/main" id="{58EC265D-1B98-427D-BB2E-1985469A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7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Conv / Depthwise / Deconv；Gemm / InnerProduct / MatMul；LayerNorm / Softmax / Reduction；attention；Permute / Reshape；Cast / Packing 与量化基础。</a:t>
            </a:r>
          </a:p>
        </p:txBody>
      </p:sp>
      <p:sp>
        <p:nvSpPr>
          <p:cNvPr id="16" name="op-band-3-panel">
            <a:extLst xmlns:a="http://schemas.openxmlformats.org/drawingml/2006/main">
              <a:ext uri="{FF2B5EF4-FFF2-40B4-BE49-F238E27FC236}">
                <a16:creationId xmlns:a16="http://schemas.microsoft.com/office/drawing/2014/main" id="{BB3332E6-EA58-467A-9807-7221DADB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11277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7" name="op-band-3-accent">
            <a:extLst xmlns:a="http://schemas.openxmlformats.org/drawingml/2006/main">
              <a:ext uri="{FF2B5EF4-FFF2-40B4-BE49-F238E27FC236}">
                <a16:creationId xmlns:a16="http://schemas.microsoft.com/office/drawing/2014/main" id="{403C47C1-6425-460B-BA53-31779A50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op-band-3-title">
            <a:extLst xmlns:a="http://schemas.openxmlformats.org/drawingml/2006/main">
              <a:ext uri="{FF2B5EF4-FFF2-40B4-BE49-F238E27FC236}">
                <a16:creationId xmlns:a16="http://schemas.microsoft.com/office/drawing/2014/main" id="{C45D861B-92B5-4200-98EB-4107C09F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1087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下一轮打开新图的图编排与视觉能力</a:t>
            </a:r>
          </a:p>
        </p:txBody>
      </p:sp>
      <p:sp>
        <p:nvSpPr>
          <p:cNvPr id="19" name="op-band-3-body">
            <a:extLst xmlns:a="http://schemas.openxmlformats.org/drawingml/2006/main">
              <a:ext uri="{FF2B5EF4-FFF2-40B4-BE49-F238E27FC236}">
                <a16:creationId xmlns:a16="http://schemas.microsoft.com/office/drawing/2014/main" id="{FD6782CD-015A-415E-8F78-CA2494B8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7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动态 shape value-flow；NonZero / Compress / GatherND / Scatter；动态 TopK / OneHot；GridSample / RoiAlign / NMS；KV cache / RotaryEmbedding / SDPA / MHA 泛化。</a:t>
            </a:r>
          </a:p>
        </p:txBody>
      </p:sp>
      <p:cxnSp>
        <p:nvCxnSpPr>
          <p:cNvPr id="42" name="footer-rule-7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7">
            <a:extLst xmlns:a="http://schemas.openxmlformats.org/drawingml/2006/main">
              <a:ext uri="{FF2B5EF4-FFF2-40B4-BE49-F238E27FC236}">
                <a16:creationId xmlns:a16="http://schemas.microsoft.com/office/drawing/2014/main" id="{8C87EFB5-F732-4586-8A00-BA9098F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OPERATOR CAPABILITY MATRIX</a:t>
            </a:r>
          </a:p>
        </p:txBody>
      </p:sp>
      <p:sp>
        <p:nvSpPr>
          <p:cNvPr id="22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C086C405-2DFE-4456-9598-B5BD3DAA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5298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8">
            <a:extLst xmlns:a="http://schemas.openxmlformats.org/drawingml/2006/main">
              <a:ext uri="{FF2B5EF4-FFF2-40B4-BE49-F238E27FC236}">
                <a16:creationId xmlns:a16="http://schemas.microsoft.com/office/drawing/2014/main" id="{1FDE9655-B7C2-4005-990C-AE37BEBF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PRECISION AND VALIDATION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64871D8-E302-4632-BFBA-FC48C2AD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精度方案是模型契约，不是一个全局开关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E34AE5B2-E42F-44A9-B24B-66FA0DD6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cxnSp>
        <p:nvCxnSpPr>
          <p:cNvPr id="39" name="header-rule-8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precision-lede">
            <a:extLst xmlns:a="http://schemas.openxmlformats.org/drawingml/2006/main">
              <a:ext uri="{FF2B5EF4-FFF2-40B4-BE49-F238E27FC236}">
                <a16:creationId xmlns:a16="http://schemas.microsoft.com/office/drawing/2014/main" id="{B3A57883-7B3A-46C6-A546-6A57E917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每个发布模型由 ModelManifest 固定输入预处理、shape profile、布局、权重/activation、量化参数、数值阈值、目标平台与验证 GPU。</a:t>
            </a:r>
          </a:p>
        </p:txBody>
      </p:sp>
      <p:sp>
        <p:nvSpPr>
          <p:cNvPr id="6" name="precision-head-1">
            <a:extLst xmlns:a="http://schemas.openxmlformats.org/drawingml/2006/main">
              <a:ext uri="{FF2B5EF4-FFF2-40B4-BE49-F238E27FC236}">
                <a16:creationId xmlns:a16="http://schemas.microsoft.com/office/drawing/2014/main" id="{707DB450-1392-43A1-AF3D-B2850A6E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模式</a:t>
            </a:r>
          </a:p>
        </p:txBody>
      </p:sp>
      <p:sp>
        <p:nvSpPr>
          <p:cNvPr id="7" name="precision-head-2">
            <a:extLst xmlns:a="http://schemas.openxmlformats.org/drawingml/2006/main">
              <a:ext uri="{FF2B5EF4-FFF2-40B4-BE49-F238E27FC236}">
                <a16:creationId xmlns:a16="http://schemas.microsoft.com/office/drawing/2014/main" id="{09D7A672-623B-430F-8B85-7A620AAF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38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首批定位</a:t>
            </a:r>
          </a:p>
        </p:txBody>
      </p:sp>
      <p:sp>
        <p:nvSpPr>
          <p:cNvPr id="8" name="precision-head-3">
            <a:extLst xmlns:a="http://schemas.openxmlformats.org/drawingml/2006/main">
              <a:ext uri="{FF2B5EF4-FFF2-40B4-BE49-F238E27FC236}">
                <a16:creationId xmlns:a16="http://schemas.microsoft.com/office/drawing/2014/main" id="{EB8F4410-F52F-4211-8DFA-6F4C2C0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3837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关键约束</a:t>
            </a:r>
          </a:p>
        </p:txBody>
      </p:sp>
      <p:cxnSp>
        <p:nvCxnSpPr>
          <p:cNvPr id="44" name="precision-rule-1"/>
          <p:cNvCxnSpPr/>
          <p:nvPr/>
        </p:nvCxnSpPr>
        <p:spPr>
          <a:xfrm xmlns:a="http://schemas.openxmlformats.org/drawingml/2006/main">
            <a:off x="457200" y="2552700"/>
            <a:ext cx="95916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10" name="precision-row-0">
            <a:extLst xmlns:a="http://schemas.openxmlformats.org/drawingml/2006/main">
              <a:ext uri="{FF2B5EF4-FFF2-40B4-BE49-F238E27FC236}">
                <a16:creationId xmlns:a16="http://schemas.microsoft.com/office/drawing/2014/main" id="{E4A69DCC-5A80-4E6A-AC44-BB0C1AE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9591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precision-row-accent-0">
            <a:extLst xmlns:a="http://schemas.openxmlformats.org/drawingml/2006/main">
              <a:ext uri="{FF2B5EF4-FFF2-40B4-BE49-F238E27FC236}">
                <a16:creationId xmlns:a16="http://schemas.microsoft.com/office/drawing/2014/main" id="{63E418D5-69CB-4D66-88FD-4AE5A20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12" name="precision-mode-0">
            <a:extLst xmlns:a="http://schemas.openxmlformats.org/drawingml/2006/main">
              <a:ext uri="{FF2B5EF4-FFF2-40B4-BE49-F238E27FC236}">
                <a16:creationId xmlns:a16="http://schemas.microsoft.com/office/drawing/2014/main" id="{EFEE07BE-FFC6-4CB4-B90A-E7D2BD21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FP32</a:t>
            </a:r>
          </a:p>
        </p:txBody>
      </p:sp>
      <p:sp>
        <p:nvSpPr>
          <p:cNvPr id="13" name="precision-use-0">
            <a:extLst xmlns:a="http://schemas.openxmlformats.org/drawingml/2006/main">
              <a:ext uri="{FF2B5EF4-FFF2-40B4-BE49-F238E27FC236}">
                <a16:creationId xmlns:a16="http://schemas.microsoft.com/office/drawing/2014/main" id="{55E79ADD-2251-4DC6-88F9-5F9ECC55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670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数值 oracle / 医学金标准 / 调试</a:t>
            </a:r>
          </a:p>
        </p:txBody>
      </p:sp>
      <p:sp>
        <p:nvSpPr>
          <p:cNvPr id="14" name="precision-limit-0">
            <a:extLst xmlns:a="http://schemas.openxmlformats.org/drawingml/2006/main">
              <a:ext uri="{FF2B5EF4-FFF2-40B4-BE49-F238E27FC236}">
                <a16:creationId xmlns:a16="http://schemas.microsoft.com/office/drawing/2014/main" id="{DB5A620A-20D0-4F3D-9633-CF800513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9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内存与带宽最高；保存层级和任务级参考。</a:t>
            </a:r>
          </a:p>
        </p:txBody>
      </p:sp>
      <p:sp>
        <p:nvSpPr>
          <p:cNvPr id="15" name="precision-row-1">
            <a:extLst xmlns:a="http://schemas.openxmlformats.org/drawingml/2006/main">
              <a:ext uri="{FF2B5EF4-FFF2-40B4-BE49-F238E27FC236}">
                <a16:creationId xmlns:a16="http://schemas.microsoft.com/office/drawing/2014/main" id="{44607AF7-C4E8-4951-8AF2-52E5BE30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9591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6" name="precision-row-accent-1">
            <a:extLst xmlns:a="http://schemas.openxmlformats.org/drawingml/2006/main">
              <a:ext uri="{FF2B5EF4-FFF2-40B4-BE49-F238E27FC236}">
                <a16:creationId xmlns:a16="http://schemas.microsoft.com/office/drawing/2014/main" id="{AACED83B-A5C1-4FFC-A32A-14EEA669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7" name="precision-mode-1">
            <a:extLst xmlns:a="http://schemas.openxmlformats.org/drawingml/2006/main">
              <a:ext uri="{FF2B5EF4-FFF2-40B4-BE49-F238E27FC236}">
                <a16:creationId xmlns:a16="http://schemas.microsoft.com/office/drawing/2014/main" id="{96E92DF8-3BE9-45C9-80AE-AC37B5A0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FP16 mixed</a:t>
            </a:r>
          </a:p>
        </p:txBody>
      </p:sp>
      <p:sp>
        <p:nvSpPr>
          <p:cNvPr id="18" name="precision-use-1">
            <a:extLst xmlns:a="http://schemas.openxmlformats.org/drawingml/2006/main">
              <a:ext uri="{FF2B5EF4-FFF2-40B4-BE49-F238E27FC236}">
                <a16:creationId xmlns:a16="http://schemas.microsoft.com/office/drawing/2014/main" id="{3FBBFC40-81A4-4FFE-B22E-1A239515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528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移动 / 桌面视觉、游戏、部分医学</a:t>
            </a:r>
          </a:p>
        </p:txBody>
      </p:sp>
      <p:sp>
        <p:nvSpPr>
          <p:cNvPr id="19" name="precision-limit-1">
            <a:extLst xmlns:a="http://schemas.openxmlformats.org/drawingml/2006/main">
              <a:ext uri="{FF2B5EF4-FFF2-40B4-BE49-F238E27FC236}">
                <a16:creationId xmlns:a16="http://schemas.microsoft.com/office/drawing/2014/main" id="{C7CB5C68-6D55-4944-A303-48094003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956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Conv / Gemm 可降精度；Softmax / Norm / Reduce 强制 FP32 累积。</a:t>
            </a:r>
          </a:p>
        </p:txBody>
      </p:sp>
      <p:sp>
        <p:nvSpPr>
          <p:cNvPr id="20" name="precision-row-2">
            <a:extLst xmlns:a="http://schemas.openxmlformats.org/drawingml/2006/main">
              <a:ext uri="{FF2B5EF4-FFF2-40B4-BE49-F238E27FC236}">
                <a16:creationId xmlns:a16="http://schemas.microsoft.com/office/drawing/2014/main" id="{8B323838-D86B-41F7-A1D9-1B1C9957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9591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1" name="precision-row-accent-2">
            <a:extLst xmlns:a="http://schemas.openxmlformats.org/drawingml/2006/main">
              <a:ext uri="{FF2B5EF4-FFF2-40B4-BE49-F238E27FC236}">
                <a16:creationId xmlns:a16="http://schemas.microsoft.com/office/drawing/2014/main" id="{B3466B06-7D35-49AB-BA86-6E03C330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2" name="precision-mode-2">
            <a:extLst xmlns:a="http://schemas.openxmlformats.org/drawingml/2006/main">
              <a:ext uri="{FF2B5EF4-FFF2-40B4-BE49-F238E27FC236}">
                <a16:creationId xmlns:a16="http://schemas.microsoft.com/office/drawing/2014/main" id="{6372F143-674C-45D7-A2BF-3B065EC5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INT8 weight-only</a:t>
            </a:r>
          </a:p>
        </p:txBody>
      </p:sp>
      <p:sp>
        <p:nvSpPr>
          <p:cNvPr id="23" name="precision-use-2">
            <a:extLst xmlns:a="http://schemas.openxmlformats.org/drawingml/2006/main">
              <a:ext uri="{FF2B5EF4-FFF2-40B4-BE49-F238E27FC236}">
                <a16:creationId xmlns:a16="http://schemas.microsoft.com/office/drawing/2014/main" id="{5094C11A-60FD-49C3-83B9-57E54C73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386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首个实用的低内存交付</a:t>
            </a:r>
          </a:p>
        </p:txBody>
      </p:sp>
      <p:sp>
        <p:nvSpPr>
          <p:cNvPr id="24" name="precision-limit-2">
            <a:extLst xmlns:a="http://schemas.openxmlformats.org/drawingml/2006/main">
              <a:ext uri="{FF2B5EF4-FFF2-40B4-BE49-F238E27FC236}">
                <a16:creationId xmlns:a16="http://schemas.microsoft.com/office/drawing/2014/main" id="{D8C1BFF1-B989-44AF-A75C-195B0E3A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814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Conv / Gemm / InnerProduct 先行；per-output-channel scale。</a:t>
            </a:r>
          </a:p>
        </p:txBody>
      </p:sp>
      <p:sp>
        <p:nvSpPr>
          <p:cNvPr id="25" name="precision-row-3">
            <a:extLst xmlns:a="http://schemas.openxmlformats.org/drawingml/2006/main">
              <a:ext uri="{FF2B5EF4-FFF2-40B4-BE49-F238E27FC236}">
                <a16:creationId xmlns:a16="http://schemas.microsoft.com/office/drawing/2014/main" id="{71BCB154-D903-4C6A-A720-155FB7BE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9591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6" name="precision-row-accent-3">
            <a:extLst xmlns:a="http://schemas.openxmlformats.org/drawingml/2006/main">
              <a:ext uri="{FF2B5EF4-FFF2-40B4-BE49-F238E27FC236}">
                <a16:creationId xmlns:a16="http://schemas.microsoft.com/office/drawing/2014/main" id="{25C1AB2F-01C1-4E93-BD36-FC27131F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27" name="precision-mode-3">
            <a:extLst xmlns:a="http://schemas.openxmlformats.org/drawingml/2006/main">
              <a:ext uri="{FF2B5EF4-FFF2-40B4-BE49-F238E27FC236}">
                <a16:creationId xmlns:a16="http://schemas.microsoft.com/office/drawing/2014/main" id="{E3FF0F40-C390-4163-A0A0-638D9A07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W8A8 / INT4</a:t>
            </a:r>
          </a:p>
        </p:txBody>
      </p:sp>
      <p:sp>
        <p:nvSpPr>
          <p:cNvPr id="28" name="precision-use-3">
            <a:extLst xmlns:a="http://schemas.openxmlformats.org/drawingml/2006/main">
              <a:ext uri="{FF2B5EF4-FFF2-40B4-BE49-F238E27FC236}">
                <a16:creationId xmlns:a16="http://schemas.microsoft.com/office/drawing/2014/main" id="{6C706C3B-FB54-4FE9-98BC-AA7C1F0A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244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后续按模型收益进入路线图</a:t>
            </a:r>
          </a:p>
        </p:txBody>
      </p:sp>
      <p:sp>
        <p:nvSpPr>
          <p:cNvPr id="29" name="precision-limit-3">
            <a:extLst xmlns:a="http://schemas.openxmlformats.org/drawingml/2006/main">
              <a:ext uri="{FF2B5EF4-FFF2-40B4-BE49-F238E27FC236}">
                <a16:creationId xmlns:a16="http://schemas.microsoft.com/office/drawing/2014/main" id="{EE05AAD6-A4EC-4511-B689-E10C74D9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672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需要完整 Q/DQ/RQ、校准证据与 GPU 位运算基准；不作医学首发。</a:t>
            </a:r>
          </a:p>
        </p:txBody>
      </p:sp>
      <p:sp>
        <p:nvSpPr>
          <p:cNvPr id="30" name="precision-right">
            <a:extLst xmlns:a="http://schemas.openxmlformats.org/drawingml/2006/main">
              <a:ext uri="{FF2B5EF4-FFF2-40B4-BE49-F238E27FC236}">
                <a16:creationId xmlns:a16="http://schemas.microsoft.com/office/drawing/2014/main" id="{8007F8A4-C03C-489C-BCCD-1123E79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28850"/>
            <a:ext cx="1333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31" name="precision-right-title">
            <a:extLst xmlns:a="http://schemas.openxmlformats.org/drawingml/2006/main">
              <a:ext uri="{FF2B5EF4-FFF2-40B4-BE49-F238E27FC236}">
                <a16:creationId xmlns:a16="http://schemas.microsoft.com/office/drawing/2014/main" id="{DFE63D10-1D27-400D-AB07-59CA9859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4574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任务验收</a:t>
            </a:r>
          </a:p>
        </p:txBody>
      </p:sp>
      <p:sp>
        <p:nvSpPr>
          <p:cNvPr id="32" name="precision-right-body">
            <a:extLst xmlns:a="http://schemas.openxmlformats.org/drawingml/2006/main">
              <a:ext uri="{FF2B5EF4-FFF2-40B4-BE49-F238E27FC236}">
                <a16:creationId xmlns:a16="http://schemas.microsoft.com/office/drawing/2014/main" id="{189E1F65-401F-4482-A53C-687EA277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14650"/>
            <a:ext cx="1047750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医学</a:t>
            </a:r>
          </a:p>
          <a:p xmlns:a="http://schemas.openxmlformats.org/drawingml/2006/main">
            <a:pPr algn="ctr">
              <a:def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Dice</a:t>
            </a:r>
          </a:p>
          <a:p xmlns:a="http://schemas.openxmlformats.org/drawingml/2006/main">
            <a:pPr algn="ctr">
              <a:def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Hausdorff</a:t>
            </a:r>
          </a:p>
          <a:p xmlns:a="http://schemas.openxmlformats.org/drawingml/2006/main">
            <a:pPr algn="ctr">
              <a:def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label mismatch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游戏</a:t>
            </a:r>
          </a:p>
          <a:p xmlns:a="http://schemas.openxmlformats.org/drawingml/2006/main">
            <a:pPr algn="ctr">
              <a:def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P95 / P99</a:t>
            </a:r>
          </a:p>
          <a:p xmlns:a="http://schemas.openxmlformats.org/drawingml/2006/main">
            <a:pPr algn="ctr">
              <a:def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显存 / 掉帧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药学</a:t>
            </a:r>
          </a:p>
          <a:p xmlns:a="http://schemas.openxmlformats.org/drawingml/2006/main">
            <a:pPr algn="ctr">
              <a:def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候选有效率</a:t>
            </a:r>
          </a:p>
          <a:p xmlns:a="http://schemas.openxmlformats.org/drawingml/2006/main">
            <a:pPr algn="ctr">
              <a:def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排序相关性</a:t>
            </a:r>
          </a:p>
          <a:p xmlns:a="http://schemas.openxmlformats.org/drawingml/2006/main">
            <a:pPr algn="ctr">
              <a:def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化学合法率</a:t>
            </a:r>
          </a:p>
        </p:txBody>
      </p:sp>
      <p:cxnSp>
        <p:nvCxnSpPr>
          <p:cNvPr id="68" name="footer-rule-8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34" name="footer-8">
            <a:extLst xmlns:a="http://schemas.openxmlformats.org/drawingml/2006/main">
              <a:ext uri="{FF2B5EF4-FFF2-40B4-BE49-F238E27FC236}">
                <a16:creationId xmlns:a16="http://schemas.microsoft.com/office/drawing/2014/main" id="{E903E1DA-AB2B-4C8F-A934-E64A12AF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3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13867375-D791-4E01-A213-1518CE4F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4900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9">
            <a:extLst xmlns:a="http://schemas.openxmlformats.org/drawingml/2006/main">
              <a:ext uri="{FF2B5EF4-FFF2-40B4-BE49-F238E27FC236}">
                <a16:creationId xmlns:a16="http://schemas.microsoft.com/office/drawing/2014/main" id="{36602B1F-FE5C-434C-87FF-68CF0751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REFERENCE APPLICATION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31F2265-AE09-4197-A48A-9C35ECAF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AIImage 是引擎的 reference app 与回归试验场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F38D6F6-6335-42DA-87F7-D140B8F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cxnSp>
        <p:nvCxnSpPr>
          <p:cNvPr id="26" name="header-rule-9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38b858c4146e7"/>
          <a:srcRect xmlns:a="http://schemas.openxmlformats.org/drawingml/2006/main" l="13988" t="0" r="139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90700"/>
            <a:ext cx="3276600" cy="25527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sp>
        <p:nvSpPr>
          <p:cNvPr id="6" name="aiimage-image-label-fill">
            <a:extLst xmlns:a="http://schemas.openxmlformats.org/drawingml/2006/main">
              <a:ext uri="{FF2B5EF4-FFF2-40B4-BE49-F238E27FC236}">
                <a16:creationId xmlns:a16="http://schemas.microsoft.com/office/drawing/2014/main" id="{CE2BA456-B411-4944-BA99-200CA48D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276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aiimage-image-label-text">
            <a:extLst xmlns:a="http://schemas.openxmlformats.org/drawingml/2006/main">
              <a:ext uri="{FF2B5EF4-FFF2-40B4-BE49-F238E27FC236}">
                <a16:creationId xmlns:a16="http://schemas.microsoft.com/office/drawing/2014/main" id="{122BBB00-3B87-43A2-90AC-25C6EC65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仓内测试输入 / Matting reference</a:t>
            </a:r>
          </a:p>
        </p:txBody>
      </p:sp>
      <p:sp>
        <p:nvSpPr>
          <p:cNvPr id="8" name="aiimage-title">
            <a:extLst xmlns:a="http://schemas.openxmlformats.org/drawingml/2006/main">
              <a:ext uri="{FF2B5EF4-FFF2-40B4-BE49-F238E27FC236}">
                <a16:creationId xmlns:a16="http://schemas.microsoft.com/office/drawing/2014/main" id="{CC0C2CF0-25D1-4AAD-96B9-5C4FEB9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90700"/>
            <a:ext cx="690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把模型导入、视觉体验与数值回归放在同一个演示应用中</a:t>
            </a:r>
          </a:p>
        </p:txBody>
      </p:sp>
      <p:sp>
        <p:nvSpPr>
          <p:cNvPr id="9" name="aiimage-body">
            <a:extLst xmlns:a="http://schemas.openxmlformats.org/drawingml/2006/main">
              <a:ext uri="{FF2B5EF4-FFF2-40B4-BE49-F238E27FC236}">
                <a16:creationId xmlns:a16="http://schemas.microsoft.com/office/drawing/2014/main" id="{3E39A888-444E-4D91-810B-244B99A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24100"/>
            <a:ext cx="685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视觉模型闭环覆盖：CLIP、Matting、YOLO / NMS、分割、超分、CodeFormer、Stable Diffusion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它为 2D Conv / Gemm / attention、texture-first 后处理和模型 Manifest 提供最直接的验证场：mask、bbox、alpha、latent 在 GPU 内传递，只有用户导出或调试才 readback。</a:t>
            </a:r>
          </a:p>
        </p:txBody>
      </p:sp>
      <p:sp>
        <p:nvSpPr>
          <p:cNvPr id="10" name="aiimage-evidence-1-panel">
            <a:extLst xmlns:a="http://schemas.openxmlformats.org/drawingml/2006/main">
              <a:ext uri="{FF2B5EF4-FFF2-40B4-BE49-F238E27FC236}">
                <a16:creationId xmlns:a16="http://schemas.microsoft.com/office/drawing/2014/main" id="{50948150-4AD8-4A62-9C33-BEB1C0E0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3314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aiimage-evidence-1-accent">
            <a:extLst xmlns:a="http://schemas.openxmlformats.org/drawingml/2006/main">
              <a:ext uri="{FF2B5EF4-FFF2-40B4-BE49-F238E27FC236}">
                <a16:creationId xmlns:a16="http://schemas.microsoft.com/office/drawing/2014/main" id="{5CB43ECC-69CD-4E0A-BFBF-6470F618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2" name="aiimage-evidence-1-title">
            <a:extLst xmlns:a="http://schemas.openxmlformats.org/drawingml/2006/main">
              <a:ext uri="{FF2B5EF4-FFF2-40B4-BE49-F238E27FC236}">
                <a16:creationId xmlns:a16="http://schemas.microsoft.com/office/drawing/2014/main" id="{0B3BB95F-DA65-4870-9281-66C41308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576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现有复刻 / 对齐证据</a:t>
            </a:r>
          </a:p>
        </p:txBody>
      </p:sp>
      <p:sp>
        <p:nvSpPr>
          <p:cNvPr id="13" name="aiimage-evidence-1-body">
            <a:extLst xmlns:a="http://schemas.openxmlformats.org/drawingml/2006/main">
              <a:ext uri="{FF2B5EF4-FFF2-40B4-BE49-F238E27FC236}">
                <a16:creationId xmlns:a16="http://schemas.microsoft.com/office/drawing/2014/main" id="{6E9598A0-1929-4640-A47A-412A2A6E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29125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CLIP 结果已对齐官方基线；Matting 的稳定路径中，多数 Pack4 Conv 层对 float buffer reference 可到约 1e-6。</a:t>
            </a:r>
          </a:p>
        </p:txBody>
      </p:sp>
      <p:sp>
        <p:nvSpPr>
          <p:cNvPr id="14" name="aiimage-evidence-2-panel">
            <a:extLst xmlns:a="http://schemas.openxmlformats.org/drawingml/2006/main">
              <a:ext uri="{FF2B5EF4-FFF2-40B4-BE49-F238E27FC236}">
                <a16:creationId xmlns:a16="http://schemas.microsoft.com/office/drawing/2014/main" id="{40E258C2-FFE2-4E73-A1BC-F3F5D9A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386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aiimage-evidence-2-accent">
            <a:extLst xmlns:a="http://schemas.openxmlformats.org/drawingml/2006/main">
              <a:ext uri="{FF2B5EF4-FFF2-40B4-BE49-F238E27FC236}">
                <a16:creationId xmlns:a16="http://schemas.microsoft.com/office/drawing/2014/main" id="{9964E978-A3A8-4E28-898D-6D810466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6" name="aiimage-evidence-2-title">
            <a:extLst xmlns:a="http://schemas.openxmlformats.org/drawingml/2006/main">
              <a:ext uri="{FF2B5EF4-FFF2-40B4-BE49-F238E27FC236}">
                <a16:creationId xmlns:a16="http://schemas.microsoft.com/office/drawing/2014/main" id="{C2C8B2E0-FFF7-448C-A342-9EC9593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3467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严格模式重写“可用”的含义</a:t>
            </a:r>
          </a:p>
        </p:txBody>
      </p:sp>
      <p:sp>
        <p:nvSpPr>
          <p:cNvPr id="17" name="aiimage-evidence-2-body">
            <a:extLst xmlns:a="http://schemas.openxmlformats.org/drawingml/2006/main">
              <a:ext uri="{FF2B5EF4-FFF2-40B4-BE49-F238E27FC236}">
                <a16:creationId xmlns:a16="http://schemas.microsoft.com/office/drawing/2014/main" id="{A882D901-D101-4E63-B0FA-DC5ED42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29125"/>
            <a:ext cx="346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历史 runner 的 Buffer 分支不再被静默当作生产路径；ProductionTextureOnly 下，中间 Buffer materialization 统一拒绝。</a:t>
            </a:r>
          </a:p>
        </p:txBody>
      </p:sp>
      <p:sp>
        <p:nvSpPr>
          <p:cNvPr id="18" name="aiimage-bottom">
            <a:extLst xmlns:a="http://schemas.openxmlformats.org/drawingml/2006/main">
              <a:ext uri="{FF2B5EF4-FFF2-40B4-BE49-F238E27FC236}">
                <a16:creationId xmlns:a16="http://schemas.microsoft.com/office/drawing/2014/main" id="{1A659AEE-6961-4177-9A1D-54A705A1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19" name="aiimage-bottom-text">
            <a:extLst xmlns:a="http://schemas.openxmlformats.org/drawingml/2006/main">
              <a:ext uri="{FF2B5EF4-FFF2-40B4-BE49-F238E27FC236}">
                <a16:creationId xmlns:a16="http://schemas.microsoft.com/office/drawing/2014/main" id="{1F25C0D7-9AB3-41C4-928C-D615F03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673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AIImage 证明了需求广度；引擎负责把这些单点 runner 收敛为可复用、可验证的共同底座。</a:t>
            </a:r>
          </a:p>
        </p:txBody>
      </p:sp>
      <p:cxnSp>
        <p:nvCxnSpPr>
          <p:cNvPr id="42" name="footer-rule-9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9">
            <a:extLst xmlns:a="http://schemas.openxmlformats.org/drawingml/2006/main">
              <a:ext uri="{FF2B5EF4-FFF2-40B4-BE49-F238E27FC236}">
                <a16:creationId xmlns:a16="http://schemas.microsoft.com/office/drawing/2014/main" id="{DCCA6B73-C38E-4708-AA43-BEC5D96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2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DB9322B8-4F43-4599-9FBD-9411A6D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8543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0">
            <a:extLst xmlns:a="http://schemas.openxmlformats.org/drawingml/2006/main">
              <a:ext uri="{FF2B5EF4-FFF2-40B4-BE49-F238E27FC236}">
                <a16:creationId xmlns:a16="http://schemas.microsoft.com/office/drawing/2014/main" id="{1A494A1C-39C3-41EB-82B3-CFDEE2E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FIVE PRODUCT DIRECTIONS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45ECCCDD-719D-433C-9089-90357D7E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同一引擎接口，面向五种不同的消费方式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8482D08F-AB75-461F-B9E4-EE3C802E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cxnSp>
        <p:nvCxnSpPr>
          <p:cNvPr id="44" name="header-rule-10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domains-lede">
            <a:extLst xmlns:a="http://schemas.openxmlformats.org/drawingml/2006/main">
              <a:ext uri="{FF2B5EF4-FFF2-40B4-BE49-F238E27FC236}">
                <a16:creationId xmlns:a16="http://schemas.microsoft.com/office/drawing/2014/main" id="{41F49928-B92E-45A2-AC57-07905108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领域包拥有业务语义与结果契约；引擎核心只拥有模型、图、张量、内核、调度、量化、验证和可观测性。</a:t>
            </a:r>
          </a:p>
        </p:txBody>
      </p:sp>
      <p:sp>
        <p:nvSpPr>
          <p:cNvPr id="6" name="domain-panel-0">
            <a:extLst xmlns:a="http://schemas.openxmlformats.org/drawingml/2006/main">
              <a:ext uri="{FF2B5EF4-FFF2-40B4-BE49-F238E27FC236}">
                <a16:creationId xmlns:a16="http://schemas.microsoft.com/office/drawing/2014/main" id="{6A8F46C8-6438-4862-AEB8-5884BA86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095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7" name="domain-accent-0">
            <a:extLst xmlns:a="http://schemas.openxmlformats.org/drawingml/2006/main">
              <a:ext uri="{FF2B5EF4-FFF2-40B4-BE49-F238E27FC236}">
                <a16:creationId xmlns:a16="http://schemas.microsoft.com/office/drawing/2014/main" id="{9027BC36-0D78-4B18-9E71-68835293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domain-name-0">
            <a:extLst xmlns:a="http://schemas.openxmlformats.org/drawingml/2006/main">
              <a:ext uri="{FF2B5EF4-FFF2-40B4-BE49-F238E27FC236}">
                <a16:creationId xmlns:a16="http://schemas.microsoft.com/office/drawing/2014/main" id="{0C6AAA15-516E-469D-921B-5B971B3A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AIImage</a:t>
            </a:r>
          </a:p>
        </p:txBody>
      </p:sp>
      <p:sp>
        <p:nvSpPr>
          <p:cNvPr id="9" name="domain-title-0">
            <a:extLst xmlns:a="http://schemas.openxmlformats.org/drawingml/2006/main">
              <a:ext uri="{FF2B5EF4-FFF2-40B4-BE49-F238E27FC236}">
                <a16:creationId xmlns:a16="http://schemas.microsoft.com/office/drawing/2014/main" id="{FE879D31-017F-43E1-BE6E-675B92E8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影像处理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与引擎示范</a:t>
            </a:r>
          </a:p>
        </p:txBody>
      </p:sp>
      <p:cxnSp>
        <p:nvCxnSpPr>
          <p:cNvPr id="50" name="domain-rule-0"/>
          <p:cNvCxnSpPr/>
          <p:nvPr/>
        </p:nvCxnSpPr>
        <p:spPr>
          <a:xfrm xmlns:a="http://schemas.openxmlformats.org/drawingml/2006/main">
            <a:off x="628650" y="38671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11" name="domain-body-0">
            <a:extLst xmlns:a="http://schemas.openxmlformats.org/drawingml/2006/main">
              <a:ext uri="{FF2B5EF4-FFF2-40B4-BE49-F238E27FC236}">
                <a16:creationId xmlns:a16="http://schemas.microsoft.com/office/drawing/2014/main" id="{B12E233A-638F-4742-9F31-A3074F27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52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模型库、视觉回归、纹理优先后处理。</a:t>
            </a:r>
          </a:p>
        </p:txBody>
      </p:sp>
      <p:sp>
        <p:nvSpPr>
          <p:cNvPr id="12" name="domain-panel-1">
            <a:extLst xmlns:a="http://schemas.openxmlformats.org/drawingml/2006/main">
              <a:ext uri="{FF2B5EF4-FFF2-40B4-BE49-F238E27FC236}">
                <a16:creationId xmlns:a16="http://schemas.microsoft.com/office/drawing/2014/main" id="{430922AC-CA50-4ABA-BCE9-D0502167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09800"/>
            <a:ext cx="2095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3" name="domain-accent-1">
            <a:extLst xmlns:a="http://schemas.openxmlformats.org/drawingml/2006/main">
              <a:ext uri="{FF2B5EF4-FFF2-40B4-BE49-F238E27FC236}">
                <a16:creationId xmlns:a16="http://schemas.microsoft.com/office/drawing/2014/main" id="{39E0EEE8-ABF6-4669-8C31-720D1661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0980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14" name="domain-name-1">
            <a:extLst xmlns:a="http://schemas.openxmlformats.org/drawingml/2006/main">
              <a:ext uri="{FF2B5EF4-FFF2-40B4-BE49-F238E27FC236}">
                <a16:creationId xmlns:a16="http://schemas.microsoft.com/office/drawing/2014/main" id="{46D79A27-6F9D-4454-9038-5AD27F04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9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E9F9A"/>
                </a:solidFill>
                <a:latin typeface="Microsoft YaHei"/>
                <a:ea typeface="Microsoft YaHei"/>
                <a:cs typeface="Microsoft YaHei"/>
              </a:rPr>
              <a:t>教育</a:t>
            </a:r>
          </a:p>
        </p:txBody>
      </p:sp>
      <p:sp>
        <p:nvSpPr>
          <p:cNvPr id="15" name="domain-title-1">
            <a:extLst xmlns:a="http://schemas.openxmlformats.org/drawingml/2006/main">
              <a:ext uri="{FF2B5EF4-FFF2-40B4-BE49-F238E27FC236}">
                <a16:creationId xmlns:a16="http://schemas.microsoft.com/office/drawing/2014/main" id="{70BF7E5A-7079-45FA-B27A-C69673A8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自然语言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到教学 IR</a:t>
            </a:r>
          </a:p>
        </p:txBody>
      </p:sp>
      <p:cxnSp>
        <p:nvCxnSpPr>
          <p:cNvPr id="56" name="domain-rule-1"/>
          <p:cNvCxnSpPr/>
          <p:nvPr/>
        </p:nvCxnSpPr>
        <p:spPr>
          <a:xfrm xmlns:a="http://schemas.openxmlformats.org/drawingml/2006/main">
            <a:off x="2924175" y="38671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17" name="domain-body-1">
            <a:extLst xmlns:a="http://schemas.openxmlformats.org/drawingml/2006/main">
              <a:ext uri="{FF2B5EF4-FFF2-40B4-BE49-F238E27FC236}">
                <a16:creationId xmlns:a16="http://schemas.microsoft.com/office/drawing/2014/main" id="{DC9058D2-932B-41CB-AA2E-58397E58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052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候选 JSON -&gt; ir_v0.1 schema -&gt; 预览 -&gt; 用户确认。</a:t>
            </a:r>
          </a:p>
        </p:txBody>
      </p:sp>
      <p:sp>
        <p:nvSpPr>
          <p:cNvPr id="18" name="domain-panel-2">
            <a:extLst xmlns:a="http://schemas.openxmlformats.org/drawingml/2006/main">
              <a:ext uri="{FF2B5EF4-FFF2-40B4-BE49-F238E27FC236}">
                <a16:creationId xmlns:a16="http://schemas.microsoft.com/office/drawing/2014/main" id="{2285118A-78A8-4E90-BD4F-506FB9D9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2095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9" name="domain-accent-2">
            <a:extLst xmlns:a="http://schemas.openxmlformats.org/drawingml/2006/main">
              <a:ext uri="{FF2B5EF4-FFF2-40B4-BE49-F238E27FC236}">
                <a16:creationId xmlns:a16="http://schemas.microsoft.com/office/drawing/2014/main" id="{0EA2377A-70C0-4463-89B3-67335DA7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0" name="domain-name-2">
            <a:extLst xmlns:a="http://schemas.openxmlformats.org/drawingml/2006/main">
              <a:ext uri="{FF2B5EF4-FFF2-40B4-BE49-F238E27FC236}">
                <a16:creationId xmlns:a16="http://schemas.microsoft.com/office/drawing/2014/main" id="{2F185DBD-356C-4D9C-8D47-6EE8CA8C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8A5B"/>
                </a:solidFill>
                <a:latin typeface="Microsoft YaHe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21" name="domain-title-2">
            <a:extLst xmlns:a="http://schemas.openxmlformats.org/drawingml/2006/main">
              <a:ext uri="{FF2B5EF4-FFF2-40B4-BE49-F238E27FC236}">
                <a16:creationId xmlns:a16="http://schemas.microsoft.com/office/drawing/2014/main" id="{1E6C8A9C-5AD8-439A-8A6B-C3760543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AR 识别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姿态与手势</a:t>
            </a:r>
          </a:p>
        </p:txBody>
      </p:sp>
      <p:cxnSp>
        <p:nvCxnSpPr>
          <p:cNvPr id="62" name="domain-rule-2"/>
          <p:cNvCxnSpPr/>
          <p:nvPr/>
        </p:nvCxnSpPr>
        <p:spPr>
          <a:xfrm xmlns:a="http://schemas.openxmlformats.org/drawingml/2006/main">
            <a:off x="5219700" y="38671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3" name="domain-body-2">
            <a:extLst xmlns:a="http://schemas.openxmlformats.org/drawingml/2006/main">
              <a:ext uri="{FF2B5EF4-FFF2-40B4-BE49-F238E27FC236}">
                <a16:creationId xmlns:a16="http://schemas.microsoft.com/office/drawing/2014/main" id="{A9916A6D-8CE3-446E-9D03-B4D6AA0B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052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Camera RT 输入；GPU 后处理；异步 fence 返回，不管理帧调度。</a:t>
            </a:r>
          </a:p>
        </p:txBody>
      </p:sp>
      <p:sp>
        <p:nvSpPr>
          <p:cNvPr id="24" name="domain-panel-3">
            <a:extLst xmlns:a="http://schemas.openxmlformats.org/drawingml/2006/main">
              <a:ext uri="{FF2B5EF4-FFF2-40B4-BE49-F238E27FC236}">
                <a16:creationId xmlns:a16="http://schemas.microsoft.com/office/drawing/2014/main" id="{816AFD62-0D3C-4021-8E00-31AA1FE0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09800"/>
            <a:ext cx="2095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5" name="domain-accent-3">
            <a:extLst xmlns:a="http://schemas.openxmlformats.org/drawingml/2006/main">
              <a:ext uri="{FF2B5EF4-FFF2-40B4-BE49-F238E27FC236}">
                <a16:creationId xmlns:a16="http://schemas.microsoft.com/office/drawing/2014/main" id="{3B44BF8A-7BB5-4319-8DA5-CB52D4DF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0980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26" name="domain-name-3">
            <a:extLst xmlns:a="http://schemas.openxmlformats.org/drawingml/2006/main">
              <a:ext uri="{FF2B5EF4-FFF2-40B4-BE49-F238E27FC236}">
                <a16:creationId xmlns:a16="http://schemas.microsoft.com/office/drawing/2014/main" id="{403BA1AD-ED48-4A9B-B774-B1520D3A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rPr>
              <a:t>医学</a:t>
            </a:r>
          </a:p>
        </p:txBody>
      </p:sp>
      <p:sp>
        <p:nvSpPr>
          <p:cNvPr id="27" name="domain-title-3">
            <a:extLst xmlns:a="http://schemas.openxmlformats.org/drawingml/2006/main">
              <a:ext uri="{FF2B5EF4-FFF2-40B4-BE49-F238E27FC236}">
                <a16:creationId xmlns:a16="http://schemas.microsoft.com/office/drawing/2014/main" id="{B8526B7B-02A4-4650-9082-9B6D4626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MONAI / VISTA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手术导航</a:t>
            </a:r>
          </a:p>
        </p:txBody>
      </p:sp>
      <p:cxnSp>
        <p:nvCxnSpPr>
          <p:cNvPr id="68" name="domain-rule-3"/>
          <p:cNvCxnSpPr/>
          <p:nvPr/>
        </p:nvCxnSpPr>
        <p:spPr>
          <a:xfrm xmlns:a="http://schemas.openxmlformats.org/drawingml/2006/main">
            <a:off x="7515225" y="38671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9" name="domain-body-3">
            <a:extLst xmlns:a="http://schemas.openxmlformats.org/drawingml/2006/main">
              <a:ext uri="{FF2B5EF4-FFF2-40B4-BE49-F238E27FC236}">
                <a16:creationId xmlns:a16="http://schemas.microsoft.com/office/drawing/2014/main" id="{587DBB53-4C00-471E-AF74-7628E12E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052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3D CDHW Pack4、sliding window、多标签 label volume、审计记录。</a:t>
            </a:r>
          </a:p>
        </p:txBody>
      </p:sp>
      <p:sp>
        <p:nvSpPr>
          <p:cNvPr id="30" name="domain-panel-4">
            <a:extLst xmlns:a="http://schemas.openxmlformats.org/drawingml/2006/main">
              <a:ext uri="{FF2B5EF4-FFF2-40B4-BE49-F238E27FC236}">
                <a16:creationId xmlns:a16="http://schemas.microsoft.com/office/drawing/2014/main" id="{01EC603B-4AA5-452F-8AD6-7EDF5C9F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2095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1" name="domain-accent-4">
            <a:extLst xmlns:a="http://schemas.openxmlformats.org/drawingml/2006/main">
              <a:ext uri="{FF2B5EF4-FFF2-40B4-BE49-F238E27FC236}">
                <a16:creationId xmlns:a16="http://schemas.microsoft.com/office/drawing/2014/main" id="{231D7707-2B66-4C3D-9252-FC174DDC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32" name="domain-name-4">
            <a:extLst xmlns:a="http://schemas.openxmlformats.org/drawingml/2006/main">
              <a:ext uri="{FF2B5EF4-FFF2-40B4-BE49-F238E27FC236}">
                <a16:creationId xmlns:a16="http://schemas.microsoft.com/office/drawing/2014/main" id="{D4B2046D-A44D-499D-A81C-850B901E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59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59A11"/>
                </a:solidFill>
                <a:latin typeface="Microsoft YaHei"/>
                <a:ea typeface="Microsoft YaHei"/>
                <a:cs typeface="Microsoft YaHei"/>
              </a:rPr>
              <a:t>药学</a:t>
            </a:r>
          </a:p>
        </p:txBody>
      </p:sp>
      <p:sp>
        <p:nvSpPr>
          <p:cNvPr id="33" name="domain-title-4">
            <a:extLst xmlns:a="http://schemas.openxmlformats.org/drawingml/2006/main">
              <a:ext uri="{FF2B5EF4-FFF2-40B4-BE49-F238E27FC236}">
                <a16:creationId xmlns:a16="http://schemas.microsoft.com/office/drawing/2014/main" id="{58D99FC0-8211-4CBF-9F44-67F447E0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Docking MR3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分子推理</a:t>
            </a:r>
          </a:p>
        </p:txBody>
      </p:sp>
      <p:cxnSp>
        <p:nvCxnSpPr>
          <p:cNvPr id="74" name="domain-rule-4"/>
          <p:cNvCxnSpPr/>
          <p:nvPr/>
        </p:nvCxnSpPr>
        <p:spPr>
          <a:xfrm xmlns:a="http://schemas.openxmlformats.org/drawingml/2006/main">
            <a:off x="9810750" y="38671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35" name="domain-body-4">
            <a:extLst xmlns:a="http://schemas.openxmlformats.org/drawingml/2006/main">
              <a:ext uri="{FF2B5EF4-FFF2-40B4-BE49-F238E27FC236}">
                <a16:creationId xmlns:a16="http://schemas.microsoft.com/office/drawing/2014/main" id="{7E7FC8B5-68EF-4C52-85EA-44EE19AF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052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原子 / 键 / 体素协议；中间态留在 GPU，只回读最终候选。</a:t>
            </a:r>
          </a:p>
        </p:txBody>
      </p:sp>
      <p:sp>
        <p:nvSpPr>
          <p:cNvPr id="36" name="domains-bottom">
            <a:extLst xmlns:a="http://schemas.openxmlformats.org/drawingml/2006/main">
              <a:ext uri="{FF2B5EF4-FFF2-40B4-BE49-F238E27FC236}">
                <a16:creationId xmlns:a16="http://schemas.microsoft.com/office/drawing/2014/main" id="{54F92318-AD32-437D-BF22-17DCDD60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29275"/>
            <a:ext cx="11277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37" name="domains-bottom-text">
            <a:extLst xmlns:a="http://schemas.openxmlformats.org/drawingml/2006/main">
              <a:ext uri="{FF2B5EF4-FFF2-40B4-BE49-F238E27FC236}">
                <a16:creationId xmlns:a16="http://schemas.microsoft.com/office/drawing/2014/main" id="{0AB9B4DC-B290-4DCB-9872-725C5BC0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24525"/>
            <a:ext cx="1089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领域差异不再复制一套底层 runtime；它们通过 package / asmdef 在同一 IR 与 Pack4 执行面之上扩展。</a:t>
            </a:r>
          </a:p>
        </p:txBody>
      </p:sp>
      <p:cxnSp>
        <p:nvCxnSpPr>
          <p:cNvPr id="78" name="footer-rule-10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39" name="footer-10">
            <a:extLst xmlns:a="http://schemas.openxmlformats.org/drawingml/2006/main">
              <a:ext uri="{FF2B5EF4-FFF2-40B4-BE49-F238E27FC236}">
                <a16:creationId xmlns:a16="http://schemas.microsoft.com/office/drawing/2014/main" id="{55F016A5-7E47-4E3A-B31A-2AE4067E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4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95C4046B-751F-4CE9-A5D3-03810308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73489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1">
            <a:extLst xmlns:a="http://schemas.openxmlformats.org/drawingml/2006/main">
              <a:ext uri="{FF2B5EF4-FFF2-40B4-BE49-F238E27FC236}">
                <a16:creationId xmlns:a16="http://schemas.microsoft.com/office/drawing/2014/main" id="{C94414AF-20B8-4EA7-BB0A-83C29D67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MEDICAL EVIDENCE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8A9335A8-6D92-4EEC-8712-E7EC9EC3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能安全跑完的 3D 链路，才是严格执行路径的真实基线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CBABF7E7-5A67-40D9-BC89-D9988DD9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cxnSp>
        <p:nvCxnSpPr>
          <p:cNvPr id="29" name="header-rule-11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medical-stat">
            <a:extLst xmlns:a="http://schemas.openxmlformats.org/drawingml/2006/main">
              <a:ext uri="{FF2B5EF4-FFF2-40B4-BE49-F238E27FC236}">
                <a16:creationId xmlns:a16="http://schemas.microsoft.com/office/drawing/2014/main" id="{3AA5DDD8-7450-48A6-A7F0-8B062F83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8577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6" name="medical-stat-number">
            <a:extLst xmlns:a="http://schemas.openxmlformats.org/drawingml/2006/main">
              <a:ext uri="{FF2B5EF4-FFF2-40B4-BE49-F238E27FC236}">
                <a16:creationId xmlns:a16="http://schemas.microsoft.com/office/drawing/2014/main" id="{DE47FCE9-1D0E-440F-86F2-E0AD179F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333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0.998750372</a:t>
            </a:r>
          </a:p>
        </p:txBody>
      </p:sp>
      <p:sp>
        <p:nvSpPr>
          <p:cNvPr id="7" name="medical-stat-label">
            <a:extLst xmlns:a="http://schemas.openxmlformats.org/drawingml/2006/main">
              <a:ext uri="{FF2B5EF4-FFF2-40B4-BE49-F238E27FC236}">
                <a16:creationId xmlns:a16="http://schemas.microsoft.com/office/drawing/2014/main" id="{15F27AB9-ACFC-473E-9F67-907CF4C1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7C7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C7E7"/>
                </a:solidFill>
                <a:latin typeface="Microsoft YaHei"/>
                <a:ea typeface="Microsoft YaHei"/>
                <a:cs typeface="Microsoft YaHei"/>
              </a:rPr>
              <a:t>wholeBrain run46</a:t>
            </a:r>
          </a:p>
          <a:p xmlns:a="http://schemas.openxmlformats.org/drawingml/2006/main">
            <a:pPr algn="ctr">
              <a:defRPr sz="1650" b="0">
                <a:solidFill>
                  <a:srgbClr val="A7C7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C7E7"/>
                </a:solidFill>
                <a:latin typeface="Microsoft YaHei"/>
                <a:ea typeface="Microsoft YaHei"/>
                <a:cs typeface="Microsoft YaHei"/>
              </a:rPr>
              <a:t>labelmap equal ratio</a:t>
            </a:r>
          </a:p>
        </p:txBody>
      </p:sp>
      <p:cxnSp>
        <p:nvCxnSpPr>
          <p:cNvPr id="33" name="medical-stat-rule"/>
          <p:cNvCxnSpPr/>
          <p:nvPr/>
        </p:nvCxnSpPr>
        <p:spPr>
          <a:xfrm xmlns:a="http://schemas.openxmlformats.org/drawingml/2006/main">
            <a:off x="1104900" y="4095750"/>
            <a:ext cx="35623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383A3"/>
            </a:solidFill>
            <a:prstDash val="solid"/>
          </a:ln>
        </p:spPr>
      </p:cxnSp>
      <p:sp>
        <p:nvSpPr>
          <p:cNvPr id="9" name="medical-stat-note">
            <a:extLst xmlns:a="http://schemas.openxmlformats.org/drawingml/2006/main">
              <a:ext uri="{FF2B5EF4-FFF2-40B4-BE49-F238E27FC236}">
                <a16:creationId xmlns:a16="http://schemas.microsoft.com/office/drawing/2014/main" id="{D3D10B5F-ED06-4A15-95CE-F8A6AA7C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45 patch sliding-window 全量跑通；</a:t>
            </a:r>
          </a:p>
          <a:p xmlns:a="http://schemas.openxmlformats.org/drawingml/2006/main">
            <a:pPr algn="ctr"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低内存守卫验证可在危险前主动 abort。</a:t>
            </a:r>
          </a:p>
        </p:txBody>
      </p:sp>
      <p:sp>
        <p:nvSpPr>
          <p:cNvPr id="10" name="medical-1-panel">
            <a:extLst xmlns:a="http://schemas.openxmlformats.org/drawingml/2006/main">
              <a:ext uri="{FF2B5EF4-FFF2-40B4-BE49-F238E27FC236}">
                <a16:creationId xmlns:a16="http://schemas.microsoft.com/office/drawing/2014/main" id="{F5542BEC-66FD-4A67-A590-623ECF54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09750"/>
            <a:ext cx="59340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medical-1-accent">
            <a:extLst xmlns:a="http://schemas.openxmlformats.org/drawingml/2006/main">
              <a:ext uri="{FF2B5EF4-FFF2-40B4-BE49-F238E27FC236}">
                <a16:creationId xmlns:a16="http://schemas.microsoft.com/office/drawing/2014/main" id="{F032165C-17B3-469B-B426-9444284D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09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2" name="medical-1-title">
            <a:extLst xmlns:a="http://schemas.openxmlformats.org/drawingml/2006/main">
              <a:ext uri="{FF2B5EF4-FFF2-40B4-BE49-F238E27FC236}">
                <a16:creationId xmlns:a16="http://schemas.microsoft.com/office/drawing/2014/main" id="{1DC808BE-E070-4834-8349-9CCCD01B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81200"/>
            <a:ext cx="553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wholeBrain 与 VISTA 已形成可复用验证资产</a:t>
            </a:r>
          </a:p>
        </p:txBody>
      </p:sp>
      <p:sp>
        <p:nvSpPr>
          <p:cNvPr id="13" name="medical-1-body">
            <a:extLst xmlns:a="http://schemas.openxmlformats.org/drawingml/2006/main">
              <a:ext uri="{FF2B5EF4-FFF2-40B4-BE49-F238E27FC236}">
                <a16:creationId xmlns:a16="http://schemas.microsoft.com/office/drawing/2014/main" id="{F348EAFD-22F1-423F-A0DB-971A8198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526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wholeBrain 的 pack4_rt / command_buffer_rt 已对齐脑室 Python 基线；VISTA3D skull 的 Unity pack4_rt 也已对齐。</a:t>
            </a:r>
          </a:p>
        </p:txBody>
      </p:sp>
      <p:sp>
        <p:nvSpPr>
          <p:cNvPr id="14" name="medical-2-panel">
            <a:extLst xmlns:a="http://schemas.openxmlformats.org/drawingml/2006/main">
              <a:ext uri="{FF2B5EF4-FFF2-40B4-BE49-F238E27FC236}">
                <a16:creationId xmlns:a16="http://schemas.microsoft.com/office/drawing/2014/main" id="{98833C4A-9BFA-45C3-8B03-E011A26A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67050"/>
            <a:ext cx="59340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medical-2-accent">
            <a:extLst xmlns:a="http://schemas.openxmlformats.org/drawingml/2006/main">
              <a:ext uri="{FF2B5EF4-FFF2-40B4-BE49-F238E27FC236}">
                <a16:creationId xmlns:a16="http://schemas.microsoft.com/office/drawing/2014/main" id="{5ECBC955-32F3-4774-8DDD-7935F0E9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670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6" name="medical-2-title">
            <a:extLst xmlns:a="http://schemas.openxmlformats.org/drawingml/2006/main">
              <a:ext uri="{FF2B5EF4-FFF2-40B4-BE49-F238E27FC236}">
                <a16:creationId xmlns:a16="http://schemas.microsoft.com/office/drawing/2014/main" id="{3ADD4D19-6D8A-4F31-BCDE-0252D1CF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38500"/>
            <a:ext cx="553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安全不是可选配置</a:t>
            </a:r>
          </a:p>
        </p:txBody>
      </p:sp>
      <p:sp>
        <p:nvSpPr>
          <p:cNvPr id="17" name="medical-2-body">
            <a:extLst xmlns:a="http://schemas.openxmlformats.org/drawingml/2006/main">
              <a:ext uri="{FF2B5EF4-FFF2-40B4-BE49-F238E27FC236}">
                <a16:creationId xmlns:a16="http://schemas.microsoft.com/office/drawing/2014/main" id="{85D6E5F3-C100-4B3C-944E-6285A76F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6099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先 probe / 小 patch，再做全量；保留清理、yield、资源快照、8 GB private-memory abort 与 10 分钟 batch timeout。</a:t>
            </a:r>
          </a:p>
        </p:txBody>
      </p:sp>
      <p:sp>
        <p:nvSpPr>
          <p:cNvPr id="18" name="medical-3-panel">
            <a:extLst xmlns:a="http://schemas.openxmlformats.org/drawingml/2006/main">
              <a:ext uri="{FF2B5EF4-FFF2-40B4-BE49-F238E27FC236}">
                <a16:creationId xmlns:a16="http://schemas.microsoft.com/office/drawing/2014/main" id="{B8A0EAB3-24ED-48C7-8BCA-ADD198F7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324350"/>
            <a:ext cx="59340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9" name="medical-3-accent">
            <a:extLst xmlns:a="http://schemas.openxmlformats.org/drawingml/2006/main">
              <a:ext uri="{FF2B5EF4-FFF2-40B4-BE49-F238E27FC236}">
                <a16:creationId xmlns:a16="http://schemas.microsoft.com/office/drawing/2014/main" id="{2DAF4E0D-98BE-441D-ADCC-1C231B73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3243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0" name="medical-3-title">
            <a:extLst xmlns:a="http://schemas.openxmlformats.org/drawingml/2006/main">
              <a:ext uri="{FF2B5EF4-FFF2-40B4-BE49-F238E27FC236}">
                <a16:creationId xmlns:a16="http://schemas.microsoft.com/office/drawing/2014/main" id="{8432C02D-B46E-409F-BF8C-715FAEB9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495800"/>
            <a:ext cx="553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产品化验收不止张量误差</a:t>
            </a:r>
          </a:p>
        </p:txBody>
      </p:sp>
      <p:sp>
        <p:nvSpPr>
          <p:cNvPr id="21" name="medical-3-body">
            <a:extLst xmlns:a="http://schemas.openxmlformats.org/drawingml/2006/main">
              <a:ext uri="{FF2B5EF4-FFF2-40B4-BE49-F238E27FC236}">
                <a16:creationId xmlns:a16="http://schemas.microsoft.com/office/drawing/2014/main" id="{286245CF-BB79-4BE9-A0A4-452F1DD6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8672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Dice、Hausdorff / 表面距离、labelmap mismatch 与关键类别漏检共同构成医学回归；ExternalPython 与 InternalTextureEngine 使用同一 provider contract。</a:t>
            </a:r>
          </a:p>
        </p:txBody>
      </p:sp>
      <p:sp>
        <p:nvSpPr>
          <p:cNvPr id="22" name="medical-footnote">
            <a:extLst xmlns:a="http://schemas.openxmlformats.org/drawingml/2006/main">
              <a:ext uri="{FF2B5EF4-FFF2-40B4-BE49-F238E27FC236}">
                <a16:creationId xmlns:a16="http://schemas.microsoft.com/office/drawing/2014/main" id="{AF1E16FD-D9D2-4E8D-A76F-99AF8D7D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2927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医学包的目标是把 3D label volume / confidence / boundary-distance texture 直接交给体渲染、切割、配准和导航。</a:t>
            </a:r>
          </a:p>
        </p:txBody>
      </p:sp>
      <p:cxnSp>
        <p:nvCxnSpPr>
          <p:cNvPr id="48" name="footer-rule-11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4" name="footer-11">
            <a:extLst xmlns:a="http://schemas.openxmlformats.org/drawingml/2006/main">
              <a:ext uri="{FF2B5EF4-FFF2-40B4-BE49-F238E27FC236}">
                <a16:creationId xmlns:a16="http://schemas.microsoft.com/office/drawing/2014/main" id="{2CAC8277-C0E1-4DAA-BABB-DBC72854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MONAI + VISTA / SAFETY FIRST</a:t>
            </a:r>
          </a:p>
        </p:txBody>
      </p:sp>
      <p:sp>
        <p:nvSpPr>
          <p:cNvPr id="2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B1934FE8-E590-4B5C-8C97-5DFC52DD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8001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2">
            <a:extLst xmlns:a="http://schemas.openxmlformats.org/drawingml/2006/main">
              <a:ext uri="{FF2B5EF4-FFF2-40B4-BE49-F238E27FC236}">
                <a16:creationId xmlns:a16="http://schemas.microsoft.com/office/drawing/2014/main" id="{79C7D920-8F75-49D5-9D12-49737C33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9F9007DE-B58B-4567-BB72-BAE1823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推进顺序先收敛主路径，再扩大模型与领域范围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CBC6F32C-E8F2-41D4-9AA9-EE820384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cxnSp>
        <p:nvCxnSpPr>
          <p:cNvPr id="39" name="header-rule-12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roadmap-lede">
            <a:extLst xmlns:a="http://schemas.openxmlformats.org/drawingml/2006/main">
              <a:ext uri="{FF2B5EF4-FFF2-40B4-BE49-F238E27FC236}">
                <a16:creationId xmlns:a16="http://schemas.microsoft.com/office/drawing/2014/main" id="{7D5D0021-29CC-4E94-9C8F-16C673AB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路线图的共同约束：没有 silent Buffer fallback；所有新增能力必须带 capability 状态、golden、性能或任务指标。</a:t>
            </a:r>
          </a:p>
        </p:txBody>
      </p:sp>
      <p:cxnSp>
        <p:nvCxnSpPr>
          <p:cNvPr id="41" name="roadmap-line"/>
          <p:cNvCxnSpPr/>
          <p:nvPr/>
        </p:nvCxnSpPr>
        <p:spPr>
          <a:xfrm xmlns:a="http://schemas.openxmlformats.org/drawingml/2006/main">
            <a:off x="819150" y="3162300"/>
            <a:ext cx="105727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sp>
        <p:nvSpPr>
          <p:cNvPr id="7" name="roadmap-dot-0">
            <a:extLst xmlns:a="http://schemas.openxmlformats.org/drawingml/2006/main">
              <a:ext uri="{FF2B5EF4-FFF2-40B4-BE49-F238E27FC236}">
                <a16:creationId xmlns:a16="http://schemas.microsoft.com/office/drawing/2014/main" id="{A1786F98-D5E3-4E48-B9E2-6083C5BA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8" name="roadmap-num-0">
            <a:extLst xmlns:a="http://schemas.openxmlformats.org/drawingml/2006/main">
              <a:ext uri="{FF2B5EF4-FFF2-40B4-BE49-F238E27FC236}">
                <a16:creationId xmlns:a16="http://schemas.microsoft.com/office/drawing/2014/main" id="{9233565D-FA7A-4AEF-AA41-FC0B9621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rPr>
              <a:t>PHASE 0</a:t>
            </a:r>
          </a:p>
        </p:txBody>
      </p:sp>
      <p:sp>
        <p:nvSpPr>
          <p:cNvPr id="9" name="roadmap-title-0">
            <a:extLst xmlns:a="http://schemas.openxmlformats.org/drawingml/2006/main">
              <a:ext uri="{FF2B5EF4-FFF2-40B4-BE49-F238E27FC236}">
                <a16:creationId xmlns:a16="http://schemas.microsoft.com/office/drawing/2014/main" id="{69DEB7E9-6A2E-45B8-8963-6537FD44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86150"/>
            <a:ext cx="147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事实基线</a:t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与严格门禁</a:t>
            </a:r>
          </a:p>
        </p:txBody>
      </p:sp>
      <p:sp>
        <p:nvSpPr>
          <p:cNvPr id="10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E206E053-C953-461A-B38E-8D27592E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4815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capability JSON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Buffer 审计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golden</a:t>
            </a:r>
          </a:p>
        </p:txBody>
      </p:sp>
      <p:sp>
        <p:nvSpPr>
          <p:cNvPr id="11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5E982523-AD8B-4C21-8706-35D5D10A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12" name="roadmap-num-1">
            <a:extLst xmlns:a="http://schemas.openxmlformats.org/drawingml/2006/main">
              <a:ext uri="{FF2B5EF4-FFF2-40B4-BE49-F238E27FC236}">
                <a16:creationId xmlns:a16="http://schemas.microsoft.com/office/drawing/2014/main" id="{D16CD4EA-5CBD-4F48-83D7-4AEDE5DE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9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59A11"/>
                </a:solidFill>
                <a:latin typeface="Microsoft YaHei"/>
                <a:ea typeface="Microsoft YaHei"/>
                <a:cs typeface="Microsoft YaHei"/>
              </a:rPr>
              <a:t>PHASE 1</a:t>
            </a:r>
          </a:p>
        </p:txBody>
      </p:sp>
      <p:sp>
        <p:nvSpPr>
          <p:cNvPr id="13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26480045-E875-47E0-9082-A24E7B44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86150"/>
            <a:ext cx="147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P0 内核</a:t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与 RT 生命周期</a:t>
            </a:r>
          </a:p>
        </p:txBody>
      </p:sp>
      <p:sp>
        <p:nvSpPr>
          <p:cNvPr id="14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B233428F-30A1-405D-9E85-EBBF4374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4815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Conv / Gemm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Norm / Softmax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Pack4 Cmd</a:t>
            </a:r>
          </a:p>
        </p:txBody>
      </p:sp>
      <p:sp>
        <p:nvSpPr>
          <p:cNvPr id="15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6C0395E7-0655-4D45-A0E7-B6A85B63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6" name="roadmap-num-2">
            <a:extLst xmlns:a="http://schemas.openxmlformats.org/drawingml/2006/main">
              <a:ext uri="{FF2B5EF4-FFF2-40B4-BE49-F238E27FC236}">
                <a16:creationId xmlns:a16="http://schemas.microsoft.com/office/drawing/2014/main" id="{0D9502F0-0313-43A4-94A8-44EFF149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PHASE 2</a:t>
            </a:r>
          </a:p>
        </p:txBody>
      </p:sp>
      <p:sp>
        <p:nvSpPr>
          <p:cNvPr id="17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9FA6ED74-456A-463D-B8C8-704E8532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86150"/>
            <a:ext cx="147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导入</a:t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与图编排</a:t>
            </a:r>
          </a:p>
        </p:txBody>
      </p:sp>
      <p:sp>
        <p:nvSpPr>
          <p:cNvPr id="18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7DD28EBF-9A78-49EB-9CCD-D55AE537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24815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canonical IR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shape value-flow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plan cache</a:t>
            </a:r>
          </a:p>
        </p:txBody>
      </p:sp>
      <p:sp>
        <p:nvSpPr>
          <p:cNvPr id="19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F357C16D-F284-49B9-BA86-5D6DBCB7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20" name="roadmap-num-3">
            <a:extLst xmlns:a="http://schemas.openxmlformats.org/drawingml/2006/main">
              <a:ext uri="{FF2B5EF4-FFF2-40B4-BE49-F238E27FC236}">
                <a16:creationId xmlns:a16="http://schemas.microsoft.com/office/drawing/2014/main" id="{ED266F97-F10B-4819-BEAC-0D9568E7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E9F9A"/>
                </a:solidFill>
                <a:latin typeface="Microsoft YaHei"/>
                <a:ea typeface="Microsoft YaHei"/>
                <a:cs typeface="Microsoft YaHei"/>
              </a:rPr>
              <a:t>PHASE 3</a:t>
            </a:r>
          </a:p>
        </p:txBody>
      </p:sp>
      <p:sp>
        <p:nvSpPr>
          <p:cNvPr id="21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5AA47B52-B240-4BC6-B6EC-A7C31530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147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视觉、AR</a:t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与教育</a:t>
            </a:r>
          </a:p>
        </p:txBody>
      </p:sp>
      <p:sp>
        <p:nvSpPr>
          <p:cNvPr id="22" name="roadmap-body-3">
            <a:extLst xmlns:a="http://schemas.openxmlformats.org/drawingml/2006/main">
              <a:ext uri="{FF2B5EF4-FFF2-40B4-BE49-F238E27FC236}">
                <a16:creationId xmlns:a16="http://schemas.microsoft.com/office/drawing/2014/main" id="{E3A0C953-D328-4273-8D79-7AF6AB68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NMS / GridSample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三个 AR sample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IR schema</a:t>
            </a:r>
          </a:p>
        </p:txBody>
      </p:sp>
      <p:sp>
        <p:nvSpPr>
          <p:cNvPr id="23" name="roadmap-dot-4">
            <a:extLst xmlns:a="http://schemas.openxmlformats.org/drawingml/2006/main">
              <a:ext uri="{FF2B5EF4-FFF2-40B4-BE49-F238E27FC236}">
                <a16:creationId xmlns:a16="http://schemas.microsoft.com/office/drawing/2014/main" id="{2C2C8234-2504-4FFA-A908-414D6ADD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4" name="roadmap-num-4">
            <a:extLst xmlns:a="http://schemas.openxmlformats.org/drawingml/2006/main">
              <a:ext uri="{FF2B5EF4-FFF2-40B4-BE49-F238E27FC236}">
                <a16:creationId xmlns:a16="http://schemas.microsoft.com/office/drawing/2014/main" id="{0D6C3240-16B8-4F55-8548-395D2CF6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A5B"/>
                </a:solidFill>
                <a:latin typeface="Microsoft YaHei"/>
                <a:ea typeface="Microsoft YaHei"/>
                <a:cs typeface="Microsoft YaHei"/>
              </a:rPr>
              <a:t>PHASE 4</a:t>
            </a:r>
          </a:p>
        </p:txBody>
      </p:sp>
      <p:sp>
        <p:nvSpPr>
          <p:cNvPr id="25" name="roadmap-title-4">
            <a:extLst xmlns:a="http://schemas.openxmlformats.org/drawingml/2006/main">
              <a:ext uri="{FF2B5EF4-FFF2-40B4-BE49-F238E27FC236}">
                <a16:creationId xmlns:a16="http://schemas.microsoft.com/office/drawing/2014/main" id="{C5033FBF-CF77-4188-B01B-B1D44CAD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86150"/>
            <a:ext cx="147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医学</a:t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产品化</a:t>
            </a:r>
          </a:p>
        </p:txBody>
      </p:sp>
      <p:sp>
        <p:nvSpPr>
          <p:cNvPr id="26" name="roadmap-body-4">
            <a:extLst xmlns:a="http://schemas.openxmlformats.org/drawingml/2006/main">
              <a:ext uri="{FF2B5EF4-FFF2-40B4-BE49-F238E27FC236}">
                <a16:creationId xmlns:a16="http://schemas.microsoft.com/office/drawing/2014/main" id="{7381CC76-EF95-4D46-8F85-99422646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4815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3D Pack4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多标签 volume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审计与 guard</a:t>
            </a:r>
          </a:p>
        </p:txBody>
      </p:sp>
      <p:sp>
        <p:nvSpPr>
          <p:cNvPr id="27" name="roadmap-dot-5">
            <a:extLst xmlns:a="http://schemas.openxmlformats.org/drawingml/2006/main">
              <a:ext uri="{FF2B5EF4-FFF2-40B4-BE49-F238E27FC236}">
                <a16:creationId xmlns:a16="http://schemas.microsoft.com/office/drawing/2014/main" id="{D38FA5C9-08B2-4E21-978B-667A12FB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28" name="roadmap-num-5">
            <a:extLst xmlns:a="http://schemas.openxmlformats.org/drawingml/2006/main">
              <a:ext uri="{FF2B5EF4-FFF2-40B4-BE49-F238E27FC236}">
                <a16:creationId xmlns:a16="http://schemas.microsoft.com/office/drawing/2014/main" id="{047EBA90-109F-43AB-B454-BAB8D852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PHASE 5</a:t>
            </a:r>
          </a:p>
        </p:txBody>
      </p:sp>
      <p:sp>
        <p:nvSpPr>
          <p:cNvPr id="29" name="roadmap-title-5">
            <a:extLst xmlns:a="http://schemas.openxmlformats.org/drawingml/2006/main">
              <a:ext uri="{FF2B5EF4-FFF2-40B4-BE49-F238E27FC236}">
                <a16:creationId xmlns:a16="http://schemas.microsoft.com/office/drawing/2014/main" id="{2BDEC306-7EB7-4CF0-9DA3-14CF4135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86150"/>
            <a:ext cx="147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MNN</a:t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与分子工作流</a:t>
            </a:r>
          </a:p>
        </p:txBody>
      </p:sp>
      <p:sp>
        <p:nvSpPr>
          <p:cNvPr id="30" name="roadmap-body-5">
            <a:extLst xmlns:a="http://schemas.openxmlformats.org/drawingml/2006/main">
              <a:ext uri="{FF2B5EF4-FFF2-40B4-BE49-F238E27FC236}">
                <a16:creationId xmlns:a16="http://schemas.microsoft.com/office/drawing/2014/main" id="{22E9C39F-D022-41A7-B902-DC106C22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4815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离线转换 / oracle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GPU 分子契约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按需 readback</a:t>
            </a:r>
          </a:p>
        </p:txBody>
      </p:sp>
      <p:sp>
        <p:nvSpPr>
          <p:cNvPr id="31" name="roadmap-bottom">
            <a:extLst xmlns:a="http://schemas.openxmlformats.org/drawingml/2006/main">
              <a:ext uri="{FF2B5EF4-FFF2-40B4-BE49-F238E27FC236}">
                <a16:creationId xmlns:a16="http://schemas.microsoft.com/office/drawing/2014/main" id="{D9680356-02B7-4BD6-81D7-984ADC2B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32" name="roadmap-bottom-text">
            <a:extLst xmlns:a="http://schemas.openxmlformats.org/drawingml/2006/main">
              <a:ext uri="{FF2B5EF4-FFF2-40B4-BE49-F238E27FC236}">
                <a16:creationId xmlns:a16="http://schemas.microsoft.com/office/drawing/2014/main" id="{3E29AEBF-65C0-469B-9033-54CDDD2D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2927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近期优先级：先固化真实 Cmd Pack4 能力矩阵与 P0 主干，再扩展 Sentis / MNN 图结构和五类领域集成。</a:t>
            </a:r>
          </a:p>
        </p:txBody>
      </p:sp>
      <p:cxnSp>
        <p:nvCxnSpPr>
          <p:cNvPr id="68" name="footer-rule-12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34" name="footer-12">
            <a:extLst xmlns:a="http://schemas.openxmlformats.org/drawingml/2006/main">
              <a:ext uri="{FF2B5EF4-FFF2-40B4-BE49-F238E27FC236}">
                <a16:creationId xmlns:a16="http://schemas.microsoft.com/office/drawing/2014/main" id="{005EEDE8-363F-40C6-805B-1DA24A1A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35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2894DF7B-E161-4F39-8FEA-69F18413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16749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C4198F9-DCA2-4E69-AC68-10F84721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END STATE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73D52C8-B040-453A-8FF5-726E0585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把“能跑”变成</a:t>
            </a:r>
          </a:p>
          <a:p xmlns:a="http://schemas.openxmlformats.org/drawingml/2006/main">
            <a:pPr algn="l">
              <a:defRPr sz="3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“可发布、可审计、可复用”</a:t>
            </a:r>
          </a:p>
        </p:txBody>
      </p:sp>
      <p:sp>
        <p:nvSpPr>
          <p:cNvPr id="3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1AA749E2-2DAC-4354-8681-B7D4A88F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端侧推理引擎的价值，不是累积更多 runner，</a:t>
            </a:r>
          </a:p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而是让每个模型来源、算子能力与领域结果都能回到同一条可验证的生产路径。</a:t>
            </a:r>
          </a:p>
        </p:txBody>
      </p:sp>
      <p:cxnSp>
        <p:nvCxnSpPr>
          <p:cNvPr id="19" name="close-rule"/>
          <p:cNvCxnSpPr/>
          <p:nvPr/>
        </p:nvCxnSpPr>
        <p:spPr>
          <a:xfrm xmlns:a="http://schemas.openxmlformats.org/drawingml/2006/main">
            <a:off x="647700" y="4591050"/>
            <a:ext cx="65722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sp>
        <p:nvSpPr>
          <p:cNvPr id="5" name="close-next">
            <a:extLst xmlns:a="http://schemas.openxmlformats.org/drawingml/2006/main">
              <a:ext uri="{FF2B5EF4-FFF2-40B4-BE49-F238E27FC236}">
                <a16:creationId xmlns:a16="http://schemas.microsoft.com/office/drawing/2014/main" id="{D7A16D5F-4D08-4356-A1C3-9EF8A9A3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623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下一步：固化 Cmd Pack4 主干与能力门禁，</a:t>
            </a:r>
          </a:p>
          <a:p xmlns:a="http://schemas.openxmlformats.org/drawingml/2006/main">
            <a:pPr algn="l">
              <a:defRPr sz="15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再把 Sentis、MNN 与五类领域包建立在这条路径上。</a:t>
            </a:r>
          </a:p>
        </p:txBody>
      </p:sp>
      <p:sp>
        <p:nvSpPr>
          <p:cNvPr id="6" name="close-field">
            <a:extLst xmlns:a="http://schemas.openxmlformats.org/drawingml/2006/main">
              <a:ext uri="{FF2B5EF4-FFF2-40B4-BE49-F238E27FC236}">
                <a16:creationId xmlns:a16="http://schemas.microsoft.com/office/drawing/2014/main" id="{550AF770-C854-4D13-AA33-82B2A6A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386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close-right-title">
            <a:extLst xmlns:a="http://schemas.openxmlformats.org/drawingml/2006/main">
              <a:ext uri="{FF2B5EF4-FFF2-40B4-BE49-F238E27FC236}">
                <a16:creationId xmlns:a16="http://schemas.microsoft.com/office/drawing/2014/main" id="{D386D94E-5740-4E59-93BA-D8741530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14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3D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3D5FF"/>
                </a:solidFill>
                <a:latin typeface="Microsoft YaHei"/>
                <a:ea typeface="Microsoft YaHei"/>
                <a:cs typeface="Microsoft YaHei"/>
              </a:rPr>
              <a:t>跨格式</a:t>
            </a:r>
          </a:p>
        </p:txBody>
      </p:sp>
      <p:sp>
        <p:nvSpPr>
          <p:cNvPr id="8" name="close-right-1">
            <a:extLst xmlns:a="http://schemas.openxmlformats.org/drawingml/2006/main">
              <a:ext uri="{FF2B5EF4-FFF2-40B4-BE49-F238E27FC236}">
                <a16:creationId xmlns:a16="http://schemas.microsoft.com/office/drawing/2014/main" id="{8AB8EEEE-EFC9-4682-A2AE-7EDAD782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ncnn / ONNX / Sentis / MNN</a:t>
            </a:r>
          </a:p>
        </p:txBody>
      </p:sp>
      <p:cxnSp>
        <p:nvCxnSpPr>
          <p:cNvPr id="24" name="close-right-rule-1"/>
          <p:cNvCxnSpPr/>
          <p:nvPr/>
        </p:nvCxnSpPr>
        <p:spPr>
          <a:xfrm xmlns:a="http://schemas.openxmlformats.org/drawingml/2006/main">
            <a:off x="8877300" y="2505075"/>
            <a:ext cx="2114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16C83"/>
            </a:solidFill>
            <a:prstDash val="solid"/>
          </a:ln>
        </p:spPr>
      </p:cxnSp>
      <p:sp>
        <p:nvSpPr>
          <p:cNvPr id="10" name="close-right-title-2">
            <a:extLst xmlns:a="http://schemas.openxmlformats.org/drawingml/2006/main">
              <a:ext uri="{FF2B5EF4-FFF2-40B4-BE49-F238E27FC236}">
                <a16:creationId xmlns:a16="http://schemas.microsoft.com/office/drawing/2014/main" id="{80AF6178-67E1-460D-8D1E-D7B37C60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EE7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EE7DC"/>
                </a:solidFill>
                <a:latin typeface="Microsoft YaHei"/>
                <a:ea typeface="Microsoft YaHei"/>
                <a:cs typeface="Microsoft YaHei"/>
              </a:rPr>
              <a:t>纹理原生</a:t>
            </a:r>
          </a:p>
        </p:txBody>
      </p:sp>
      <p:sp>
        <p:nvSpPr>
          <p:cNvPr id="11" name="close-right-2">
            <a:extLst xmlns:a="http://schemas.openxmlformats.org/drawingml/2006/main">
              <a:ext uri="{FF2B5EF4-FFF2-40B4-BE49-F238E27FC236}">
                <a16:creationId xmlns:a16="http://schemas.microsoft.com/office/drawing/2014/main" id="{1E92D706-E82D-4436-8C30-6C8676B9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623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Pack4 / CommandBuffer / Fence</a:t>
            </a:r>
          </a:p>
        </p:txBody>
      </p:sp>
      <p:cxnSp>
        <p:nvCxnSpPr>
          <p:cNvPr id="27" name="close-right-rule-2"/>
          <p:cNvCxnSpPr/>
          <p:nvPr/>
        </p:nvCxnSpPr>
        <p:spPr>
          <a:xfrm xmlns:a="http://schemas.openxmlformats.org/drawingml/2006/main">
            <a:off x="8877300" y="3905250"/>
            <a:ext cx="2114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16C83"/>
            </a:solidFill>
            <a:prstDash val="solid"/>
          </a:ln>
        </p:spPr>
      </p:cxnSp>
      <p:sp>
        <p:nvSpPr>
          <p:cNvPr id="13" name="close-right-title-3">
            <a:extLst xmlns:a="http://schemas.openxmlformats.org/drawingml/2006/main">
              <a:ext uri="{FF2B5EF4-FFF2-40B4-BE49-F238E27FC236}">
                <a16:creationId xmlns:a16="http://schemas.microsoft.com/office/drawing/2014/main" id="{D51056B5-7461-4386-9137-EE768959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148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A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BAC2"/>
                </a:solidFill>
                <a:latin typeface="Microsoft YaHei"/>
                <a:ea typeface="Microsoft YaHei"/>
                <a:cs typeface="Microsoft YaHei"/>
              </a:rPr>
              <a:t>按领域扩展</a:t>
            </a:r>
          </a:p>
        </p:txBody>
      </p:sp>
      <p:sp>
        <p:nvSpPr>
          <p:cNvPr id="14" name="close-right-3">
            <a:extLst xmlns:a="http://schemas.openxmlformats.org/drawingml/2006/main">
              <a:ext uri="{FF2B5EF4-FFF2-40B4-BE49-F238E27FC236}">
                <a16:creationId xmlns:a16="http://schemas.microsoft.com/office/drawing/2014/main" id="{847A5F9C-E4B7-45D3-9DC4-E5889ADA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62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AIImage / 教育 / 游戏 / 医学 / 药学</a:t>
            </a:r>
          </a:p>
        </p:txBody>
      </p:sp>
      <p:sp>
        <p:nvSpPr>
          <p:cNvPr id="15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4564847D-74A5-40EB-B99C-1C962F8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 ENGINE / 2026.07</a:t>
            </a:r>
          </a:p>
        </p:txBody>
      </p:sp>
    </p:spTree>
    <p:extLst>
      <p:ext uri="{BB962C8B-B14F-4D97-AF65-F5344CB8AC3E}">
        <p14:creationId xmlns:p14="http://schemas.microsoft.com/office/powerpoint/2010/main" val="895029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2026-07-14T07:05:25.8040000Z</dcterms:created>
  <dcterms:modified xsi:type="dcterms:W3CDTF">2026-07-14T07:05:25.8040000Z</dcterms:modified>
</coreProperties>
</file>