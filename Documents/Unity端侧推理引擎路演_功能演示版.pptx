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061cc78ed54e3d" /><Relationship Type="http://schemas.openxmlformats.org/officeDocument/2006/relationships/extended-properties" Target="/docProps/app.xml" Id="R14e3240dbb544e42" /><Relationship Type="http://schemas.openxmlformats.org/officeDocument/2006/relationships/officeDocument" Target="/ppt/presentation.xml" Id="R0c46caeb6f4c43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38fcc59a724593"/>
  </p:sldMasterIdLst>
  <p:notesMasterIdLst>
    <p:notesMasterId xmlns:r="http://schemas.openxmlformats.org/officeDocument/2006/relationships" r:id="R09575694fc184aa9"/>
  </p:notesMasterIdLst>
  <p:sldIdLst>
    <p:sldId xmlns:r="http://schemas.openxmlformats.org/officeDocument/2006/relationships" id="256" r:id="R3e3bf4b039f24d3f"/>
    <p:sldId xmlns:r="http://schemas.openxmlformats.org/officeDocument/2006/relationships" id="257" r:id="Re8a50637a5b849de"/>
    <p:sldId xmlns:r="http://schemas.openxmlformats.org/officeDocument/2006/relationships" id="258" r:id="R206258a2eb124a7c"/>
    <p:sldId xmlns:r="http://schemas.openxmlformats.org/officeDocument/2006/relationships" id="259" r:id="R5f6b7bb73d1e4085"/>
    <p:sldId xmlns:r="http://schemas.openxmlformats.org/officeDocument/2006/relationships" id="260" r:id="Re63e9e174a844d0c"/>
    <p:sldId xmlns:r="http://schemas.openxmlformats.org/officeDocument/2006/relationships" id="261" r:id="Rfc043dcd08e14a2e"/>
    <p:sldId xmlns:r="http://schemas.openxmlformats.org/officeDocument/2006/relationships" id="262" r:id="R9ea1dd0fb5874eca"/>
    <p:sldId xmlns:r="http://schemas.openxmlformats.org/officeDocument/2006/relationships" id="263" r:id="R476967d4ddf94e5d"/>
    <p:sldId xmlns:r="http://schemas.openxmlformats.org/officeDocument/2006/relationships" id="264" r:id="Rce067cf86c8c498b"/>
    <p:sldId xmlns:r="http://schemas.openxmlformats.org/officeDocument/2006/relationships" id="265" r:id="R3a19d2205fa1403a"/>
    <p:sldId xmlns:r="http://schemas.openxmlformats.org/officeDocument/2006/relationships" id="266" r:id="R6161c9eddb854446"/>
    <p:sldId xmlns:r="http://schemas.openxmlformats.org/officeDocument/2006/relationships" id="267" r:id="R955141cf4bee45e1"/>
    <p:sldId xmlns:r="http://schemas.openxmlformats.org/officeDocument/2006/relationships" id="268" r:id="Rc79b11762a384712"/>
    <p:sldId xmlns:r="http://schemas.openxmlformats.org/officeDocument/2006/relationships" id="269" r:id="Rd57e90ebc56d4505"/>
    <p:sldId xmlns:r="http://schemas.openxmlformats.org/officeDocument/2006/relationships" id="270" r:id="R3cbaa132d3e14651"/>
    <p:sldId xmlns:r="http://schemas.openxmlformats.org/officeDocument/2006/relationships" id="271" r:id="R745d6de7b6ad48b1"/>
    <p:sldId xmlns:r="http://schemas.openxmlformats.org/officeDocument/2006/relationships" id="272" r:id="Rd6b5cc59432f400d"/>
    <p:sldId xmlns:r="http://schemas.openxmlformats.org/officeDocument/2006/relationships" id="273" r:id="R6687ad81c15b437a"/>
    <p:sldId xmlns:r="http://schemas.openxmlformats.org/officeDocument/2006/relationships" id="274" r:id="R2f66bf900f67432b"/>
    <p:sldId xmlns:r="http://schemas.openxmlformats.org/officeDocument/2006/relationships" id="275" r:id="R908b0bd6446e46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a9baa8a18d4cc4" /><Relationship Type="http://schemas.openxmlformats.org/officeDocument/2006/relationships/slideMaster" Target="/ppt/slideMasters/slideMaster1.xml" Id="R1638fcc59a724593" /><Relationship Type="http://schemas.openxmlformats.org/officeDocument/2006/relationships/notesMaster" Target="/ppt/notesMasters/notesMaster1.xml" Id="R09575694fc184aa9" /><Relationship Type="http://schemas.openxmlformats.org/officeDocument/2006/relationships/presProps" Target="/ppt/presProps.xml" Id="Rf3181f23b22846df" /><Relationship Type="http://schemas.openxmlformats.org/officeDocument/2006/relationships/tableStyles" Target="/ppt/tableStyles.xml" Id="R4a5b7bfb931c4239" /><Relationship Type="http://schemas.openxmlformats.org/officeDocument/2006/relationships/slide" Target="/ppt/slides/slide1.xml" Id="R3e3bf4b039f24d3f" /><Relationship Type="http://schemas.openxmlformats.org/officeDocument/2006/relationships/slide" Target="/ppt/slides/slide2.xml" Id="Re8a50637a5b849de" /><Relationship Type="http://schemas.openxmlformats.org/officeDocument/2006/relationships/slide" Target="/ppt/slides/slide3.xml" Id="R206258a2eb124a7c" /><Relationship Type="http://schemas.openxmlformats.org/officeDocument/2006/relationships/slide" Target="/ppt/slides/slide4.xml" Id="R5f6b7bb73d1e4085" /><Relationship Type="http://schemas.openxmlformats.org/officeDocument/2006/relationships/slide" Target="/ppt/slides/slide5.xml" Id="Re63e9e174a844d0c" /><Relationship Type="http://schemas.openxmlformats.org/officeDocument/2006/relationships/slide" Target="/ppt/slides/slide6.xml" Id="Rfc043dcd08e14a2e" /><Relationship Type="http://schemas.openxmlformats.org/officeDocument/2006/relationships/slide" Target="/ppt/slides/slide7.xml" Id="R9ea1dd0fb5874eca" /><Relationship Type="http://schemas.openxmlformats.org/officeDocument/2006/relationships/slide" Target="/ppt/slides/slide8.xml" Id="R476967d4ddf94e5d" /><Relationship Type="http://schemas.openxmlformats.org/officeDocument/2006/relationships/slide" Target="/ppt/slides/slide9.xml" Id="Rce067cf86c8c498b" /><Relationship Type="http://schemas.openxmlformats.org/officeDocument/2006/relationships/slide" Target="/ppt/slides/slide10.xml" Id="R3a19d2205fa1403a" /><Relationship Type="http://schemas.openxmlformats.org/officeDocument/2006/relationships/slide" Target="/ppt/slides/slide11.xml" Id="R6161c9eddb854446" /><Relationship Type="http://schemas.openxmlformats.org/officeDocument/2006/relationships/slide" Target="/ppt/slides/slide12.xml" Id="R955141cf4bee45e1" /><Relationship Type="http://schemas.openxmlformats.org/officeDocument/2006/relationships/slide" Target="/ppt/slides/slide13.xml" Id="Rc79b11762a384712" /><Relationship Type="http://schemas.openxmlformats.org/officeDocument/2006/relationships/slide" Target="/ppt/slides/slide14.xml" Id="Rd57e90ebc56d4505" /><Relationship Type="http://schemas.openxmlformats.org/officeDocument/2006/relationships/slide" Target="/ppt/slides/slide15.xml" Id="R3cbaa132d3e14651" /><Relationship Type="http://schemas.openxmlformats.org/officeDocument/2006/relationships/slide" Target="/ppt/slides/slide16.xml" Id="R745d6de7b6ad48b1" /><Relationship Type="http://schemas.openxmlformats.org/officeDocument/2006/relationships/slide" Target="/ppt/slides/slide17.xml" Id="Rd6b5cc59432f400d" /><Relationship Type="http://schemas.openxmlformats.org/officeDocument/2006/relationships/slide" Target="/ppt/slides/slide18.xml" Id="R6687ad81c15b437a" /><Relationship Type="http://schemas.openxmlformats.org/officeDocument/2006/relationships/slide" Target="/ppt/slides/slide19.xml" Id="R2f66bf900f67432b" /><Relationship Type="http://schemas.openxmlformats.org/officeDocument/2006/relationships/slide" Target="/ppt/slides/slide20.xml" Id="R908b0bd6446e46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e232510b5042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d8898609f94d1c" /><Relationship Type="http://schemas.openxmlformats.org/officeDocument/2006/relationships/notesMaster" Target="/ppt/notesMasters/notesMaster1.xml" Id="Ra35f245e7b914e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cd2a8fc3fc4e5a" /><Relationship Type="http://schemas.openxmlformats.org/officeDocument/2006/relationships/notesMaster" Target="/ppt/notesMasters/notesMaster1.xml" Id="R09de0bec826c46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7c947c1c314260" /><Relationship Type="http://schemas.openxmlformats.org/officeDocument/2006/relationships/notesMaster" Target="/ppt/notesMasters/notesMaster1.xml" Id="R89a2b19165fb46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f3968fa8464387" /><Relationship Type="http://schemas.openxmlformats.org/officeDocument/2006/relationships/notesMaster" Target="/ppt/notesMasters/notesMaster1.xml" Id="Rfccff639ec8049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5e9208e8654ea5" /><Relationship Type="http://schemas.openxmlformats.org/officeDocument/2006/relationships/notesMaster" Target="/ppt/notesMasters/notesMaster1.xml" Id="R29ae47e302ac43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7915e26dd447e5" /><Relationship Type="http://schemas.openxmlformats.org/officeDocument/2006/relationships/notesMaster" Target="/ppt/notesMasters/notesMaster1.xml" Id="Rfb82a53bf8d849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7fbb2ec2af48b6" /><Relationship Type="http://schemas.openxmlformats.org/officeDocument/2006/relationships/notesMaster" Target="/ppt/notesMasters/notesMaster1.xml" Id="Rcef42c2c8ce94f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2cdfcdfff34ecb" /><Relationship Type="http://schemas.openxmlformats.org/officeDocument/2006/relationships/notesMaster" Target="/ppt/notesMasters/notesMaster1.xml" Id="Rfa219d30d90241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18815d70e943ef" /><Relationship Type="http://schemas.openxmlformats.org/officeDocument/2006/relationships/notesMaster" Target="/ppt/notesMasters/notesMaster1.xml" Id="R127234e2323046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843c1c8af544c3" /><Relationship Type="http://schemas.openxmlformats.org/officeDocument/2006/relationships/notesMaster" Target="/ppt/notesMasters/notesMaster1.xml" Id="Re5e0352efec54b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f7e96f2b054f18" /><Relationship Type="http://schemas.openxmlformats.org/officeDocument/2006/relationships/notesMaster" Target="/ppt/notesMasters/notesMaster1.xml" Id="Rca97394a75df42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419cdb89cb42e6" /><Relationship Type="http://schemas.openxmlformats.org/officeDocument/2006/relationships/notesMaster" Target="/ppt/notesMasters/notesMaster1.xml" Id="R9f15cccc52934c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1cdc9c265f4fab" /><Relationship Type="http://schemas.openxmlformats.org/officeDocument/2006/relationships/notesMaster" Target="/ppt/notesMasters/notesMaster1.xml" Id="R8ddeaef62dc54b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46e8c36b15494f" /><Relationship Type="http://schemas.openxmlformats.org/officeDocument/2006/relationships/notesMaster" Target="/ppt/notesMasters/notesMaster1.xml" Id="R675c57e05fe647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75f031be154b8b" /><Relationship Type="http://schemas.openxmlformats.org/officeDocument/2006/relationships/notesMaster" Target="/ppt/notesMasters/notesMaster1.xml" Id="R36c18f20e03f4a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1cf6a011c94ffb" /><Relationship Type="http://schemas.openxmlformats.org/officeDocument/2006/relationships/notesMaster" Target="/ppt/notesMasters/notesMaster1.xml" Id="R2bdc420c9b1244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ab94c58f544fa3" /><Relationship Type="http://schemas.openxmlformats.org/officeDocument/2006/relationships/notesMaster" Target="/ppt/notesMasters/notesMaster1.xml" Id="R740c448c6d9649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78152e5d804aa0" /><Relationship Type="http://schemas.openxmlformats.org/officeDocument/2006/relationships/notesMaster" Target="/ppt/notesMasters/notesMaster1.xml" Id="R6ba44d08faef443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329c52b5ef46e7" /><Relationship Type="http://schemas.openxmlformats.org/officeDocument/2006/relationships/notesMaster" Target="/ppt/notesMasters/notesMaster1.xml" Id="R6de94de49a7647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076a3314014d68" /><Relationship Type="http://schemas.openxmlformats.org/officeDocument/2006/relationships/notesMaster" Target="/ppt/notesMasters/notesMaster1.xml" Id="R1bc14b11919a4d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40d3261c148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90cca6b17c4e8f" /><Relationship Type="http://schemas.openxmlformats.org/officeDocument/2006/relationships/slideLayout" Target="/ppt/slideLayouts/slideLayout1.xml" Id="Rb0925e663c5d4d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925e663c5d4d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d12355b77448c" /><Relationship Type="http://schemas.openxmlformats.org/officeDocument/2006/relationships/notesSlide" Target="/ppt/notesSlides/notesSlide1.xml" Id="Raf5867d1401048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5cec28c4449eb" /><Relationship Type="http://schemas.openxmlformats.org/officeDocument/2006/relationships/notesSlide" Target="/ppt/notesSlides/notesSlide2.xml" Id="R39f3a52a125547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30ee72980483c" /><Relationship Type="http://schemas.openxmlformats.org/officeDocument/2006/relationships/notesSlide" Target="/ppt/notesSlides/notesSlide3.xml" Id="R2d987d276fde4e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2f969b589444f" /><Relationship Type="http://schemas.openxmlformats.org/officeDocument/2006/relationships/notesSlide" Target="/ppt/notesSlides/notesSlide4.xml" Id="Rc961f5a4bb4f41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157481a654988" /><Relationship Type="http://schemas.openxmlformats.org/officeDocument/2006/relationships/notesSlide" Target="/ppt/notesSlides/notesSlide5.xml" Id="R8c2bb3cb491049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071cf9da74061" /><Relationship Type="http://schemas.openxmlformats.org/officeDocument/2006/relationships/notesSlide" Target="/ppt/notesSlides/notesSlide6.xml" Id="R433b7b870f9046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a07ed79444dcc" /><Relationship Type="http://schemas.openxmlformats.org/officeDocument/2006/relationships/notesSlide" Target="/ppt/notesSlides/notesSlide7.xml" Id="R817e53aee2d043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b9704e06b464e" /><Relationship Type="http://schemas.openxmlformats.org/officeDocument/2006/relationships/notesSlide" Target="/ppt/notesSlides/notesSlide8.xml" Id="R397c93d7d9f74d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ba12cbaaa40fd" /><Relationship Type="http://schemas.openxmlformats.org/officeDocument/2006/relationships/notesSlide" Target="/ppt/notesSlides/notesSlide9.xml" Id="R4d6fd988c01b40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c65c8d3e44486" /><Relationship Type="http://schemas.openxmlformats.org/officeDocument/2006/relationships/image" Target="/ppt/media/image.jpeg" Id="R3871832156cc4b4d" /><Relationship Type="http://schemas.openxmlformats.org/officeDocument/2006/relationships/notesSlide" Target="/ppt/notesSlides/notesSlide10.xml" Id="Rba73e3811de74c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aa8734eba4bec" /><Relationship Type="http://schemas.openxmlformats.org/officeDocument/2006/relationships/image" Target="/ppt/media/image2.jpeg" Id="R2cadb14aea9743b5" /><Relationship Type="http://schemas.openxmlformats.org/officeDocument/2006/relationships/notesSlide" Target="/ppt/notesSlides/notesSlide11.xml" Id="Rc8adbb9210d146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8a12d7b084600" /><Relationship Type="http://schemas.openxmlformats.org/officeDocument/2006/relationships/image" Target="/ppt/media/image3.jpeg" Id="R761b39ce481a483f" /><Relationship Type="http://schemas.openxmlformats.org/officeDocument/2006/relationships/image" Target="/ppt/media/image.png" Id="Rf88cfd5f60c74c57" /><Relationship Type="http://schemas.openxmlformats.org/officeDocument/2006/relationships/image" Target="/ppt/media/image2.png" Id="R57c3becee0494c28" /><Relationship Type="http://schemas.openxmlformats.org/officeDocument/2006/relationships/notesSlide" Target="/ppt/notesSlides/notesSlide12.xml" Id="Rf600ca6479024c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3a2c6fec34670" /><Relationship Type="http://schemas.openxmlformats.org/officeDocument/2006/relationships/image" Target="/ppt/media/image3.png" Id="R2e2ff9d4e1fc4a4b" /><Relationship Type="http://schemas.openxmlformats.org/officeDocument/2006/relationships/image" Target="/ppt/media/image4.png" Id="Rf1465316b8074c02" /><Relationship Type="http://schemas.openxmlformats.org/officeDocument/2006/relationships/notesSlide" Target="/ppt/notesSlides/notesSlide13.xml" Id="R0368f986144c4b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1adcfc381472e" /><Relationship Type="http://schemas.openxmlformats.org/officeDocument/2006/relationships/image" Target="/ppt/media/image5.png" Id="Rd4c122c480eb4e19" /><Relationship Type="http://schemas.openxmlformats.org/officeDocument/2006/relationships/image" Target="/ppt/media/image4.jpeg" Id="Rf14f2107699e410d" /><Relationship Type="http://schemas.openxmlformats.org/officeDocument/2006/relationships/notesSlide" Target="/ppt/notesSlides/notesSlide14.xml" Id="R1c64a55cc77e4f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8584bc2e34314" /><Relationship Type="http://schemas.openxmlformats.org/officeDocument/2006/relationships/image" Target="/ppt/media/image6.png" Id="R9c7ae47e1f074a3c" /><Relationship Type="http://schemas.openxmlformats.org/officeDocument/2006/relationships/notesSlide" Target="/ppt/notesSlides/notesSlide15.xml" Id="Rb4723963fd1c47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9ab7ec92445c7" /><Relationship Type="http://schemas.openxmlformats.org/officeDocument/2006/relationships/image" Target="/ppt/media/image7.png" Id="Rf48a30d9083a44d0" /><Relationship Type="http://schemas.openxmlformats.org/officeDocument/2006/relationships/notesSlide" Target="/ppt/notesSlides/notesSlide16.xml" Id="Re695d4d6b5d540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dfcae82854f1f" /><Relationship Type="http://schemas.openxmlformats.org/officeDocument/2006/relationships/image" Target="/ppt/media/image5.jpeg" Id="Rfd548b87dea44e11" /><Relationship Type="http://schemas.openxmlformats.org/officeDocument/2006/relationships/notesSlide" Target="/ppt/notesSlides/notesSlide17.xml" Id="Rb8302c691dc946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bf5d1596e4ef9" /><Relationship Type="http://schemas.openxmlformats.org/officeDocument/2006/relationships/notesSlide" Target="/ppt/notesSlides/notesSlide18.xml" Id="R1ec1d6daf46d492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71349ce0c439e" /><Relationship Type="http://schemas.openxmlformats.org/officeDocument/2006/relationships/notesSlide" Target="/ppt/notesSlides/notesSlide19.xml" Id="R49fbfb4ff5604d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79e58efde4d72" /><Relationship Type="http://schemas.openxmlformats.org/officeDocument/2006/relationships/notesSlide" Target="/ppt/notesSlides/notesSlide20.xml" Id="R0f5bf0915d0e41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-field">
            <a:extLst xmlns:a="http://schemas.openxmlformats.org/drawingml/2006/main">
              <a:ext uri="{FF2B5EF4-FFF2-40B4-BE49-F238E27FC236}">
                <a16:creationId xmlns:a16="http://schemas.microsoft.com/office/drawing/2014/main" id="{81BDEE4D-040D-4FD4-9D3E-961CF588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" name="cover-cyan-bar">
            <a:extLst xmlns:a="http://schemas.openxmlformats.org/drawingml/2006/main">
              <a:ext uri="{FF2B5EF4-FFF2-40B4-BE49-F238E27FC236}">
                <a16:creationId xmlns:a16="http://schemas.microsoft.com/office/drawing/2014/main" id="{46E4CD2E-548D-470B-8225-BDE74606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B128B6C-FED2-44E0-9416-C0BDE7DA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A777CE6-098F-489A-8DBE-D4F5A9BA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57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Unity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端侧推理引擎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EA2AB0C-1439-495C-8AE1-BE4D9625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676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从 ncnn 难以在 Unity 用同一套代码跨平台使用出发，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演进为面向五类业务的统一端侧推理引擎</a:t>
            </a:r>
          </a:p>
        </p:txBody>
      </p:sp>
      <p:cxnSp>
        <p:nvCxnSpPr>
          <p:cNvPr id="28" name="cover-rule"/>
          <p:cNvCxnSpPr/>
          <p:nvPr/>
        </p:nvCxnSpPr>
        <p:spPr>
          <a:xfrm xmlns:a="http://schemas.openxmlformats.org/drawingml/2006/main">
            <a:off x="647700" y="4524375"/>
            <a:ext cx="60769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sp>
        <p:nvSpPr>
          <p:cNvPr id="7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F7CEB9F2-C9A3-4EE7-932D-40F3678A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依据 Documents / 2026.06 - 2026.07</a:t>
            </a:r>
          </a:p>
        </p:txBody>
      </p:sp>
      <p:sp>
        <p:nvSpPr>
          <p:cNvPr id="8" name="cover-right-title">
            <a:extLst xmlns:a="http://schemas.openxmlformats.org/drawingml/2006/main">
              <a:ext uri="{FF2B5EF4-FFF2-40B4-BE49-F238E27FC236}">
                <a16:creationId xmlns:a16="http://schemas.microsoft.com/office/drawing/2014/main" id="{DAA76A99-6A53-48C3-B816-A8D7A61D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04950"/>
            <a:ext cx="2524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多格式接入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统一引擎能力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五类应用方向</a:t>
            </a:r>
          </a:p>
        </p:txBody>
      </p:sp>
      <p:sp>
        <p:nvSpPr>
          <p:cNvPr id="9" name="cover-right-body">
            <a:extLst xmlns:a="http://schemas.openxmlformats.org/drawingml/2006/main">
              <a:ext uri="{FF2B5EF4-FFF2-40B4-BE49-F238E27FC236}">
                <a16:creationId xmlns:a16="http://schemas.microsoft.com/office/drawing/2014/main" id="{388D5BDB-7D4D-463A-BAD4-A08A7124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14775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>ncnn  ·  ONNX / Sentis  ·  MNN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>导入  ·  编排  ·  推理  ·  验证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>结果直接服务于业务应用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0AD30C00-242A-466D-B7D6-3DB221E9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ROADSHOW / 2026.07</a:t>
            </a:r>
          </a:p>
        </p:txBody>
      </p:sp>
    </p:spTree>
    <p:extLst>
      <p:ext uri="{BB962C8B-B14F-4D97-AF65-F5344CB8AC3E}">
        <p14:creationId xmlns:p14="http://schemas.microsoft.com/office/powerpoint/2010/main" val="331882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2">
            <a:extLst xmlns:a="http://schemas.openxmlformats.org/drawingml/2006/main">
              <a:ext uri="{FF2B5EF4-FFF2-40B4-BE49-F238E27FC236}">
                <a16:creationId xmlns:a16="http://schemas.microsoft.com/office/drawing/2014/main" id="{61292A86-AE30-4882-9277-C3CE054E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ORIGIN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F83727B-23CE-4713-80D9-C5B0063A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从 Unity 跨平台痛点，走向统一端侧推理引擎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0D9BADB7-715A-4E12-BE2C-5713B348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cxnSp>
        <p:nvCxnSpPr>
          <p:cNvPr id="66" name="header-rule-2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cxnSp>
        <p:nvCxnSpPr>
          <p:cNvPr id="67" name="origin-timeline"/>
          <p:cNvCxnSpPr/>
          <p:nvPr/>
        </p:nvCxnSpPr>
        <p:spPr>
          <a:xfrm xmlns:a="http://schemas.openxmlformats.org/drawingml/2006/main">
            <a:off x="1095375" y="3438525"/>
            <a:ext cx="9639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sp>
        <p:nvSpPr>
          <p:cNvPr id="6" name="origin-dot-1">
            <a:extLst xmlns:a="http://schemas.openxmlformats.org/drawingml/2006/main">
              <a:ext uri="{FF2B5EF4-FFF2-40B4-BE49-F238E27FC236}">
                <a16:creationId xmlns:a16="http://schemas.microsoft.com/office/drawing/2014/main" id="{4BB702E1-5A51-4359-B864-11221F17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62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7" name="origin-dot-2">
            <a:extLst xmlns:a="http://schemas.openxmlformats.org/drawingml/2006/main">
              <a:ext uri="{FF2B5EF4-FFF2-40B4-BE49-F238E27FC236}">
                <a16:creationId xmlns:a16="http://schemas.microsoft.com/office/drawing/2014/main" id="{CC91414A-5001-40B7-BC10-03CAAF33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62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A11"/>
          </a:solidFill>
          <a:ln xmlns:a="http://schemas.openxmlformats.org/drawingml/2006/main" w="9525">
            <a:solidFill>
              <a:srgbClr val="D59A11"/>
            </a:solidFill>
            <a:prstDash val="solid"/>
          </a:ln>
        </p:spPr>
      </p:sp>
      <p:sp>
        <p:nvSpPr>
          <p:cNvPr id="8" name="origin-dot-3">
            <a:extLst xmlns:a="http://schemas.openxmlformats.org/drawingml/2006/main">
              <a:ext uri="{FF2B5EF4-FFF2-40B4-BE49-F238E27FC236}">
                <a16:creationId xmlns:a16="http://schemas.microsoft.com/office/drawing/2014/main" id="{E443A0C8-C460-4552-B49A-66D978B1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362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origin-tag-1">
            <a:extLst xmlns:a="http://schemas.openxmlformats.org/drawingml/2006/main">
              <a:ext uri="{FF2B5EF4-FFF2-40B4-BE49-F238E27FC236}">
                <a16:creationId xmlns:a16="http://schemas.microsoft.com/office/drawing/2014/main" id="{948875F4-1AFB-49BB-9D57-68CBE681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rPr>
              <a:t>起点</a:t>
            </a:r>
          </a:p>
        </p:txBody>
      </p:sp>
      <p:sp>
        <p:nvSpPr>
          <p:cNvPr id="10" name="origin-tag-2">
            <a:extLst xmlns:a="http://schemas.openxmlformats.org/drawingml/2006/main">
              <a:ext uri="{FF2B5EF4-FFF2-40B4-BE49-F238E27FC236}">
                <a16:creationId xmlns:a16="http://schemas.microsoft.com/office/drawing/2014/main" id="{C422087E-425B-4AA8-8960-4F76736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81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59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9A11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</p:txBody>
      </p:sp>
      <p:sp>
        <p:nvSpPr>
          <p:cNvPr id="11" name="origin-tag-3">
            <a:extLst xmlns:a="http://schemas.openxmlformats.org/drawingml/2006/main">
              <a:ext uri="{FF2B5EF4-FFF2-40B4-BE49-F238E27FC236}">
                <a16:creationId xmlns:a16="http://schemas.microsoft.com/office/drawing/2014/main" id="{BC502E9C-9E86-4BE3-91F2-230DEE2B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推广</a:t>
            </a:r>
          </a:p>
        </p:txBody>
      </p:sp>
      <p:sp>
        <p:nvSpPr>
          <p:cNvPr id="12" name="origin-h-1">
            <a:extLst xmlns:a="http://schemas.openxmlformats.org/drawingml/2006/main">
              <a:ext uri="{FF2B5EF4-FFF2-40B4-BE49-F238E27FC236}">
                <a16:creationId xmlns:a16="http://schemas.microsoft.com/office/drawing/2014/main" id="{CA095D41-2157-43A4-99C6-AAC49855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ncnn 难题</a:t>
            </a:r>
          </a:p>
        </p:txBody>
      </p:sp>
      <p:sp>
        <p:nvSpPr>
          <p:cNvPr id="13" name="origin-b-1">
            <a:extLst xmlns:a="http://schemas.openxmlformats.org/drawingml/2006/main">
              <a:ext uri="{FF2B5EF4-FFF2-40B4-BE49-F238E27FC236}">
                <a16:creationId xmlns:a16="http://schemas.microsoft.com/office/drawing/2014/main" id="{932FAC95-9B6E-498F-96DA-C3145C71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2667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成熟模型与数值基线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无法直接成为 Unity 内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跨平台复用的一套代码。</a:t>
            </a:r>
          </a:p>
        </p:txBody>
      </p:sp>
      <p:sp>
        <p:nvSpPr>
          <p:cNvPr id="14" name="origin-h-2">
            <a:extLst xmlns:a="http://schemas.openxmlformats.org/drawingml/2006/main">
              <a:ext uri="{FF2B5EF4-FFF2-40B4-BE49-F238E27FC236}">
                <a16:creationId xmlns:a16="http://schemas.microsoft.com/office/drawing/2014/main" id="{6A906532-26EA-42C0-8C90-1AEBFAE9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48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Unity 复刻</a:t>
            </a:r>
          </a:p>
        </p:txBody>
      </p:sp>
      <p:sp>
        <p:nvSpPr>
          <p:cNvPr id="15" name="origin-b-2">
            <a:extLst xmlns:a="http://schemas.openxmlformats.org/drawingml/2006/main">
              <a:ext uri="{FF2B5EF4-FFF2-40B4-BE49-F238E27FC236}">
                <a16:creationId xmlns:a16="http://schemas.microsoft.com/office/drawing/2014/main" id="{30155FC1-3D36-4D19-8095-852352F8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76725"/>
            <a:ext cx="285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在 Unity 内承接模型语义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完成视觉 runner 的真实验证，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让结果能直接交给应用层。</a:t>
            </a:r>
          </a:p>
        </p:txBody>
      </p:sp>
      <p:sp>
        <p:nvSpPr>
          <p:cNvPr id="16" name="origin-h-3">
            <a:extLst xmlns:a="http://schemas.openxmlformats.org/drawingml/2006/main">
              <a:ext uri="{FF2B5EF4-FFF2-40B4-BE49-F238E27FC236}">
                <a16:creationId xmlns:a16="http://schemas.microsoft.com/office/drawing/2014/main" id="{1C454FFD-0698-4636-8C20-74C875F5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48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统一引擎</a:t>
            </a:r>
          </a:p>
        </p:txBody>
      </p:sp>
      <p:sp>
        <p:nvSpPr>
          <p:cNvPr id="17" name="origin-b-3">
            <a:extLst xmlns:a="http://schemas.openxmlformats.org/drawingml/2006/main">
              <a:ext uri="{FF2B5EF4-FFF2-40B4-BE49-F238E27FC236}">
                <a16:creationId xmlns:a16="http://schemas.microsoft.com/office/drawing/2014/main" id="{52402B59-9C0F-46D1-A453-7B75D58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76725"/>
            <a:ext cx="27241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ncnn、Sentis 与 MNN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作为模型来源接入，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共享统一 IR、能力与验证。</a:t>
            </a:r>
          </a:p>
        </p:txBody>
      </p:sp>
      <p:sp>
        <p:nvSpPr>
          <p:cNvPr id="18" name="origin-takeaway">
            <a:extLst xmlns:a="http://schemas.openxmlformats.org/drawingml/2006/main">
              <a:ext uri="{FF2B5EF4-FFF2-40B4-BE49-F238E27FC236}">
                <a16:creationId xmlns:a16="http://schemas.microsoft.com/office/drawing/2014/main" id="{75B04276-CE17-4F70-9FBB-046D3B05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53075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19" name="origin-takeaway-text">
            <a:extLst xmlns:a="http://schemas.openxmlformats.org/drawingml/2006/main">
              <a:ext uri="{FF2B5EF4-FFF2-40B4-BE49-F238E27FC236}">
                <a16:creationId xmlns:a16="http://schemas.microsoft.com/office/drawing/2014/main" id="{28EE6FF6-6FB6-4885-AED9-9A3A3087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05475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关键转变：从“某个 runner 能跑”升级为“多个来源的模型可复用、可验证、可推广”。</a:t>
            </a:r>
          </a:p>
        </p:txBody>
      </p:sp>
      <p:cxnSp>
        <p:nvCxnSpPr>
          <p:cNvPr id="82" name="footer-rule-2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2">
            <a:extLst xmlns:a="http://schemas.openxmlformats.org/drawingml/2006/main">
              <a:ext uri="{FF2B5EF4-FFF2-40B4-BE49-F238E27FC236}">
                <a16:creationId xmlns:a16="http://schemas.microsoft.com/office/drawing/2014/main" id="{B5A239AE-F4EF-4255-9A9B-E96CADBF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2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2133E352-4F07-45A1-A5F1-DDA91E69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11278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3">
            <a:extLst xmlns:a="http://schemas.openxmlformats.org/drawingml/2006/main">
              <a:ext uri="{FF2B5EF4-FFF2-40B4-BE49-F238E27FC236}">
                <a16:creationId xmlns:a16="http://schemas.microsoft.com/office/drawing/2014/main" id="{F0720BF9-9F3B-49F7-BFF1-8BDC76E7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ENGINE VALUE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1698BA9-B65B-416C-B842-18E044EC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引擎的价值是统一能力，而不是堆叠单点 runner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33857737-33AF-42DD-9610-ECD0982C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90" name="header-rule-3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reality-lede">
            <a:extLst xmlns:a="http://schemas.openxmlformats.org/drawingml/2006/main">
              <a:ext uri="{FF2B5EF4-FFF2-40B4-BE49-F238E27FC236}">
                <a16:creationId xmlns:a16="http://schemas.microsoft.com/office/drawing/2014/main" id="{86007479-F1BD-4F85-965D-76CAE693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现有工程已积累模型解析、算子实现和真实 runner 验证；端侧推理引擎负责把它们收敛为可交付的共同底座。</a:t>
            </a:r>
          </a:p>
        </p:txBody>
      </p:sp>
      <p:sp>
        <p:nvSpPr>
          <p:cNvPr id="6" name="reality-1-panel">
            <a:extLst xmlns:a="http://schemas.openxmlformats.org/drawingml/2006/main">
              <a:ext uri="{FF2B5EF4-FFF2-40B4-BE49-F238E27FC236}">
                <a16:creationId xmlns:a16="http://schemas.microsoft.com/office/drawing/2014/main" id="{263F8B5B-7A12-47E2-8D1B-496D6375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33718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7" name="reality-1-accent">
            <a:extLst xmlns:a="http://schemas.openxmlformats.org/drawingml/2006/main">
              <a:ext uri="{FF2B5EF4-FFF2-40B4-BE49-F238E27FC236}">
                <a16:creationId xmlns:a16="http://schemas.microsoft.com/office/drawing/2014/main" id="{C978BE9F-85EF-4B6D-A613-68C4ACAB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571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8" name="reality-1-title">
            <a:extLst xmlns:a="http://schemas.openxmlformats.org/drawingml/2006/main">
              <a:ext uri="{FF2B5EF4-FFF2-40B4-BE49-F238E27FC236}">
                <a16:creationId xmlns:a16="http://schemas.microsoft.com/office/drawing/2014/main" id="{1E9DF600-AF2C-4938-B9E2-A2DE4FFC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297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64 / 64</a:t>
            </a:r>
          </a:p>
        </p:txBody>
      </p:sp>
      <p:sp>
        <p:nvSpPr>
          <p:cNvPr id="9" name="reality-1-body">
            <a:extLst xmlns:a="http://schemas.openxmlformats.org/drawingml/2006/main">
              <a:ext uri="{FF2B5EF4-FFF2-40B4-BE49-F238E27FC236}">
                <a16:creationId xmlns:a16="http://schemas.microsoft.com/office/drawing/2014/main" id="{3DFE6E66-11C0-4862-8350-729CA454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971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官方 ncnn Vulkan 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均已有注册入口。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模型图可被识别与映射。</a:t>
            </a:r>
          </a:p>
        </p:txBody>
      </p:sp>
      <p:sp>
        <p:nvSpPr>
          <p:cNvPr id="10" name="reality-2-panel">
            <a:extLst xmlns:a="http://schemas.openxmlformats.org/drawingml/2006/main">
              <a:ext uri="{FF2B5EF4-FFF2-40B4-BE49-F238E27FC236}">
                <a16:creationId xmlns:a16="http://schemas.microsoft.com/office/drawing/2014/main" id="{5D1BDF9F-3AA6-4BDA-835B-21982A31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33625"/>
            <a:ext cx="33718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reality-2-accent">
            <a:extLst xmlns:a="http://schemas.openxmlformats.org/drawingml/2006/main">
              <a:ext uri="{FF2B5EF4-FFF2-40B4-BE49-F238E27FC236}">
                <a16:creationId xmlns:a16="http://schemas.microsoft.com/office/drawing/2014/main" id="{1A6A2F26-EDF3-4BC2-A3E8-5D8D54F1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33625"/>
            <a:ext cx="571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11"/>
          </a:solidFill>
          <a:ln xmlns:a="http://schemas.openxmlformats.org/drawingml/2006/main" w="9525">
            <a:solidFill>
              <a:srgbClr val="D59A11"/>
            </a:solidFill>
            <a:prstDash val="solid"/>
          </a:ln>
        </p:spPr>
      </p:sp>
      <p:sp>
        <p:nvSpPr>
          <p:cNvPr id="12" name="reality-2-title">
            <a:extLst xmlns:a="http://schemas.openxmlformats.org/drawingml/2006/main">
              <a:ext uri="{FF2B5EF4-FFF2-40B4-BE49-F238E27FC236}">
                <a16:creationId xmlns:a16="http://schemas.microsoft.com/office/drawing/2014/main" id="{F9C135C6-94E9-4A9C-8150-DD2B2DA8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297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13" name="reality-2-body">
            <a:extLst xmlns:a="http://schemas.openxmlformats.org/drawingml/2006/main">
              <a:ext uri="{FF2B5EF4-FFF2-40B4-BE49-F238E27FC236}">
                <a16:creationId xmlns:a16="http://schemas.microsoft.com/office/drawing/2014/main" id="{D94CAAA4-6705-4F05-9A1C-BD806F8F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2971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当前层注册入口总数。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覆盖 ncnn、PNNX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及 Sentis / ONNX 扩展。</a:t>
            </a:r>
          </a:p>
        </p:txBody>
      </p:sp>
      <p:sp>
        <p:nvSpPr>
          <p:cNvPr id="14" name="reality-3-panel">
            <a:extLst xmlns:a="http://schemas.openxmlformats.org/drawingml/2006/main">
              <a:ext uri="{FF2B5EF4-FFF2-40B4-BE49-F238E27FC236}">
                <a16:creationId xmlns:a16="http://schemas.microsoft.com/office/drawing/2014/main" id="{8BF4BBE9-E50D-43C5-B19A-000CCCE6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33718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reality-3-accent">
            <a:extLst xmlns:a="http://schemas.openxmlformats.org/drawingml/2006/main">
              <a:ext uri="{FF2B5EF4-FFF2-40B4-BE49-F238E27FC236}">
                <a16:creationId xmlns:a16="http://schemas.microsoft.com/office/drawing/2014/main" id="{C66CDE36-156D-40D0-BF19-3971F888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571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6" name="reality-3-title">
            <a:extLst xmlns:a="http://schemas.openxmlformats.org/drawingml/2006/main">
              <a:ext uri="{FF2B5EF4-FFF2-40B4-BE49-F238E27FC236}">
                <a16:creationId xmlns:a16="http://schemas.microsoft.com/office/drawing/2014/main" id="{104361AE-05E5-46E1-BAFC-A4E414C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05075"/>
            <a:ext cx="297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reality-3-body">
            <a:extLst xmlns:a="http://schemas.openxmlformats.org/drawingml/2006/main">
              <a:ext uri="{FF2B5EF4-FFF2-40B4-BE49-F238E27FC236}">
                <a16:creationId xmlns:a16="http://schemas.microsoft.com/office/drawing/2014/main" id="{4023351E-A835-4007-9A94-A8A39E62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971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随引擎附带的应用方向。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AIImage、教育、游戏、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医学、药学。</a:t>
            </a:r>
          </a:p>
        </p:txBody>
      </p:sp>
      <p:cxnSp>
        <p:nvCxnSpPr>
          <p:cNvPr id="104" name="reality-flow"/>
          <p:cNvCxnSpPr/>
          <p:nvPr/>
        </p:nvCxnSpPr>
        <p:spPr>
          <a:xfrm xmlns:a="http://schemas.openxmlformats.org/drawingml/2006/main">
            <a:off x="1524000" y="5095875"/>
            <a:ext cx="9144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sp>
        <p:nvSpPr>
          <p:cNvPr id="19" name="reality-dot-1">
            <a:extLst xmlns:a="http://schemas.openxmlformats.org/drawingml/2006/main">
              <a:ext uri="{FF2B5EF4-FFF2-40B4-BE49-F238E27FC236}">
                <a16:creationId xmlns:a16="http://schemas.microsoft.com/office/drawing/2014/main" id="{0406AE5C-5A4F-4988-A202-7EDA3912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19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20" name="reality-dot-2">
            <a:extLst xmlns:a="http://schemas.openxmlformats.org/drawingml/2006/main">
              <a:ext uri="{FF2B5EF4-FFF2-40B4-BE49-F238E27FC236}">
                <a16:creationId xmlns:a16="http://schemas.microsoft.com/office/drawing/2014/main" id="{E520A780-DB29-4121-BD8D-F3CD9581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19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A11"/>
          </a:solidFill>
          <a:ln xmlns:a="http://schemas.openxmlformats.org/drawingml/2006/main" w="9525">
            <a:solidFill>
              <a:srgbClr val="D59A11"/>
            </a:solidFill>
            <a:prstDash val="solid"/>
          </a:ln>
        </p:spPr>
      </p:sp>
      <p:sp>
        <p:nvSpPr>
          <p:cNvPr id="21" name="reality-dot-3">
            <a:extLst xmlns:a="http://schemas.openxmlformats.org/drawingml/2006/main">
              <a:ext uri="{FF2B5EF4-FFF2-40B4-BE49-F238E27FC236}">
                <a16:creationId xmlns:a16="http://schemas.microsoft.com/office/drawing/2014/main" id="{09415052-64C8-4EA1-BAAD-2E49D0A4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19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22" name="reality-dot-4">
            <a:extLst xmlns:a="http://schemas.openxmlformats.org/drawingml/2006/main">
              <a:ext uri="{FF2B5EF4-FFF2-40B4-BE49-F238E27FC236}">
                <a16:creationId xmlns:a16="http://schemas.microsoft.com/office/drawing/2014/main" id="{0609A278-3C23-4AF0-B78C-CFABA9A1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019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23" name="reality-flow-1">
            <a:extLst xmlns:a="http://schemas.openxmlformats.org/drawingml/2006/main">
              <a:ext uri="{FF2B5EF4-FFF2-40B4-BE49-F238E27FC236}">
                <a16:creationId xmlns:a16="http://schemas.microsoft.com/office/drawing/2014/main" id="{84608DD3-8410-4977-B9C8-99510467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149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模型来源</a:t>
            </a:r>
          </a:p>
        </p:txBody>
      </p:sp>
      <p:sp>
        <p:nvSpPr>
          <p:cNvPr id="24" name="reality-flow-2">
            <a:extLst xmlns:a="http://schemas.openxmlformats.org/drawingml/2006/main">
              <a:ext uri="{FF2B5EF4-FFF2-40B4-BE49-F238E27FC236}">
                <a16:creationId xmlns:a16="http://schemas.microsoft.com/office/drawing/2014/main" id="{F0B0B437-AD61-4859-A575-7B975787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14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统一 IR</a:t>
            </a:r>
          </a:p>
        </p:txBody>
      </p:sp>
      <p:sp>
        <p:nvSpPr>
          <p:cNvPr id="25" name="reality-flow-3">
            <a:extLst xmlns:a="http://schemas.openxmlformats.org/drawingml/2006/main">
              <a:ext uri="{FF2B5EF4-FFF2-40B4-BE49-F238E27FC236}">
                <a16:creationId xmlns:a16="http://schemas.microsoft.com/office/drawing/2014/main" id="{557B4DF1-491F-480E-BE88-AB6E7249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4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能力验证</a:t>
            </a:r>
          </a:p>
        </p:txBody>
      </p:sp>
      <p:sp>
        <p:nvSpPr>
          <p:cNvPr id="26" name="reality-flow-4">
            <a:extLst xmlns:a="http://schemas.openxmlformats.org/drawingml/2006/main">
              <a:ext uri="{FF2B5EF4-FFF2-40B4-BE49-F238E27FC236}">
                <a16:creationId xmlns:a16="http://schemas.microsoft.com/office/drawing/2014/main" id="{B967388A-A9EE-4B52-95F0-CA6691FB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3149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领域结果</a:t>
            </a:r>
          </a:p>
        </p:txBody>
      </p:sp>
      <p:sp>
        <p:nvSpPr>
          <p:cNvPr id="27" name="reality-definition">
            <a:extLst xmlns:a="http://schemas.openxmlformats.org/drawingml/2006/main">
              <a:ext uri="{FF2B5EF4-FFF2-40B4-BE49-F238E27FC236}">
                <a16:creationId xmlns:a16="http://schemas.microsoft.com/office/drawing/2014/main" id="{E5593363-70A7-4E11-A28A-4D04B459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产品定义：每一次模型接入，都能说明输入、输出、支持范围、验证证据与可消费的业务结果。</a:t>
            </a:r>
          </a:p>
        </p:txBody>
      </p:sp>
      <p:cxnSp>
        <p:nvCxnSpPr>
          <p:cNvPr id="114" name="footer-rule-3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9" name="footer-3">
            <a:extLst xmlns:a="http://schemas.openxmlformats.org/drawingml/2006/main">
              <a:ext uri="{FF2B5EF4-FFF2-40B4-BE49-F238E27FC236}">
                <a16:creationId xmlns:a16="http://schemas.microsoft.com/office/drawing/2014/main" id="{2396C59B-E877-4FE5-AD8B-BB3C45CE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30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A1CE247A-2511-4044-B759-86F0507A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9716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4">
            <a:extLst xmlns:a="http://schemas.openxmlformats.org/drawingml/2006/main">
              <a:ext uri="{FF2B5EF4-FFF2-40B4-BE49-F238E27FC236}">
                <a16:creationId xmlns:a16="http://schemas.microsoft.com/office/drawing/2014/main" id="{20FFDB2A-F90B-4B8B-B8AE-4EED0A6A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728D52A-99BF-4B36-B141-DA0F2436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不同模型格式进入同一张图，输出统一的业务结果契约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EFBFD49C-BCC1-44D4-8F16-11E1130D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126" name="header-rule-4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cxnSp>
        <p:nvCxnSpPr>
          <p:cNvPr id="127" name="arch-line-a"/>
          <p:cNvCxnSpPr/>
          <p:nvPr/>
        </p:nvCxnSpPr>
        <p:spPr>
          <a:xfrm xmlns:a="http://schemas.openxmlformats.org/drawingml/2006/main">
            <a:off x="6096000" y="2381250"/>
            <a:ext cx="9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cxnSp>
        <p:nvCxnSpPr>
          <p:cNvPr id="128" name="arch-line-b"/>
          <p:cNvCxnSpPr/>
          <p:nvPr/>
        </p:nvCxnSpPr>
        <p:spPr>
          <a:xfrm xmlns:a="http://schemas.openxmlformats.org/drawingml/2006/main">
            <a:off x="6096000" y="3295650"/>
            <a:ext cx="9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cxnSp>
        <p:nvCxnSpPr>
          <p:cNvPr id="129" name="arch-line-c"/>
          <p:cNvCxnSpPr/>
          <p:nvPr/>
        </p:nvCxnSpPr>
        <p:spPr>
          <a:xfrm xmlns:a="http://schemas.openxmlformats.org/drawingml/2006/main">
            <a:off x="6096000" y="4210050"/>
            <a:ext cx="9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cxnSp>
        <p:nvCxnSpPr>
          <p:cNvPr id="130" name="arch-line-d"/>
          <p:cNvCxnSpPr/>
          <p:nvPr/>
        </p:nvCxnSpPr>
        <p:spPr>
          <a:xfrm xmlns:a="http://schemas.openxmlformats.org/drawingml/2006/main">
            <a:off x="6096000" y="5124450"/>
            <a:ext cx="9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cxnSp>
        <p:nvCxnSpPr>
          <p:cNvPr id="131" name="arch-source-line"/>
          <p:cNvCxnSpPr/>
          <p:nvPr/>
        </p:nvCxnSpPr>
        <p:spPr>
          <a:xfrm xmlns:a="http://schemas.openxmlformats.org/drawingml/2006/main">
            <a:off x="2266950" y="1952625"/>
            <a:ext cx="76581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cxnSp>
        <p:nvCxnSpPr>
          <p:cNvPr id="132" name="arch-domain-line"/>
          <p:cNvCxnSpPr/>
          <p:nvPr/>
        </p:nvCxnSpPr>
        <p:spPr>
          <a:xfrm xmlns:a="http://schemas.openxmlformats.org/drawingml/2006/main">
            <a:off x="1143000" y="5934075"/>
            <a:ext cx="9867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11" name="arch-src-1-panel">
            <a:extLst xmlns:a="http://schemas.openxmlformats.org/drawingml/2006/main">
              <a:ext uri="{FF2B5EF4-FFF2-40B4-BE49-F238E27FC236}">
                <a16:creationId xmlns:a16="http://schemas.microsoft.com/office/drawing/2014/main" id="{0BF6E589-A872-4A61-94E9-24B804BE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2" name="arch-src-1-accent">
            <a:extLst xmlns:a="http://schemas.openxmlformats.org/drawingml/2006/main">
              <a:ext uri="{FF2B5EF4-FFF2-40B4-BE49-F238E27FC236}">
                <a16:creationId xmlns:a16="http://schemas.microsoft.com/office/drawing/2014/main" id="{A8DB2156-144B-413B-83EA-F5455166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3" name="arch-src-1-title">
            <a:extLst xmlns:a="http://schemas.openxmlformats.org/drawingml/2006/main">
              <a:ext uri="{FF2B5EF4-FFF2-40B4-BE49-F238E27FC236}">
                <a16:creationId xmlns:a16="http://schemas.microsoft.com/office/drawing/2014/main" id="{0F5EE1F3-33F6-43AA-B8A4-5DDAE519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ncnn</a:t>
            </a:r>
          </a:p>
        </p:txBody>
      </p:sp>
      <p:sp>
        <p:nvSpPr>
          <p:cNvPr id="14" name="arch-src-1-body">
            <a:extLst xmlns:a="http://schemas.openxmlformats.org/drawingml/2006/main">
              <a:ext uri="{FF2B5EF4-FFF2-40B4-BE49-F238E27FC236}">
                <a16:creationId xmlns:a16="http://schemas.microsoft.com/office/drawing/2014/main" id="{6F00EA2F-2482-494E-90B9-BD040EDA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.param / .bin / PNNX</a:t>
            </a:r>
          </a:p>
        </p:txBody>
      </p:sp>
      <p:sp>
        <p:nvSpPr>
          <p:cNvPr id="15" name="arch-src-2-panel">
            <a:extLst xmlns:a="http://schemas.openxmlformats.org/drawingml/2006/main">
              <a:ext uri="{FF2B5EF4-FFF2-40B4-BE49-F238E27FC236}">
                <a16:creationId xmlns:a16="http://schemas.microsoft.com/office/drawing/2014/main" id="{9038729C-BF8F-456D-A279-02EC397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6" name="arch-src-2-accent">
            <a:extLst xmlns:a="http://schemas.openxmlformats.org/drawingml/2006/main">
              <a:ext uri="{FF2B5EF4-FFF2-40B4-BE49-F238E27FC236}">
                <a16:creationId xmlns:a16="http://schemas.microsoft.com/office/drawing/2014/main" id="{D48FD191-C7AE-4F9C-9DE6-24882E97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7" name="arch-src-2-title">
            <a:extLst xmlns:a="http://schemas.openxmlformats.org/drawingml/2006/main">
              <a:ext uri="{FF2B5EF4-FFF2-40B4-BE49-F238E27FC236}">
                <a16:creationId xmlns:a16="http://schemas.microsoft.com/office/drawing/2014/main" id="{DDA5625E-5FF7-45EF-8761-277928CF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859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ONNX / Sentis</a:t>
            </a:r>
          </a:p>
        </p:txBody>
      </p:sp>
      <p:sp>
        <p:nvSpPr>
          <p:cNvPr id="18" name="arch-src-2-body">
            <a:extLst xmlns:a="http://schemas.openxmlformats.org/drawingml/2006/main">
              <a:ext uri="{FF2B5EF4-FFF2-40B4-BE49-F238E27FC236}">
                <a16:creationId xmlns:a16="http://schemas.microsoft.com/office/drawing/2014/main" id="{062E92A0-B30F-458D-ACDF-EDDB6FE2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716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图结构与算子生态</a:t>
            </a:r>
          </a:p>
        </p:txBody>
      </p:sp>
      <p:sp>
        <p:nvSpPr>
          <p:cNvPr id="19" name="arch-src-3-panel">
            <a:extLst xmlns:a="http://schemas.openxmlformats.org/drawingml/2006/main">
              <a:ext uri="{FF2B5EF4-FFF2-40B4-BE49-F238E27FC236}">
                <a16:creationId xmlns:a16="http://schemas.microsoft.com/office/drawing/2014/main" id="{4149B03D-DE59-4AE7-8C7D-A9BCEA93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621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0" name="arch-src-3-accent">
            <a:extLst xmlns:a="http://schemas.openxmlformats.org/drawingml/2006/main">
              <a:ext uri="{FF2B5EF4-FFF2-40B4-BE49-F238E27FC236}">
                <a16:creationId xmlns:a16="http://schemas.microsoft.com/office/drawing/2014/main" id="{A4A864B1-F31A-48A8-91C7-91059233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621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21" name="arch-src-3-title">
            <a:extLst xmlns:a="http://schemas.openxmlformats.org/drawingml/2006/main">
              <a:ext uri="{FF2B5EF4-FFF2-40B4-BE49-F238E27FC236}">
                <a16:creationId xmlns:a16="http://schemas.microsoft.com/office/drawing/2014/main" id="{7151C138-28CA-44BA-9E9C-404D6E2F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859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MNN</a:t>
            </a:r>
          </a:p>
        </p:txBody>
      </p:sp>
      <p:sp>
        <p:nvSpPr>
          <p:cNvPr id="22" name="arch-src-3-body">
            <a:extLst xmlns:a="http://schemas.openxmlformats.org/drawingml/2006/main">
              <a:ext uri="{FF2B5EF4-FFF2-40B4-BE49-F238E27FC236}">
                <a16:creationId xmlns:a16="http://schemas.microsoft.com/office/drawing/2014/main" id="{00001156-A898-4657-8580-D87FA65F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716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移动模型与量化生态</a:t>
            </a:r>
          </a:p>
        </p:txBody>
      </p:sp>
      <p:sp>
        <p:nvSpPr>
          <p:cNvPr id="23" name="arch-import-panel">
            <a:extLst xmlns:a="http://schemas.openxmlformats.org/drawingml/2006/main">
              <a:ext uri="{FF2B5EF4-FFF2-40B4-BE49-F238E27FC236}">
                <a16:creationId xmlns:a16="http://schemas.microsoft.com/office/drawing/2014/main" id="{17F12CE5-9E48-4AA5-A664-47F37D70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0325"/>
            <a:ext cx="480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4" name="arch-import-accent">
            <a:extLst xmlns:a="http://schemas.openxmlformats.org/drawingml/2006/main">
              <a:ext uri="{FF2B5EF4-FFF2-40B4-BE49-F238E27FC236}">
                <a16:creationId xmlns:a16="http://schemas.microsoft.com/office/drawing/2014/main" id="{C0630740-A0B7-4F50-8A85-38D3C302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0325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25" name="arch-import-title">
            <a:extLst xmlns:a="http://schemas.openxmlformats.org/drawingml/2006/main">
              <a:ext uri="{FF2B5EF4-FFF2-40B4-BE49-F238E27FC236}">
                <a16:creationId xmlns:a16="http://schemas.microsoft.com/office/drawing/2014/main" id="{430CDFCF-753D-4D12-ACDB-F5064586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格式适配 + ModelManifest</a:t>
            </a:r>
          </a:p>
        </p:txBody>
      </p:sp>
      <p:sp>
        <p:nvSpPr>
          <p:cNvPr id="26" name="arch-import-body">
            <a:extLst xmlns:a="http://schemas.openxmlformats.org/drawingml/2006/main">
              <a:ext uri="{FF2B5EF4-FFF2-40B4-BE49-F238E27FC236}">
                <a16:creationId xmlns:a16="http://schemas.microsoft.com/office/drawing/2014/main" id="{52395654-6480-403C-91CF-C900B5FC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990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版本、输入、输出、标签、许可、性能档</a:t>
            </a:r>
          </a:p>
        </p:txBody>
      </p:sp>
      <p:sp>
        <p:nvSpPr>
          <p:cNvPr id="27" name="arch-ir-panel">
            <a:extLst xmlns:a="http://schemas.openxmlformats.org/drawingml/2006/main">
              <a:ext uri="{FF2B5EF4-FFF2-40B4-BE49-F238E27FC236}">
                <a16:creationId xmlns:a16="http://schemas.microsoft.com/office/drawing/2014/main" id="{51FD1C2F-C782-4FDD-A2AB-7A17DE8F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14725"/>
            <a:ext cx="480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8" name="arch-ir-accent">
            <a:extLst xmlns:a="http://schemas.openxmlformats.org/drawingml/2006/main">
              <a:ext uri="{FF2B5EF4-FFF2-40B4-BE49-F238E27FC236}">
                <a16:creationId xmlns:a16="http://schemas.microsoft.com/office/drawing/2014/main" id="{A75B56F7-4673-44AC-AB24-0DFC0AB0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14725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9" name="arch-ir-title">
            <a:extLst xmlns:a="http://schemas.openxmlformats.org/drawingml/2006/main">
              <a:ext uri="{FF2B5EF4-FFF2-40B4-BE49-F238E27FC236}">
                <a16:creationId xmlns:a16="http://schemas.microsoft.com/office/drawing/2014/main" id="{1D6A68B5-7F5F-4B1B-9CEE-1C6F9C13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统一图 IR</a:t>
            </a:r>
          </a:p>
        </p:txBody>
      </p:sp>
      <p:sp>
        <p:nvSpPr>
          <p:cNvPr id="30" name="arch-ir-body">
            <a:extLst xmlns:a="http://schemas.openxmlformats.org/drawingml/2006/main">
              <a:ext uri="{FF2B5EF4-FFF2-40B4-BE49-F238E27FC236}">
                <a16:creationId xmlns:a16="http://schemas.microsoft.com/office/drawing/2014/main" id="{6FBC3B24-7CF6-4F95-BEAD-75744CBE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2430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算子、形状、精度、编排与能力报告</a:t>
            </a:r>
          </a:p>
        </p:txBody>
      </p:sp>
      <p:sp>
        <p:nvSpPr>
          <p:cNvPr id="31" name="arch-backend-panel">
            <a:extLst xmlns:a="http://schemas.openxmlformats.org/drawingml/2006/main">
              <a:ext uri="{FF2B5EF4-FFF2-40B4-BE49-F238E27FC236}">
                <a16:creationId xmlns:a16="http://schemas.microsoft.com/office/drawing/2014/main" id="{8CD9F597-D4FC-4C99-AAF5-426BA861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29125"/>
            <a:ext cx="5981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2" name="arch-backend-accent">
            <a:extLst xmlns:a="http://schemas.openxmlformats.org/drawingml/2006/main">
              <a:ext uri="{FF2B5EF4-FFF2-40B4-BE49-F238E27FC236}">
                <a16:creationId xmlns:a16="http://schemas.microsoft.com/office/drawing/2014/main" id="{D299D1C7-FBDC-481A-8E7D-FA14653A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29125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33" name="arch-backend-title">
            <a:extLst xmlns:a="http://schemas.openxmlformats.org/drawingml/2006/main">
              <a:ext uri="{FF2B5EF4-FFF2-40B4-BE49-F238E27FC236}">
                <a16:creationId xmlns:a16="http://schemas.microsoft.com/office/drawing/2014/main" id="{3564526A-D637-4F87-9D7D-90AD527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558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统一端侧执行引擎</a:t>
            </a:r>
          </a:p>
        </p:txBody>
      </p:sp>
      <p:sp>
        <p:nvSpPr>
          <p:cNvPr id="34" name="arch-backend-body">
            <a:extLst xmlns:a="http://schemas.openxmlformats.org/drawingml/2006/main">
              <a:ext uri="{FF2B5EF4-FFF2-40B4-BE49-F238E27FC236}">
                <a16:creationId xmlns:a16="http://schemas.microsoft.com/office/drawing/2014/main" id="{D0498594-7D0A-49B6-BC0F-C5642702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38700"/>
            <a:ext cx="558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算子库、图编排、资源调度、量化、性能分析、错误诊断</a:t>
            </a:r>
          </a:p>
        </p:txBody>
      </p:sp>
      <p:sp>
        <p:nvSpPr>
          <p:cNvPr id="35" name="arch-output-panel">
            <a:extLst xmlns:a="http://schemas.openxmlformats.org/drawingml/2006/main">
              <a:ext uri="{FF2B5EF4-FFF2-40B4-BE49-F238E27FC236}">
                <a16:creationId xmlns:a16="http://schemas.microsoft.com/office/drawing/2014/main" id="{43367CFB-CB6C-4953-8BE3-9BB7235C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3435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6" name="arch-output-accent">
            <a:extLst xmlns:a="http://schemas.openxmlformats.org/drawingml/2006/main">
              <a:ext uri="{FF2B5EF4-FFF2-40B4-BE49-F238E27FC236}">
                <a16:creationId xmlns:a16="http://schemas.microsoft.com/office/drawing/2014/main" id="{57889BB0-AA6D-4712-952B-D5C721DD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34352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37" name="arch-output-title">
            <a:extLst xmlns:a="http://schemas.openxmlformats.org/drawingml/2006/main">
              <a:ext uri="{FF2B5EF4-FFF2-40B4-BE49-F238E27FC236}">
                <a16:creationId xmlns:a16="http://schemas.microsoft.com/office/drawing/2014/main" id="{788B9849-0EB7-4C8E-AD0E-A2BB6D56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673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结果契约 + 可视化产物</a:t>
            </a:r>
          </a:p>
        </p:txBody>
      </p:sp>
      <p:sp>
        <p:nvSpPr>
          <p:cNvPr id="38" name="arch-domains-label">
            <a:extLst xmlns:a="http://schemas.openxmlformats.org/drawingml/2006/main">
              <a:ext uri="{FF2B5EF4-FFF2-40B4-BE49-F238E27FC236}">
                <a16:creationId xmlns:a16="http://schemas.microsoft.com/office/drawing/2014/main" id="{B5557E87-2783-4D37-869A-F85FB8D1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领域包在引擎之上组合，业务规则不进入核心</a:t>
            </a:r>
          </a:p>
        </p:txBody>
      </p:sp>
      <p:sp>
        <p:nvSpPr>
          <p:cNvPr id="39" name="arch-domains">
            <a:extLst xmlns:a="http://schemas.openxmlformats.org/drawingml/2006/main">
              <a:ext uri="{FF2B5EF4-FFF2-40B4-BE49-F238E27FC236}">
                <a16:creationId xmlns:a16="http://schemas.microsoft.com/office/drawing/2014/main" id="{B65BC400-7645-48AF-A7C6-FC9E1BE1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96000"/>
            <a:ext cx="624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AIImage  |  医学 MONAI / VISTA  |  游戏 AR  |  教育 Vibe Coding  |  药学 Docking</a:t>
            </a:r>
          </a:p>
        </p:txBody>
      </p:sp>
      <p:cxnSp>
        <p:nvCxnSpPr>
          <p:cNvPr id="162" name="footer-rule-4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41" name="footer-4">
            <a:extLst xmlns:a="http://schemas.openxmlformats.org/drawingml/2006/main">
              <a:ext uri="{FF2B5EF4-FFF2-40B4-BE49-F238E27FC236}">
                <a16:creationId xmlns:a16="http://schemas.microsoft.com/office/drawing/2014/main" id="{3ECDDDF8-95ED-4C1A-AD0C-FF45C98E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42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BAA662C8-B672-401F-A44C-9D6A8A31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45694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5">
            <a:extLst xmlns:a="http://schemas.openxmlformats.org/drawingml/2006/main">
              <a:ext uri="{FF2B5EF4-FFF2-40B4-BE49-F238E27FC236}">
                <a16:creationId xmlns:a16="http://schemas.microsoft.com/office/drawing/2014/main" id="{5A2B6F1D-CF31-430F-9B34-9B2E822E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CORE CAPABILITIES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BA54E27-4111-474E-965D-31D6BF73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引擎交付的是一套可接入、可运行、可验证的通用能力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4993DDAF-4B43-426E-AB5B-B580D1C5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cxnSp>
        <p:nvCxnSpPr>
          <p:cNvPr id="111" name="header-rule-5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contract-lede">
            <a:extLst xmlns:a="http://schemas.openxmlformats.org/drawingml/2006/main">
              <a:ext uri="{FF2B5EF4-FFF2-40B4-BE49-F238E27FC236}">
                <a16:creationId xmlns:a16="http://schemas.microsoft.com/office/drawing/2014/main" id="{FFBE4114-5C90-4FAB-A4D6-CE53B01A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面向业务方的接口不暴露底层执行细节，而是保证模型可管理、结果可消费、问题可定位。</a:t>
            </a:r>
          </a:p>
        </p:txBody>
      </p:sp>
      <p:sp>
        <p:nvSpPr>
          <p:cNvPr id="6" name="contract-side">
            <a:extLst xmlns:a="http://schemas.openxmlformats.org/drawingml/2006/main">
              <a:ext uri="{FF2B5EF4-FFF2-40B4-BE49-F238E27FC236}">
                <a16:creationId xmlns:a16="http://schemas.microsoft.com/office/drawing/2014/main" id="{28EF7608-5388-4790-9B96-AFB66BA7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543050"/>
            <a:ext cx="334327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7" name="contract-side-title">
            <a:extLst xmlns:a="http://schemas.openxmlformats.org/drawingml/2006/main">
              <a:ext uri="{FF2B5EF4-FFF2-40B4-BE49-F238E27FC236}">
                <a16:creationId xmlns:a16="http://schemas.microsoft.com/office/drawing/2014/main" id="{B496D1BD-E41D-439E-B1FE-3D4B95BF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8595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推理会话</a:t>
            </a:r>
          </a:p>
        </p:txBody>
      </p:sp>
      <p:cxnSp>
        <p:nvCxnSpPr>
          <p:cNvPr id="115" name="contract-side-rule"/>
          <p:cNvCxnSpPr/>
          <p:nvPr/>
        </p:nvCxnSpPr>
        <p:spPr>
          <a:xfrm xmlns:a="http://schemas.openxmlformats.org/drawingml/2006/main">
            <a:off x="8705850" y="2419350"/>
            <a:ext cx="23336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4829B"/>
            </a:solidFill>
            <a:prstDash val="solid"/>
          </a:ln>
        </p:spPr>
      </p:cxnSp>
      <p:sp>
        <p:nvSpPr>
          <p:cNvPr id="9" name="contract-side-body">
            <a:extLst xmlns:a="http://schemas.openxmlformats.org/drawingml/2006/main">
              <a:ext uri="{FF2B5EF4-FFF2-40B4-BE49-F238E27FC236}">
                <a16:creationId xmlns:a16="http://schemas.microsoft.com/office/drawing/2014/main" id="{CD6BD7CC-7D5F-4237-A954-9422885A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05100"/>
            <a:ext cx="2571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模型、输入、输出与版本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统一由 Manifest 描述。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调用方提交数据并获得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异步结果或可直接使用的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分类、框、掩码、图像、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体数据与候选排序。</a:t>
            </a:r>
          </a:p>
        </p:txBody>
      </p:sp>
      <p:sp>
        <p:nvSpPr>
          <p:cNvPr id="10" name="contract-side-note">
            <a:extLst xmlns:a="http://schemas.openxmlformats.org/drawingml/2006/main">
              <a:ext uri="{FF2B5EF4-FFF2-40B4-BE49-F238E27FC236}">
                <a16:creationId xmlns:a16="http://schemas.microsoft.com/office/drawing/2014/main" id="{BF662EBF-9F6E-4FAF-A661-B3868320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054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EE7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E7DC"/>
                </a:solidFill>
                <a:latin typeface="Microsoft YaHei"/>
                <a:ea typeface="Microsoft YaHei"/>
                <a:cs typeface="Microsoft YaHei"/>
              </a:rPr>
              <a:t>发布证据：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8EE7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E7DC"/>
                </a:solidFill>
                <a:latin typeface="Microsoft YaHei"/>
                <a:ea typeface="Microsoft YaHei"/>
                <a:cs typeface="Microsoft YaHei"/>
              </a:rPr>
              <a:t>能力报告 + 回归结果</a:t>
            </a:r>
          </a:p>
        </p:txBody>
      </p:sp>
      <p:sp>
        <p:nvSpPr>
          <p:cNvPr id="11" name="contract-1-panel">
            <a:extLst xmlns:a="http://schemas.openxmlformats.org/drawingml/2006/main">
              <a:ext uri="{FF2B5EF4-FFF2-40B4-BE49-F238E27FC236}">
                <a16:creationId xmlns:a16="http://schemas.microsoft.com/office/drawing/2014/main" id="{DB96998B-0D8A-4202-AB8C-D5CADB31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764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2" name="contract-1-accent">
            <a:extLst xmlns:a="http://schemas.openxmlformats.org/drawingml/2006/main">
              <a:ext uri="{FF2B5EF4-FFF2-40B4-BE49-F238E27FC236}">
                <a16:creationId xmlns:a16="http://schemas.microsoft.com/office/drawing/2014/main" id="{817E5807-556F-42EC-9721-B9045178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764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3" name="contract-1-title">
            <a:extLst xmlns:a="http://schemas.openxmlformats.org/drawingml/2006/main">
              <a:ext uri="{FF2B5EF4-FFF2-40B4-BE49-F238E27FC236}">
                <a16:creationId xmlns:a16="http://schemas.microsoft.com/office/drawing/2014/main" id="{DF3A3DB6-4552-439A-BFA1-68BA4597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模型接入</a:t>
            </a:r>
          </a:p>
        </p:txBody>
      </p:sp>
      <p:sp>
        <p:nvSpPr>
          <p:cNvPr id="14" name="contract-1-body">
            <a:extLst xmlns:a="http://schemas.openxmlformats.org/drawingml/2006/main">
              <a:ext uri="{FF2B5EF4-FFF2-40B4-BE49-F238E27FC236}">
                <a16:creationId xmlns:a16="http://schemas.microsoft.com/office/drawing/2014/main" id="{94A0E73A-F5FD-4CA3-82B0-195D3744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3076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ncnn / ONNX / Sentis / MNN 适配；输入输出、标签、许可、性能档由 ModelManifest 管理。</a:t>
            </a:r>
          </a:p>
        </p:txBody>
      </p:sp>
      <p:sp>
        <p:nvSpPr>
          <p:cNvPr id="15" name="contract-2-panel">
            <a:extLst xmlns:a="http://schemas.openxmlformats.org/drawingml/2006/main">
              <a:ext uri="{FF2B5EF4-FFF2-40B4-BE49-F238E27FC236}">
                <a16:creationId xmlns:a16="http://schemas.microsoft.com/office/drawing/2014/main" id="{EFF340C0-CC01-4BDC-84A6-FBA5F810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6" name="contract-2-accent">
            <a:extLst xmlns:a="http://schemas.openxmlformats.org/drawingml/2006/main">
              <a:ext uri="{FF2B5EF4-FFF2-40B4-BE49-F238E27FC236}">
                <a16:creationId xmlns:a16="http://schemas.microsoft.com/office/drawing/2014/main" id="{837BB80C-D62B-45F3-9A83-AEBB9DF0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17" name="contract-2-title">
            <a:extLst xmlns:a="http://schemas.openxmlformats.org/drawingml/2006/main">
              <a:ext uri="{FF2B5EF4-FFF2-40B4-BE49-F238E27FC236}">
                <a16:creationId xmlns:a16="http://schemas.microsoft.com/office/drawing/2014/main" id="{A7F9ACB2-F84E-4409-BF5F-D3354720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图与算子</a:t>
            </a:r>
          </a:p>
        </p:txBody>
      </p:sp>
      <p:sp>
        <p:nvSpPr>
          <p:cNvPr id="18" name="contract-2-body">
            <a:extLst xmlns:a="http://schemas.openxmlformats.org/drawingml/2006/main">
              <a:ext uri="{FF2B5EF4-FFF2-40B4-BE49-F238E27FC236}">
                <a16:creationId xmlns:a16="http://schemas.microsoft.com/office/drawing/2014/main" id="{460373D4-B89A-4B9E-9AAA-D3F17223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3076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统一 IR、形状推导、算子库、编排与资源生命周期，避免每个 runner 重写底层能力。</a:t>
            </a:r>
          </a:p>
        </p:txBody>
      </p:sp>
      <p:sp>
        <p:nvSpPr>
          <p:cNvPr id="19" name="contract-3-panel">
            <a:extLst xmlns:a="http://schemas.openxmlformats.org/drawingml/2006/main">
              <a:ext uri="{FF2B5EF4-FFF2-40B4-BE49-F238E27FC236}">
                <a16:creationId xmlns:a16="http://schemas.microsoft.com/office/drawing/2014/main" id="{3D59FBA0-5EB5-4595-BBA8-24E6231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0" name="contract-3-accent">
            <a:extLst xmlns:a="http://schemas.openxmlformats.org/drawingml/2006/main">
              <a:ext uri="{FF2B5EF4-FFF2-40B4-BE49-F238E27FC236}">
                <a16:creationId xmlns:a16="http://schemas.microsoft.com/office/drawing/2014/main" id="{3842844B-9E5E-49E7-92BB-D5A98880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21" name="contract-3-title">
            <a:extLst xmlns:a="http://schemas.openxmlformats.org/drawingml/2006/main">
              <a:ext uri="{FF2B5EF4-FFF2-40B4-BE49-F238E27FC236}">
                <a16:creationId xmlns:a16="http://schemas.microsoft.com/office/drawing/2014/main" id="{3CF4205D-C537-44CB-A9A2-1D9B65E3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结果契约</a:t>
            </a:r>
          </a:p>
        </p:txBody>
      </p:sp>
      <p:sp>
        <p:nvSpPr>
          <p:cNvPr id="22" name="contract-3-body">
            <a:extLst xmlns:a="http://schemas.openxmlformats.org/drawingml/2006/main">
              <a:ext uri="{FF2B5EF4-FFF2-40B4-BE49-F238E27FC236}">
                <a16:creationId xmlns:a16="http://schemas.microsoft.com/office/drawing/2014/main" id="{A5B0F375-1CDE-4456-82AC-0E475E7F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3076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分类、检测框、关键点、掩码、增强图像、3D label volume 与候选排名均有明确输出定义。</a:t>
            </a:r>
          </a:p>
        </p:txBody>
      </p:sp>
      <p:sp>
        <p:nvSpPr>
          <p:cNvPr id="23" name="contract-4-panel">
            <a:extLst xmlns:a="http://schemas.openxmlformats.org/drawingml/2006/main">
              <a:ext uri="{FF2B5EF4-FFF2-40B4-BE49-F238E27FC236}">
                <a16:creationId xmlns:a16="http://schemas.microsoft.com/office/drawing/2014/main" id="{BC44F0CC-CF1B-4113-9C83-E5F48999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764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4" name="contract-4-accent">
            <a:extLst xmlns:a="http://schemas.openxmlformats.org/drawingml/2006/main">
              <a:ext uri="{FF2B5EF4-FFF2-40B4-BE49-F238E27FC236}">
                <a16:creationId xmlns:a16="http://schemas.microsoft.com/office/drawing/2014/main" id="{0B2084C7-DE2F-4E29-86DF-36900746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764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25" name="contract-4-title">
            <a:extLst xmlns:a="http://schemas.openxmlformats.org/drawingml/2006/main">
              <a:ext uri="{FF2B5EF4-FFF2-40B4-BE49-F238E27FC236}">
                <a16:creationId xmlns:a16="http://schemas.microsoft.com/office/drawing/2014/main" id="{8E87BD1F-C0AC-45AA-90E6-49074461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4792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精度与量化</a:t>
            </a:r>
          </a:p>
        </p:txBody>
      </p:sp>
      <p:sp>
        <p:nvSpPr>
          <p:cNvPr id="26" name="contract-4-body">
            <a:extLst xmlns:a="http://schemas.openxmlformats.org/drawingml/2006/main">
              <a:ext uri="{FF2B5EF4-FFF2-40B4-BE49-F238E27FC236}">
                <a16:creationId xmlns:a16="http://schemas.microsoft.com/office/drawing/2014/main" id="{87EB979C-F526-433F-9B53-BDEF213D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3076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以任务目标选择 FP32、FP16 与权重量化；把精度、内存和性能作为可登记能力。</a:t>
            </a:r>
          </a:p>
        </p:txBody>
      </p:sp>
      <p:sp>
        <p:nvSpPr>
          <p:cNvPr id="27" name="contract-5-panel">
            <a:extLst xmlns:a="http://schemas.openxmlformats.org/drawingml/2006/main">
              <a:ext uri="{FF2B5EF4-FFF2-40B4-BE49-F238E27FC236}">
                <a16:creationId xmlns:a16="http://schemas.microsoft.com/office/drawing/2014/main" id="{9B071461-3220-4A9D-AE90-D9AA40BE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8" name="contract-5-accent">
            <a:extLst xmlns:a="http://schemas.openxmlformats.org/drawingml/2006/main">
              <a:ext uri="{FF2B5EF4-FFF2-40B4-BE49-F238E27FC236}">
                <a16:creationId xmlns:a16="http://schemas.microsoft.com/office/drawing/2014/main" id="{D0FA03DE-2ACC-4264-A898-42621E8B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11"/>
          </a:solidFill>
          <a:ln xmlns:a="http://schemas.openxmlformats.org/drawingml/2006/main" w="9525">
            <a:solidFill>
              <a:srgbClr val="D59A11"/>
            </a:solidFill>
            <a:prstDash val="solid"/>
          </a:ln>
        </p:spPr>
      </p:sp>
      <p:sp>
        <p:nvSpPr>
          <p:cNvPr id="29" name="contract-5-title">
            <a:extLst xmlns:a="http://schemas.openxmlformats.org/drawingml/2006/main">
              <a:ext uri="{FF2B5EF4-FFF2-40B4-BE49-F238E27FC236}">
                <a16:creationId xmlns:a16="http://schemas.microsoft.com/office/drawing/2014/main" id="{44C95C07-925D-4183-8DA9-946FB199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4332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验证与诊断</a:t>
            </a:r>
          </a:p>
        </p:txBody>
      </p:sp>
      <p:sp>
        <p:nvSpPr>
          <p:cNvPr id="30" name="contract-5-body">
            <a:extLst xmlns:a="http://schemas.openxmlformats.org/drawingml/2006/main">
              <a:ext uri="{FF2B5EF4-FFF2-40B4-BE49-F238E27FC236}">
                <a16:creationId xmlns:a16="http://schemas.microsoft.com/office/drawing/2014/main" id="{DF2114CD-4658-41EE-AB77-02700B86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14800"/>
            <a:ext cx="3076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golden、数值误差、任务指标、性能记录与失败节点定位，形成每次模型发布的证据链。</a:t>
            </a:r>
          </a:p>
        </p:txBody>
      </p:sp>
      <p:sp>
        <p:nvSpPr>
          <p:cNvPr id="31" name="contract-6-panel">
            <a:extLst xmlns:a="http://schemas.openxmlformats.org/drawingml/2006/main">
              <a:ext uri="{FF2B5EF4-FFF2-40B4-BE49-F238E27FC236}">
                <a16:creationId xmlns:a16="http://schemas.microsoft.com/office/drawing/2014/main" id="{041B9A89-F0A9-49E3-AA5C-6CB5DAEE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672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2" name="contract-6-accent">
            <a:extLst xmlns:a="http://schemas.openxmlformats.org/drawingml/2006/main">
              <a:ext uri="{FF2B5EF4-FFF2-40B4-BE49-F238E27FC236}">
                <a16:creationId xmlns:a16="http://schemas.microsoft.com/office/drawing/2014/main" id="{3B2B6B47-4526-4FB9-8C47-9DA67641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672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33" name="contract-6-title">
            <a:extLst xmlns:a="http://schemas.openxmlformats.org/drawingml/2006/main">
              <a:ext uri="{FF2B5EF4-FFF2-40B4-BE49-F238E27FC236}">
                <a16:creationId xmlns:a16="http://schemas.microsoft.com/office/drawing/2014/main" id="{34A22BC2-0086-42FD-BE2E-F9148348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3872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领域适配</a:t>
            </a:r>
          </a:p>
        </p:txBody>
      </p:sp>
      <p:sp>
        <p:nvSpPr>
          <p:cNvPr id="34" name="contract-6-body">
            <a:extLst xmlns:a="http://schemas.openxmlformats.org/drawingml/2006/main">
              <a:ext uri="{FF2B5EF4-FFF2-40B4-BE49-F238E27FC236}">
                <a16:creationId xmlns:a16="http://schemas.microsoft.com/office/drawing/2014/main" id="{66D1D663-A598-4F7C-84C7-B17ABFF7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410200"/>
            <a:ext cx="3076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医学、教育、游戏与药学只定义业务输入输出；通用推理能力由核心引擎一次实现、持续复用。</a:t>
            </a:r>
          </a:p>
        </p:txBody>
      </p:sp>
      <p:cxnSp>
        <p:nvCxnSpPr>
          <p:cNvPr id="142" name="footer-rule-5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36" name="footer-5">
            <a:extLst xmlns:a="http://schemas.openxmlformats.org/drawingml/2006/main">
              <a:ext uri="{FF2B5EF4-FFF2-40B4-BE49-F238E27FC236}">
                <a16:creationId xmlns:a16="http://schemas.microsoft.com/office/drawing/2014/main" id="{2A47A041-43CD-42BB-8421-6A781C2D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</a:t>
            </a:r>
          </a:p>
        </p:txBody>
      </p:sp>
      <p:sp>
        <p:nvSpPr>
          <p:cNvPr id="37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0619268-CF59-46CC-B9D8-1FAC8ED1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8456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6">
            <a:extLst xmlns:a="http://schemas.openxmlformats.org/drawingml/2006/main">
              <a:ext uri="{FF2B5EF4-FFF2-40B4-BE49-F238E27FC236}">
                <a16:creationId xmlns:a16="http://schemas.microsoft.com/office/drawing/2014/main" id="{2D5B6848-C20A-4A73-8FE2-79639FCD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FORMAT EXPANSION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C395582-49D5-4424-8682-00C74D2A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从 ncnn 起步，覆盖 Sentis 与 MNN 的模型接入生态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5850B6EB-438E-4E47-952A-1835BD5F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cxnSp>
        <p:nvCxnSpPr>
          <p:cNvPr id="81" name="header-rule-6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format-lede">
            <a:extLst xmlns:a="http://schemas.openxmlformats.org/drawingml/2006/main">
              <a:ext uri="{FF2B5EF4-FFF2-40B4-BE49-F238E27FC236}">
                <a16:creationId xmlns:a16="http://schemas.microsoft.com/office/drawing/2014/main" id="{06D5FEC5-C59B-48B6-9875-D8A26BED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格式决定模型从哪里来；统一 IR 和能力报告决定它是否能以可验证方式进入端侧产品。</a:t>
            </a:r>
          </a:p>
        </p:txBody>
      </p:sp>
      <p:cxnSp>
        <p:nvCxnSpPr>
          <p:cNvPr id="83" name="format-base-line"/>
          <p:cNvCxnSpPr/>
          <p:nvPr/>
        </p:nvCxnSpPr>
        <p:spPr>
          <a:xfrm xmlns:a="http://schemas.openxmlformats.org/drawingml/2006/main">
            <a:off x="1381125" y="5286375"/>
            <a:ext cx="94297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cxnSp>
        <p:nvCxnSpPr>
          <p:cNvPr id="84" name="format-v1"/>
          <p:cNvCxnSpPr/>
          <p:nvPr/>
        </p:nvCxnSpPr>
        <p:spPr>
          <a:xfrm xmlns:a="http://schemas.openxmlformats.org/drawingml/2006/main">
            <a:off x="2409825" y="3971925"/>
            <a:ext cx="95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cxnSp>
        <p:nvCxnSpPr>
          <p:cNvPr id="85" name="format-v2"/>
          <p:cNvCxnSpPr/>
          <p:nvPr/>
        </p:nvCxnSpPr>
        <p:spPr>
          <a:xfrm xmlns:a="http://schemas.openxmlformats.org/drawingml/2006/main">
            <a:off x="6096000" y="3971925"/>
            <a:ext cx="95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cxnSp>
        <p:nvCxnSpPr>
          <p:cNvPr id="86" name="format-v3"/>
          <p:cNvCxnSpPr/>
          <p:nvPr/>
        </p:nvCxnSpPr>
        <p:spPr>
          <a:xfrm xmlns:a="http://schemas.openxmlformats.org/drawingml/2006/main">
            <a:off x="9782175" y="3971925"/>
            <a:ext cx="95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10" name="format-ncnn-panel">
            <a:extLst xmlns:a="http://schemas.openxmlformats.org/drawingml/2006/main">
              <a:ext uri="{FF2B5EF4-FFF2-40B4-BE49-F238E27FC236}">
                <a16:creationId xmlns:a16="http://schemas.microsoft.com/office/drawing/2014/main" id="{EE40F0B1-340B-40CD-A09E-F9CF427A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486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format-ncnn-accent">
            <a:extLst xmlns:a="http://schemas.openxmlformats.org/drawingml/2006/main">
              <a:ext uri="{FF2B5EF4-FFF2-40B4-BE49-F238E27FC236}">
                <a16:creationId xmlns:a16="http://schemas.microsoft.com/office/drawing/2014/main" id="{3C8C9842-53D1-43B5-A2C4-5C74D5F5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2" name="format-ncnn-title">
            <a:extLst xmlns:a="http://schemas.openxmlformats.org/drawingml/2006/main">
              <a:ext uri="{FF2B5EF4-FFF2-40B4-BE49-F238E27FC236}">
                <a16:creationId xmlns:a16="http://schemas.microsoft.com/office/drawing/2014/main" id="{FBA8337D-5A4A-451C-AB69-5E93A16E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14575"/>
            <a:ext cx="3086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ncnn</a:t>
            </a:r>
          </a:p>
        </p:txBody>
      </p:sp>
      <p:sp>
        <p:nvSpPr>
          <p:cNvPr id="13" name="format-ncnn-body">
            <a:extLst xmlns:a="http://schemas.openxmlformats.org/drawingml/2006/main">
              <a:ext uri="{FF2B5EF4-FFF2-40B4-BE49-F238E27FC236}">
                <a16:creationId xmlns:a16="http://schemas.microsoft.com/office/drawing/2014/main" id="{7ECA2A62-0658-4C72-84AF-F30FCA92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086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起源与首个成熟模型来源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已有模型、算子和 runner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验证资产可持续复用。</a:t>
            </a:r>
          </a:p>
        </p:txBody>
      </p:sp>
      <p:sp>
        <p:nvSpPr>
          <p:cNvPr id="14" name="format-sentis-panel">
            <a:extLst xmlns:a="http://schemas.openxmlformats.org/drawingml/2006/main">
              <a:ext uri="{FF2B5EF4-FFF2-40B4-BE49-F238E27FC236}">
                <a16:creationId xmlns:a16="http://schemas.microsoft.com/office/drawing/2014/main" id="{8183F561-E9D3-4B3F-999B-92E5FC44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43125"/>
            <a:ext cx="3486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format-sentis-accent">
            <a:extLst xmlns:a="http://schemas.openxmlformats.org/drawingml/2006/main">
              <a:ext uri="{FF2B5EF4-FFF2-40B4-BE49-F238E27FC236}">
                <a16:creationId xmlns:a16="http://schemas.microsoft.com/office/drawing/2014/main" id="{55335829-39B9-49EB-8C05-D5EFFCD9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43125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6" name="format-sentis-title">
            <a:extLst xmlns:a="http://schemas.openxmlformats.org/drawingml/2006/main">
              <a:ext uri="{FF2B5EF4-FFF2-40B4-BE49-F238E27FC236}">
                <a16:creationId xmlns:a16="http://schemas.microsoft.com/office/drawing/2014/main" id="{FB58133D-8D56-48F8-BA65-6B227E84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14575"/>
            <a:ext cx="3086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ONNX / Sentis</a:t>
            </a:r>
          </a:p>
        </p:txBody>
      </p:sp>
      <p:sp>
        <p:nvSpPr>
          <p:cNvPr id="17" name="format-sentis-body">
            <a:extLst xmlns:a="http://schemas.openxmlformats.org/drawingml/2006/main">
              <a:ext uri="{FF2B5EF4-FFF2-40B4-BE49-F238E27FC236}">
                <a16:creationId xmlns:a16="http://schemas.microsoft.com/office/drawing/2014/main" id="{0E36E59A-0670-4B9F-96E2-201E6950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86050"/>
            <a:ext cx="3086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面向 Unity 与通用模型生态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把图结构、形状与常见视觉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算子统一映射到内部 IR。</a:t>
            </a:r>
          </a:p>
        </p:txBody>
      </p:sp>
      <p:sp>
        <p:nvSpPr>
          <p:cNvPr id="18" name="format-mnn-panel">
            <a:extLst xmlns:a="http://schemas.openxmlformats.org/drawingml/2006/main">
              <a:ext uri="{FF2B5EF4-FFF2-40B4-BE49-F238E27FC236}">
                <a16:creationId xmlns:a16="http://schemas.microsoft.com/office/drawing/2014/main" id="{2652955B-A4DA-4883-97F1-2B10CEDF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43125"/>
            <a:ext cx="3486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9" name="format-mnn-accent">
            <a:extLst xmlns:a="http://schemas.openxmlformats.org/drawingml/2006/main">
              <a:ext uri="{FF2B5EF4-FFF2-40B4-BE49-F238E27FC236}">
                <a16:creationId xmlns:a16="http://schemas.microsoft.com/office/drawing/2014/main" id="{A0D10A41-92B8-4563-8E38-CB133CE9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43125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20" name="format-mnn-title">
            <a:extLst xmlns:a="http://schemas.openxmlformats.org/drawingml/2006/main">
              <a:ext uri="{FF2B5EF4-FFF2-40B4-BE49-F238E27FC236}">
                <a16:creationId xmlns:a16="http://schemas.microsoft.com/office/drawing/2014/main" id="{13975293-C629-4358-8D0E-911E02F7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14575"/>
            <a:ext cx="3086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MNN</a:t>
            </a:r>
          </a:p>
        </p:txBody>
      </p:sp>
      <p:sp>
        <p:nvSpPr>
          <p:cNvPr id="21" name="format-mnn-body">
            <a:extLst xmlns:a="http://schemas.openxmlformats.org/drawingml/2006/main">
              <a:ext uri="{FF2B5EF4-FFF2-40B4-BE49-F238E27FC236}">
                <a16:creationId xmlns:a16="http://schemas.microsoft.com/office/drawing/2014/main" id="{D9AE0431-8684-4AE2-A8D2-97CFAD43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3086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面向移动端模型和量化生态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通过适配或离线转换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接入同一引擎能力面。</a:t>
            </a:r>
          </a:p>
        </p:txBody>
      </p:sp>
      <p:sp>
        <p:nvSpPr>
          <p:cNvPr id="22" name="format-ir-panel">
            <a:extLst xmlns:a="http://schemas.openxmlformats.org/drawingml/2006/main">
              <a:ext uri="{FF2B5EF4-FFF2-40B4-BE49-F238E27FC236}">
                <a16:creationId xmlns:a16="http://schemas.microsoft.com/office/drawing/2014/main" id="{8E97BE26-6AAF-4D74-BD2E-DA768391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295900"/>
            <a:ext cx="57721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23" name="format-ir-title">
            <a:extLst xmlns:a="http://schemas.openxmlformats.org/drawingml/2006/main">
              <a:ext uri="{FF2B5EF4-FFF2-40B4-BE49-F238E27FC236}">
                <a16:creationId xmlns:a16="http://schemas.microsoft.com/office/drawing/2014/main" id="{ABDC5DC9-AC73-41C5-917E-73E56170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429250"/>
            <a:ext cx="518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Canonical IR + ModelManifest + Capability Report</a:t>
            </a:r>
          </a:p>
        </p:txBody>
      </p:sp>
      <p:sp>
        <p:nvSpPr>
          <p:cNvPr id="24" name="format-ir-note">
            <a:extLst xmlns:a="http://schemas.openxmlformats.org/drawingml/2006/main">
              <a:ext uri="{FF2B5EF4-FFF2-40B4-BE49-F238E27FC236}">
                <a16:creationId xmlns:a16="http://schemas.microsoft.com/office/drawing/2014/main" id="{AD9939D5-3124-486B-9297-42533729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81700"/>
            <a:ext cx="632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导入时即说明模型节点、输入输出、精度档、验证状态与受限能力，避免在应用现场才发现不可用。</a:t>
            </a:r>
          </a:p>
        </p:txBody>
      </p:sp>
      <p:cxnSp>
        <p:nvCxnSpPr>
          <p:cNvPr id="102" name="footer-rule-6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6" name="footer-6">
            <a:extLst xmlns:a="http://schemas.openxmlformats.org/drawingml/2006/main">
              <a:ext uri="{FF2B5EF4-FFF2-40B4-BE49-F238E27FC236}">
                <a16:creationId xmlns:a16="http://schemas.microsoft.com/office/drawing/2014/main" id="{239F423B-BAEE-48EF-84BE-90779B4C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FORMAT EXPANSION</a:t>
            </a:r>
          </a:p>
        </p:txBody>
      </p:sp>
      <p:sp>
        <p:nvSpPr>
          <p:cNvPr id="27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6C367632-F950-4954-A686-87C2B019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7517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7">
            <a:extLst xmlns:a="http://schemas.openxmlformats.org/drawingml/2006/main">
              <a:ext uri="{FF2B5EF4-FFF2-40B4-BE49-F238E27FC236}">
                <a16:creationId xmlns:a16="http://schemas.microsoft.com/office/drawing/2014/main" id="{366ADA5F-A806-4762-8448-62B27516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OPERATOR PORTFOLIO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E000B63-E72E-4BCF-BC03-9480B1E4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算子能力围绕模型可接入与应用可交付组织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FA896B4F-B6F5-4657-968A-17F9D92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cxnSp>
        <p:nvCxnSpPr>
          <p:cNvPr id="66" name="header-rule-7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op-matrix">
            <a:extLst xmlns:a="http://schemas.openxmlformats.org/drawingml/2006/main">
              <a:ext uri="{FF2B5EF4-FFF2-40B4-BE49-F238E27FC236}">
                <a16:creationId xmlns:a16="http://schemas.microsoft.com/office/drawing/2014/main" id="{FC2C1763-0474-4896-90EC-B2D706A9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6" name="op-matrix-text">
            <a:extLst xmlns:a="http://schemas.openxmlformats.org/drawingml/2006/main">
              <a:ext uri="{FF2B5EF4-FFF2-40B4-BE49-F238E27FC236}">
                <a16:creationId xmlns:a16="http://schemas.microsoft.com/office/drawing/2014/main" id="{CAF355B6-DDF0-4AAC-B931-E4276EC7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导入  +  形状  +  精度  +  输出契约  +  性能  +  回归  +  诊断</a:t>
            </a:r>
          </a:p>
        </p:txBody>
      </p:sp>
      <p:sp>
        <p:nvSpPr>
          <p:cNvPr id="7" name="op-matrix-note">
            <a:extLst xmlns:a="http://schemas.openxmlformats.org/drawingml/2006/main">
              <a:ext uri="{FF2B5EF4-FFF2-40B4-BE49-F238E27FC236}">
                <a16:creationId xmlns:a16="http://schemas.microsoft.com/office/drawing/2014/main" id="{680AA105-EE6E-4186-B979-C9659FEA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rPr>
              <a:t>支持说明以实际模型与任务验证为准，不以注册数量替代可用结论。</a:t>
            </a:r>
          </a:p>
        </p:txBody>
      </p:sp>
      <p:sp>
        <p:nvSpPr>
          <p:cNvPr id="8" name="op-band-1-panel">
            <a:extLst xmlns:a="http://schemas.openxmlformats.org/drawingml/2006/main">
              <a:ext uri="{FF2B5EF4-FFF2-40B4-BE49-F238E27FC236}">
                <a16:creationId xmlns:a16="http://schemas.microsoft.com/office/drawing/2014/main" id="{5517E775-8FA6-4A7A-9682-1B939E0C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11277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9" name="op-band-1-accent">
            <a:extLst xmlns:a="http://schemas.openxmlformats.org/drawingml/2006/main">
              <a:ext uri="{FF2B5EF4-FFF2-40B4-BE49-F238E27FC236}">
                <a16:creationId xmlns:a16="http://schemas.microsoft.com/office/drawing/2014/main" id="{508B1E39-E685-4FAE-8139-9809EFCC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10" name="op-band-1-title">
            <a:extLst xmlns:a="http://schemas.openxmlformats.org/drawingml/2006/main">
              <a:ext uri="{FF2B5EF4-FFF2-40B4-BE49-F238E27FC236}">
                <a16:creationId xmlns:a16="http://schemas.microsoft.com/office/drawing/2014/main" id="{E634862C-3DBC-4D1D-9692-D821F354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77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通用视觉与基础计算</a:t>
            </a:r>
          </a:p>
        </p:txBody>
      </p:sp>
      <p:sp>
        <p:nvSpPr>
          <p:cNvPr id="11" name="op-band-1-body">
            <a:extLst xmlns:a="http://schemas.openxmlformats.org/drawingml/2006/main">
              <a:ext uri="{FF2B5EF4-FFF2-40B4-BE49-F238E27FC236}">
                <a16:creationId xmlns:a16="http://schemas.microsoft.com/office/drawing/2014/main" id="{942D1364-4021-4DB5-A80D-0D178420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0877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卷积、深度卷积、反卷积、激活、归一化、池化、逐点计算、图像转换和常见布局变换，支撑图像增强、检测与分割。</a:t>
            </a:r>
          </a:p>
        </p:txBody>
      </p:sp>
      <p:sp>
        <p:nvSpPr>
          <p:cNvPr id="12" name="op-band-2-panel">
            <a:extLst xmlns:a="http://schemas.openxmlformats.org/drawingml/2006/main">
              <a:ext uri="{FF2B5EF4-FFF2-40B4-BE49-F238E27FC236}">
                <a16:creationId xmlns:a16="http://schemas.microsoft.com/office/drawing/2014/main" id="{30FCB7A2-8F16-401F-9CC0-54154EE4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11277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3" name="op-band-2-accent">
            <a:extLst xmlns:a="http://schemas.openxmlformats.org/drawingml/2006/main">
              <a:ext uri="{FF2B5EF4-FFF2-40B4-BE49-F238E27FC236}">
                <a16:creationId xmlns:a16="http://schemas.microsoft.com/office/drawing/2014/main" id="{B5773A23-D59B-4124-899D-5B7BFEE6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4" name="op-band-2-title">
            <a:extLst xmlns:a="http://schemas.openxmlformats.org/drawingml/2006/main">
              <a:ext uri="{FF2B5EF4-FFF2-40B4-BE49-F238E27FC236}">
                <a16:creationId xmlns:a16="http://schemas.microsoft.com/office/drawing/2014/main" id="{59DD44F0-4B6D-4AA9-B26E-32AAB014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77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矩阵计算与 Transformer 主干</a:t>
            </a:r>
          </a:p>
        </p:txBody>
      </p:sp>
      <p:sp>
        <p:nvSpPr>
          <p:cNvPr id="15" name="op-band-2-body">
            <a:extLst xmlns:a="http://schemas.openxmlformats.org/drawingml/2006/main">
              <a:ext uri="{FF2B5EF4-FFF2-40B4-BE49-F238E27FC236}">
                <a16:creationId xmlns:a16="http://schemas.microsoft.com/office/drawing/2014/main" id="{58EC265D-1B98-427D-BB2E-1985469A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7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Gemm、InnerProduct、MatMul、Softmax、LayerNorm、Reduction、Attention 等能力面，支撑 CLIP、多模态、生成式与语言模型演进。</a:t>
            </a:r>
          </a:p>
        </p:txBody>
      </p:sp>
      <p:sp>
        <p:nvSpPr>
          <p:cNvPr id="16" name="op-band-3-panel">
            <a:extLst xmlns:a="http://schemas.openxmlformats.org/drawingml/2006/main">
              <a:ext uri="{FF2B5EF4-FFF2-40B4-BE49-F238E27FC236}">
                <a16:creationId xmlns:a16="http://schemas.microsoft.com/office/drawing/2014/main" id="{BB3332E6-EA58-467A-9807-7221DADB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11277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7" name="op-band-3-accent">
            <a:extLst xmlns:a="http://schemas.openxmlformats.org/drawingml/2006/main">
              <a:ext uri="{FF2B5EF4-FFF2-40B4-BE49-F238E27FC236}">
                <a16:creationId xmlns:a16="http://schemas.microsoft.com/office/drawing/2014/main" id="{403C47C1-6425-460B-BA53-31779A50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op-band-3-title">
            <a:extLst xmlns:a="http://schemas.openxmlformats.org/drawingml/2006/main">
              <a:ext uri="{FF2B5EF4-FFF2-40B4-BE49-F238E27FC236}">
                <a16:creationId xmlns:a16="http://schemas.microsoft.com/office/drawing/2014/main" id="{C45D861B-92B5-4200-98EB-4107C09F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10877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图编排与领域增长点</a:t>
            </a:r>
          </a:p>
        </p:txBody>
      </p:sp>
      <p:sp>
        <p:nvSpPr>
          <p:cNvPr id="19" name="op-band-3-body">
            <a:extLst xmlns:a="http://schemas.openxmlformats.org/drawingml/2006/main">
              <a:ext uri="{FF2B5EF4-FFF2-40B4-BE49-F238E27FC236}">
                <a16:creationId xmlns:a16="http://schemas.microsoft.com/office/drawing/2014/main" id="{FD6782CD-015A-415E-8F78-CA2494B8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7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动态形状、索引选择、采样、检测后处理、KV cache 与 3D 体数据相关能力，决定 Sentis、AR、医学和本地语言模型的接入上限。</a:t>
            </a:r>
          </a:p>
        </p:txBody>
      </p:sp>
      <p:cxnSp>
        <p:nvCxnSpPr>
          <p:cNvPr id="82" name="footer-rule-7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7">
            <a:extLst xmlns:a="http://schemas.openxmlformats.org/drawingml/2006/main">
              <a:ext uri="{FF2B5EF4-FFF2-40B4-BE49-F238E27FC236}">
                <a16:creationId xmlns:a16="http://schemas.microsoft.com/office/drawing/2014/main" id="{8C87EFB5-F732-4586-8A00-BA9098FE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OPERATOR CAPABILITY MATRIX</a:t>
            </a:r>
          </a:p>
        </p:txBody>
      </p:sp>
      <p:sp>
        <p:nvSpPr>
          <p:cNvPr id="22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C086C405-2DFE-4456-9598-B5BD3DAA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35298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7">
            <a:extLst xmlns:a="http://schemas.openxmlformats.org/drawingml/2006/main">
              <a:ext uri="{FF2B5EF4-FFF2-40B4-BE49-F238E27FC236}">
                <a16:creationId xmlns:a16="http://schemas.microsoft.com/office/drawing/2014/main" id="{366ADA5F-A806-4762-8448-62B27516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OPERATOR CATALOG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E000B63-E72E-4BCF-BC03-9480B1E4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当前已支持的层算子，按功能分类完整列示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FA896B4F-B6F5-4657-968A-17F9D92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cxnSp>
        <p:nvCxnSpPr>
          <p:cNvPr id="67" name="header-rule-7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cxnSp>
        <p:nvCxnSpPr>
          <p:cNvPr id="68" name="footer-rule-7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7">
            <a:extLst xmlns:a="http://schemas.openxmlformats.org/drawingml/2006/main">
              <a:ext uri="{FF2B5EF4-FFF2-40B4-BE49-F238E27FC236}">
                <a16:creationId xmlns:a16="http://schemas.microsoft.com/office/drawing/2014/main" id="{8C87EFB5-F732-4586-8A00-BA9098FE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SUPPORTED OPERATOR CATALOG</a:t>
            </a:r>
          </a:p>
        </p:txBody>
      </p:sp>
      <p:sp>
        <p:nvSpPr>
          <p:cNvPr id="22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C086C405-2DFE-4456-9598-B5BD3DAA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71" name=""/>
          <p:cNvGraphicFramePr/>
          <p:nvPr/>
        </p:nvGraphicFramePr>
        <p:xfrm>
          <a:off xmlns:a="http://schemas.openxmlformats.org/drawingml/2006/main" x="457200" y="1504950"/>
          <a:ext xmlns:a="http://schemas.openxmlformats.org/drawingml/2006/main" cx="112776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4600"/>
                <a:gridCol w="8763000"/>
              </a:tblGrid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功能分类</a:t>
                      </a:r>
                    </a:p>
                  </a:txBody>
                  <a:tcPr marL="91440" marR="91440" marT="45720" marB="45720">
                    <a:solidFill>
                      <a:srgbClr val="13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已支持层算子</a:t>
                      </a:r>
                    </a:p>
                  </a:txBody>
                  <a:tcPr marL="91440" marR="91440" marT="45720" marB="45720">
                    <a:solidFill>
                      <a:srgbClr val="132436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42236"/>
                          </a:solidFill>
                        </a:rPr>
                        <a:t>卷积与空间</a:t>
                      </a:r>
                    </a:p>
                  </a:txBody>
                  <a:tcPr marL="91440" marR="91440" marT="45720" marB="45720">
                    <a:solidFill>
                      <a:srgbClr val="E9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C6073"/>
                          </a:solidFill>
                        </a:rPr>
                        <a:t>Convolution · Convolution1D · Convolution3D · Deconvolution · Deconvolution3D</a:t>
                      </a:r>
                    </a:p>
                    <a:p>
                      <a:r>
                        <a:rPr sz="1125">
                          <a:solidFill>
                            <a:srgbClr val="4C6073"/>
                          </a:solidFill>
                        </a:rPr>
                        <a:t>Pooling · Pooling3D · Interp · PixelShuffle · Reorg · Unfold · Padding · Crop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42236"/>
                          </a:solidFill>
                        </a:rPr>
                        <a:t>线性、归一化与归约</a:t>
                      </a:r>
                    </a:p>
                  </a:txBody>
                  <a:tcPr marL="91440" marR="91440" marT="45720" marB="45720">
                    <a:solidFill>
                      <a:srgbClr val="FB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C6073"/>
                          </a:solidFill>
                        </a:rPr>
                        <a:t>Gemm · InnerProduct · MatMul · BatchNorm · GroupNorm · LayerNorm · PReLU</a:t>
                      </a:r>
                    </a:p>
                    <a:p>
                      <a:r>
                        <a:rPr sz="1125">
                          <a:solidFill>
                            <a:srgbClr val="4C6073"/>
                          </a:solidFill>
                        </a:rPr>
                        <a:t>ReLU · Softmax · ArgMax · ArgMin · TopK · CumSum · Scale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42236"/>
                          </a:solidFill>
                        </a:rPr>
                        <a:t>逐元素与激活</a:t>
                      </a:r>
                    </a:p>
                  </a:txBody>
                  <a:tcPr marL="91440" marR="91440" marT="45720" marB="4572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C6073"/>
                          </a:solidFill>
                        </a:rPr>
                        <a:t>AbsVal · BinaryOp · Clip · Eltwise · GELU · Sigmoid · Swish · UnaryOp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42236"/>
                          </a:solidFill>
                        </a:rPr>
                        <a:t>张量形状与数据转换</a:t>
                      </a:r>
                    </a:p>
                  </a:txBody>
                  <a:tcPr marL="91440" marR="91440" marT="45720" marB="45720">
                    <a:solidFill>
                      <a:srgbClr val="FFF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C6073"/>
                          </a:solidFill>
                        </a:rPr>
                        <a:t>Cast · Concat · Expand · ExpandDims · Flatten · Packing</a:t>
                      </a:r>
                    </a:p>
                    <a:p>
                      <a:r>
                        <a:rPr sz="1125">
                          <a:solidFill>
                            <a:srgbClr val="4C6073"/>
                          </a:solidFill>
                        </a:rPr>
                        <a:t>Permute · Reshape · Slice · Tile · Dequantize · Quantize</a:t>
                      </a:r>
                    </a:p>
                    <a:p>
                      <a:r>
                        <a:rPr sz="1125">
                          <a:solidFill>
                            <a:srgbClr val="4C6073"/>
                          </a:solidFill>
                        </a:rPr>
                        <a:t>Requantize · Shape · Size · ConstantOfShape · Range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42236"/>
                          </a:solidFill>
                        </a:rPr>
                        <a:t>索引、选择与生成</a:t>
                      </a:r>
                    </a:p>
                  </a:txBody>
                  <a:tcPr marL="91440" marR="91440" marT="45720" marB="45720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C6073"/>
                          </a:solidFill>
                        </a:rPr>
                        <a:t>Gather · GatherElements · OneHot · Where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298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0">
            <a:extLst xmlns:a="http://schemas.openxmlformats.org/drawingml/2006/main">
              <a:ext uri="{FF2B5EF4-FFF2-40B4-BE49-F238E27FC236}">
                <a16:creationId xmlns:a16="http://schemas.microsoft.com/office/drawing/2014/main" id="{1A494A1C-39C3-41EB-82B3-CFDEE2E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FIVE APPLICATION DIRECTIONS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45ECCCDD-719D-433C-9089-90357D7E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同一套引擎能力，面向五种不同的产品价值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8482D08F-AB75-461F-B9E4-EE3C802E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cxnSp>
        <p:nvCxnSpPr>
          <p:cNvPr id="120" name="header-rule-10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domains-lede">
            <a:extLst xmlns:a="http://schemas.openxmlformats.org/drawingml/2006/main">
              <a:ext uri="{FF2B5EF4-FFF2-40B4-BE49-F238E27FC236}">
                <a16:creationId xmlns:a16="http://schemas.microsoft.com/office/drawing/2014/main" id="{41F49928-B92E-45A2-AC57-07905108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提供真实视觉 runner 验证；医学、教育、游戏与药学以各自的业务输入输出消费同一引擎。</a:t>
            </a:r>
          </a:p>
        </p:txBody>
      </p:sp>
      <p:sp>
        <p:nvSpPr>
          <p:cNvPr id="6" name="domain-panel-0">
            <a:extLst xmlns:a="http://schemas.openxmlformats.org/drawingml/2006/main">
              <a:ext uri="{FF2B5EF4-FFF2-40B4-BE49-F238E27FC236}">
                <a16:creationId xmlns:a16="http://schemas.microsoft.com/office/drawing/2014/main" id="{6A8F46C8-6438-4862-AEB8-5884BA86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095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7" name="domain-accent-0">
            <a:extLst xmlns:a="http://schemas.openxmlformats.org/drawingml/2006/main">
              <a:ext uri="{FF2B5EF4-FFF2-40B4-BE49-F238E27FC236}">
                <a16:creationId xmlns:a16="http://schemas.microsoft.com/office/drawing/2014/main" id="{9027BC36-0D78-4B18-9E71-68835293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domain-name-0">
            <a:extLst xmlns:a="http://schemas.openxmlformats.org/drawingml/2006/main">
              <a:ext uri="{FF2B5EF4-FFF2-40B4-BE49-F238E27FC236}">
                <a16:creationId xmlns:a16="http://schemas.microsoft.com/office/drawing/2014/main" id="{0C6AAA15-516E-469D-921B-5B971B3A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AIImage</a:t>
            </a:r>
          </a:p>
        </p:txBody>
      </p:sp>
      <p:sp>
        <p:nvSpPr>
          <p:cNvPr id="9" name="domain-title-0">
            <a:extLst xmlns:a="http://schemas.openxmlformats.org/drawingml/2006/main">
              <a:ext uri="{FF2B5EF4-FFF2-40B4-BE49-F238E27FC236}">
                <a16:creationId xmlns:a16="http://schemas.microsoft.com/office/drawing/2014/main" id="{FE879D31-017F-43E1-BE6E-675B92E8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影像处理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与功能示范</a:t>
            </a:r>
          </a:p>
        </p:txBody>
      </p:sp>
      <p:cxnSp>
        <p:nvCxnSpPr>
          <p:cNvPr id="126" name="domain-rule-0"/>
          <p:cNvCxnSpPr/>
          <p:nvPr/>
        </p:nvCxnSpPr>
        <p:spPr>
          <a:xfrm xmlns:a="http://schemas.openxmlformats.org/drawingml/2006/main">
            <a:off x="628650" y="38671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11" name="domain-body-0">
            <a:extLst xmlns:a="http://schemas.openxmlformats.org/drawingml/2006/main">
              <a:ext uri="{FF2B5EF4-FFF2-40B4-BE49-F238E27FC236}">
                <a16:creationId xmlns:a16="http://schemas.microsoft.com/office/drawing/2014/main" id="{B12E233A-638F-4742-9F31-A3074F27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52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分类、掩码、去人、修复、增强；真实输入输出作为回归资产。</a:t>
            </a:r>
          </a:p>
        </p:txBody>
      </p:sp>
      <p:sp>
        <p:nvSpPr>
          <p:cNvPr id="12" name="domain-panel-1">
            <a:extLst xmlns:a="http://schemas.openxmlformats.org/drawingml/2006/main">
              <a:ext uri="{FF2B5EF4-FFF2-40B4-BE49-F238E27FC236}">
                <a16:creationId xmlns:a16="http://schemas.microsoft.com/office/drawing/2014/main" id="{430922AC-CA50-4ABA-BCE9-D0502167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09800"/>
            <a:ext cx="2095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3" name="domain-accent-1">
            <a:extLst xmlns:a="http://schemas.openxmlformats.org/drawingml/2006/main">
              <a:ext uri="{FF2B5EF4-FFF2-40B4-BE49-F238E27FC236}">
                <a16:creationId xmlns:a16="http://schemas.microsoft.com/office/drawing/2014/main" id="{39E0EEE8-ABF6-4669-8C31-720D1661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0980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14" name="domain-name-1">
            <a:extLst xmlns:a="http://schemas.openxmlformats.org/drawingml/2006/main">
              <a:ext uri="{FF2B5EF4-FFF2-40B4-BE49-F238E27FC236}">
                <a16:creationId xmlns:a16="http://schemas.microsoft.com/office/drawing/2014/main" id="{46D79A27-6F9D-4454-9038-5AD27F04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14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E9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E9F9A"/>
                </a:solidFill>
                <a:latin typeface="Microsoft YaHei"/>
                <a:ea typeface="Microsoft YaHei"/>
                <a:cs typeface="Microsoft YaHei"/>
              </a:rPr>
              <a:t>教育</a:t>
            </a:r>
          </a:p>
        </p:txBody>
      </p:sp>
      <p:sp>
        <p:nvSpPr>
          <p:cNvPr id="15" name="domain-title-1">
            <a:extLst xmlns:a="http://schemas.openxmlformats.org/drawingml/2006/main">
              <a:ext uri="{FF2B5EF4-FFF2-40B4-BE49-F238E27FC236}">
                <a16:creationId xmlns:a16="http://schemas.microsoft.com/office/drawing/2014/main" id="{70BF7E5A-7079-45FA-B27A-C69673A8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自然语言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到教学 IR</a:t>
            </a:r>
          </a:p>
        </p:txBody>
      </p:sp>
      <p:cxnSp>
        <p:nvCxnSpPr>
          <p:cNvPr id="132" name="domain-rule-1"/>
          <p:cNvCxnSpPr/>
          <p:nvPr/>
        </p:nvCxnSpPr>
        <p:spPr>
          <a:xfrm xmlns:a="http://schemas.openxmlformats.org/drawingml/2006/main">
            <a:off x="2924175" y="38671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17" name="domain-body-1">
            <a:extLst xmlns:a="http://schemas.openxmlformats.org/drawingml/2006/main">
              <a:ext uri="{FF2B5EF4-FFF2-40B4-BE49-F238E27FC236}">
                <a16:creationId xmlns:a16="http://schemas.microsoft.com/office/drawing/2014/main" id="{DC9058D2-932B-41CB-AA2E-58397E58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052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候选 JSON、schema 校验、IR 预览与用户确认后才执行。</a:t>
            </a:r>
          </a:p>
        </p:txBody>
      </p:sp>
      <p:sp>
        <p:nvSpPr>
          <p:cNvPr id="18" name="domain-panel-2">
            <a:extLst xmlns:a="http://schemas.openxmlformats.org/drawingml/2006/main">
              <a:ext uri="{FF2B5EF4-FFF2-40B4-BE49-F238E27FC236}">
                <a16:creationId xmlns:a16="http://schemas.microsoft.com/office/drawing/2014/main" id="{2285118A-78A8-4E90-BD4F-506FB9D9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2095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9" name="domain-accent-2">
            <a:extLst xmlns:a="http://schemas.openxmlformats.org/drawingml/2006/main">
              <a:ext uri="{FF2B5EF4-FFF2-40B4-BE49-F238E27FC236}">
                <a16:creationId xmlns:a16="http://schemas.microsoft.com/office/drawing/2014/main" id="{0EA2377A-70C0-4463-89B3-67335DA7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20" name="domain-name-2">
            <a:extLst xmlns:a="http://schemas.openxmlformats.org/drawingml/2006/main">
              <a:ext uri="{FF2B5EF4-FFF2-40B4-BE49-F238E27FC236}">
                <a16:creationId xmlns:a16="http://schemas.microsoft.com/office/drawing/2014/main" id="{2F185DBD-356C-4D9C-8D47-6EE8CA8C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8A5B"/>
                </a:solidFill>
                <a:latin typeface="Microsoft YaHe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21" name="domain-title-2">
            <a:extLst xmlns:a="http://schemas.openxmlformats.org/drawingml/2006/main">
              <a:ext uri="{FF2B5EF4-FFF2-40B4-BE49-F238E27FC236}">
                <a16:creationId xmlns:a16="http://schemas.microsoft.com/office/drawing/2014/main" id="{1E6C8A9C-5AD8-439A-8A6B-C3760543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AR 识别、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姿态与手势</a:t>
            </a:r>
          </a:p>
        </p:txBody>
      </p:sp>
      <p:cxnSp>
        <p:nvCxnSpPr>
          <p:cNvPr id="138" name="domain-rule-2"/>
          <p:cNvCxnSpPr/>
          <p:nvPr/>
        </p:nvCxnSpPr>
        <p:spPr>
          <a:xfrm xmlns:a="http://schemas.openxmlformats.org/drawingml/2006/main">
            <a:off x="5219700" y="38671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3" name="domain-body-2">
            <a:extLst xmlns:a="http://schemas.openxmlformats.org/drawingml/2006/main">
              <a:ext uri="{FF2B5EF4-FFF2-40B4-BE49-F238E27FC236}">
                <a16:creationId xmlns:a16="http://schemas.microsoft.com/office/drawing/2014/main" id="{A9916A6D-8CE3-446E-9D03-B4D6AA0B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052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相机输入直达模型；分类、关键点与叠加结果服务场景交互。</a:t>
            </a:r>
          </a:p>
        </p:txBody>
      </p:sp>
      <p:sp>
        <p:nvSpPr>
          <p:cNvPr id="24" name="domain-panel-3">
            <a:extLst xmlns:a="http://schemas.openxmlformats.org/drawingml/2006/main">
              <a:ext uri="{FF2B5EF4-FFF2-40B4-BE49-F238E27FC236}">
                <a16:creationId xmlns:a16="http://schemas.microsoft.com/office/drawing/2014/main" id="{816AFD62-0D3C-4021-8E00-31AA1FE0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09800"/>
            <a:ext cx="2095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5" name="domain-accent-3">
            <a:extLst xmlns:a="http://schemas.openxmlformats.org/drawingml/2006/main">
              <a:ext uri="{FF2B5EF4-FFF2-40B4-BE49-F238E27FC236}">
                <a16:creationId xmlns:a16="http://schemas.microsoft.com/office/drawing/2014/main" id="{3B44BF8A-7BB5-4319-8DA5-CB52D4DF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0980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26" name="domain-name-3">
            <a:extLst xmlns:a="http://schemas.openxmlformats.org/drawingml/2006/main">
              <a:ext uri="{FF2B5EF4-FFF2-40B4-BE49-F238E27FC236}">
                <a16:creationId xmlns:a16="http://schemas.microsoft.com/office/drawing/2014/main" id="{403BA1AD-ED48-4A9B-B774-B1520D3A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514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rPr>
              <a:t>医学</a:t>
            </a:r>
          </a:p>
        </p:txBody>
      </p:sp>
      <p:sp>
        <p:nvSpPr>
          <p:cNvPr id="27" name="domain-title-3">
            <a:extLst xmlns:a="http://schemas.openxmlformats.org/drawingml/2006/main">
              <a:ext uri="{FF2B5EF4-FFF2-40B4-BE49-F238E27FC236}">
                <a16:creationId xmlns:a16="http://schemas.microsoft.com/office/drawing/2014/main" id="{B8526B7B-02A4-4650-9082-9B6D4626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MONAI / VISTA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3D 分割</a:t>
            </a:r>
          </a:p>
        </p:txBody>
      </p:sp>
      <p:cxnSp>
        <p:nvCxnSpPr>
          <p:cNvPr id="144" name="domain-rule-3"/>
          <p:cNvCxnSpPr/>
          <p:nvPr/>
        </p:nvCxnSpPr>
        <p:spPr>
          <a:xfrm xmlns:a="http://schemas.openxmlformats.org/drawingml/2006/main">
            <a:off x="7515225" y="38671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9" name="domain-body-3">
            <a:extLst xmlns:a="http://schemas.openxmlformats.org/drawingml/2006/main">
              <a:ext uri="{FF2B5EF4-FFF2-40B4-BE49-F238E27FC236}">
                <a16:creationId xmlns:a16="http://schemas.microsoft.com/office/drawing/2014/main" id="{587DBB53-4C00-471E-AF74-7628E12E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052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脑室与骨骼分割、多标签体数据输出、体渲染与导航可直接消费。</a:t>
            </a:r>
          </a:p>
        </p:txBody>
      </p:sp>
      <p:sp>
        <p:nvSpPr>
          <p:cNvPr id="30" name="domain-panel-4">
            <a:extLst xmlns:a="http://schemas.openxmlformats.org/drawingml/2006/main">
              <a:ext uri="{FF2B5EF4-FFF2-40B4-BE49-F238E27FC236}">
                <a16:creationId xmlns:a16="http://schemas.microsoft.com/office/drawing/2014/main" id="{01EC603B-4AA5-452F-8AD6-7EDF5C9F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2095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1" name="domain-accent-4">
            <a:extLst xmlns:a="http://schemas.openxmlformats.org/drawingml/2006/main">
              <a:ext uri="{FF2B5EF4-FFF2-40B4-BE49-F238E27FC236}">
                <a16:creationId xmlns:a16="http://schemas.microsoft.com/office/drawing/2014/main" id="{231D7707-2B66-4C3D-9252-FC174DDC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11"/>
          </a:solidFill>
          <a:ln xmlns:a="http://schemas.openxmlformats.org/drawingml/2006/main" w="9525">
            <a:solidFill>
              <a:srgbClr val="D59A11"/>
            </a:solidFill>
            <a:prstDash val="solid"/>
          </a:ln>
        </p:spPr>
      </p:sp>
      <p:sp>
        <p:nvSpPr>
          <p:cNvPr id="32" name="domain-name-4">
            <a:extLst xmlns:a="http://schemas.openxmlformats.org/drawingml/2006/main">
              <a:ext uri="{FF2B5EF4-FFF2-40B4-BE49-F238E27FC236}">
                <a16:creationId xmlns:a16="http://schemas.microsoft.com/office/drawing/2014/main" id="{D4B2046D-A44D-499D-A81C-850B901E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14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59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59A11"/>
                </a:solidFill>
                <a:latin typeface="Microsoft YaHei"/>
                <a:ea typeface="Microsoft YaHei"/>
                <a:cs typeface="Microsoft YaHei"/>
              </a:rPr>
              <a:t>药学</a:t>
            </a:r>
          </a:p>
        </p:txBody>
      </p:sp>
      <p:sp>
        <p:nvSpPr>
          <p:cNvPr id="33" name="domain-title-4">
            <a:extLst xmlns:a="http://schemas.openxmlformats.org/drawingml/2006/main">
              <a:ext uri="{FF2B5EF4-FFF2-40B4-BE49-F238E27FC236}">
                <a16:creationId xmlns:a16="http://schemas.microsoft.com/office/drawing/2014/main" id="{58D99FC0-8211-4CBF-9F44-67F447E0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Docking MR3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候选筛选</a:t>
            </a:r>
          </a:p>
        </p:txBody>
      </p:sp>
      <p:cxnSp>
        <p:nvCxnSpPr>
          <p:cNvPr id="150" name="domain-rule-4"/>
          <p:cNvCxnSpPr/>
          <p:nvPr/>
        </p:nvCxnSpPr>
        <p:spPr>
          <a:xfrm xmlns:a="http://schemas.openxmlformats.org/drawingml/2006/main">
            <a:off x="9810750" y="38671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35" name="domain-body-4">
            <a:extLst xmlns:a="http://schemas.openxmlformats.org/drawingml/2006/main">
              <a:ext uri="{FF2B5EF4-FFF2-40B4-BE49-F238E27FC236}">
                <a16:creationId xmlns:a16="http://schemas.microsoft.com/office/drawing/2014/main" id="{7E7FC8B5-68EF-4C52-85EA-44EE19AF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052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蛋白结构到口袋、体素条件、候选生成、筛选和排序的结构化流水线。</a:t>
            </a:r>
          </a:p>
        </p:txBody>
      </p:sp>
      <p:sp>
        <p:nvSpPr>
          <p:cNvPr id="36" name="domains-bottom">
            <a:extLst xmlns:a="http://schemas.openxmlformats.org/drawingml/2006/main">
              <a:ext uri="{FF2B5EF4-FFF2-40B4-BE49-F238E27FC236}">
                <a16:creationId xmlns:a16="http://schemas.microsoft.com/office/drawing/2014/main" id="{54F92318-AD32-437D-BF22-17DCDD60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29275"/>
            <a:ext cx="11277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37" name="domains-bottom-text">
            <a:extLst xmlns:a="http://schemas.openxmlformats.org/drawingml/2006/main">
              <a:ext uri="{FF2B5EF4-FFF2-40B4-BE49-F238E27FC236}">
                <a16:creationId xmlns:a16="http://schemas.microsoft.com/office/drawing/2014/main" id="{0AB9B4DC-B290-4DCB-9872-725C5BC0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24525"/>
            <a:ext cx="1089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引擎不复制业务规则：它把模型接入、算子、验证与资源管理沉淀一次，让每个应用专注于用户结果。</a:t>
            </a:r>
          </a:p>
        </p:txBody>
      </p:sp>
      <p:cxnSp>
        <p:nvCxnSpPr>
          <p:cNvPr id="154" name="footer-rule-10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39" name="footer-10">
            <a:extLst xmlns:a="http://schemas.openxmlformats.org/drawingml/2006/main">
              <a:ext uri="{FF2B5EF4-FFF2-40B4-BE49-F238E27FC236}">
                <a16:creationId xmlns:a16="http://schemas.microsoft.com/office/drawing/2014/main" id="{55F016A5-7E47-4E3A-B31A-2AE4067E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FIVE APPLICATION DIRECTIONS</a:t>
            </a:r>
          </a:p>
        </p:txBody>
      </p:sp>
      <p:sp>
        <p:nvSpPr>
          <p:cNvPr id="4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95C4046B-751F-4CE9-A5D3-03810308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873489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9">
            <a:extLst xmlns:a="http://schemas.openxmlformats.org/drawingml/2006/main">
              <a:ext uri="{FF2B5EF4-FFF2-40B4-BE49-F238E27FC236}">
                <a16:creationId xmlns:a16="http://schemas.microsoft.com/office/drawing/2014/main" id="{36602B1F-FE5C-434C-87FF-68CF0751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AIIMAGE / SILENT RUNS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31F2265-AE09-4197-A48A-9C35ECAF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以同一张 03.jpg 静默跑测，证明 runner 能交付什么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F38D6F6-6335-42DA-87F7-D140B8F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cxnSp>
        <p:nvCxnSpPr>
          <p:cNvPr id="68" name="header-rule-9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6" name="aiimage-image-label-fill">
            <a:extLst xmlns:a="http://schemas.openxmlformats.org/drawingml/2006/main">
              <a:ext uri="{FF2B5EF4-FFF2-40B4-BE49-F238E27FC236}">
                <a16:creationId xmlns:a16="http://schemas.microsoft.com/office/drawing/2014/main" id="{CE2BA456-B411-4944-BA99-200CA48D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276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7" name="aiimage-image-label-text">
            <a:extLst xmlns:a="http://schemas.openxmlformats.org/drawingml/2006/main">
              <a:ext uri="{FF2B5EF4-FFF2-40B4-BE49-F238E27FC236}">
                <a16:creationId xmlns:a16="http://schemas.microsoft.com/office/drawing/2014/main" id="{122BBB00-3B87-43A2-90AC-25C6EC65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08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统一测试输入：03.jpg（600 x 337）</a:t>
            </a:r>
          </a:p>
        </p:txBody>
      </p:sp>
      <p:sp>
        <p:nvSpPr>
          <p:cNvPr id="8" name="aiimage-title">
            <a:extLst xmlns:a="http://schemas.openxmlformats.org/drawingml/2006/main">
              <a:ext uri="{FF2B5EF4-FFF2-40B4-BE49-F238E27FC236}">
                <a16:creationId xmlns:a16="http://schemas.microsoft.com/office/drawing/2014/main" id="{CC0C2CF0-25D1-4AAD-96B9-5C4FEB9E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790700"/>
            <a:ext cx="690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四类视觉 runner 都给出可消费结果</a:t>
            </a:r>
          </a:p>
        </p:txBody>
      </p:sp>
      <p:sp>
        <p:nvSpPr>
          <p:cNvPr id="9" name="aiimage-body">
            <a:extLst xmlns:a="http://schemas.openxmlformats.org/drawingml/2006/main">
              <a:ext uri="{FF2B5EF4-FFF2-40B4-BE49-F238E27FC236}">
                <a16:creationId xmlns:a16="http://schemas.microsoft.com/office/drawing/2014/main" id="{3E39A888-444E-4D91-810B-244B99A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24100"/>
            <a:ext cx="6858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CLIP 输出类别及置信度；YOLO 输出人像框与掩码；去人工作流输出重绘结果；CodeFormer 输出修复图；ESRGAN 输出增强图。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每个结果都可成为后续应用接口或回归基线，而非只停留在模型加载成功。</a:t>
            </a:r>
          </a:p>
        </p:txBody>
      </p:sp>
      <p:sp>
        <p:nvSpPr>
          <p:cNvPr id="10" name="aiimage-evidence-1-panel">
            <a:extLst xmlns:a="http://schemas.openxmlformats.org/drawingml/2006/main">
              <a:ext uri="{FF2B5EF4-FFF2-40B4-BE49-F238E27FC236}">
                <a16:creationId xmlns:a16="http://schemas.microsoft.com/office/drawing/2014/main" id="{50948150-4AD8-4A62-9C33-BEB1C0E0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3314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aiimage-evidence-1-accent">
            <a:extLst xmlns:a="http://schemas.openxmlformats.org/drawingml/2006/main">
              <a:ext uri="{FF2B5EF4-FFF2-40B4-BE49-F238E27FC236}">
                <a16:creationId xmlns:a16="http://schemas.microsoft.com/office/drawing/2014/main" id="{5CB43ECC-69CD-4E0A-BFBF-6470F618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12" name="aiimage-evidence-1-title">
            <a:extLst xmlns:a="http://schemas.openxmlformats.org/drawingml/2006/main">
              <a:ext uri="{FF2B5EF4-FFF2-40B4-BE49-F238E27FC236}">
                <a16:creationId xmlns:a16="http://schemas.microsoft.com/office/drawing/2014/main" id="{0B3BB95F-DA65-4870-9281-66C41308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576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真实跑测范围</a:t>
            </a:r>
          </a:p>
        </p:txBody>
      </p:sp>
      <p:sp>
        <p:nvSpPr>
          <p:cNvPr id="13" name="aiimage-evidence-1-body">
            <a:extLst xmlns:a="http://schemas.openxmlformats.org/drawingml/2006/main">
              <a:ext uri="{FF2B5EF4-FFF2-40B4-BE49-F238E27FC236}">
                <a16:creationId xmlns:a16="http://schemas.microsoft.com/office/drawing/2014/main" id="{6E9598A0-1929-4640-A47A-412A2A6E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29125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CLIP、YOLO 分割、掩码驱动去人、CodeFormer 和 RealESRGAN 均以 03.jpg 完成静默跑测并保留结果。</a:t>
            </a:r>
          </a:p>
        </p:txBody>
      </p:sp>
      <p:sp>
        <p:nvSpPr>
          <p:cNvPr id="14" name="aiimage-evidence-2-panel">
            <a:extLst xmlns:a="http://schemas.openxmlformats.org/drawingml/2006/main">
              <a:ext uri="{FF2B5EF4-FFF2-40B4-BE49-F238E27FC236}">
                <a16:creationId xmlns:a16="http://schemas.microsoft.com/office/drawing/2014/main" id="{40E258C2-FFE2-4E73-A1BC-F3F5D9A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386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aiimage-evidence-2-accent">
            <a:extLst xmlns:a="http://schemas.openxmlformats.org/drawingml/2006/main">
              <a:ext uri="{FF2B5EF4-FFF2-40B4-BE49-F238E27FC236}">
                <a16:creationId xmlns:a16="http://schemas.microsoft.com/office/drawing/2014/main" id="{9964E978-A3A8-4E28-898D-6D810466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6" name="aiimage-evidence-2-title">
            <a:extLst xmlns:a="http://schemas.openxmlformats.org/drawingml/2006/main">
              <a:ext uri="{FF2B5EF4-FFF2-40B4-BE49-F238E27FC236}">
                <a16:creationId xmlns:a16="http://schemas.microsoft.com/office/drawing/2014/main" id="{C2C8B2E0-FFF7-448C-A342-9EC9593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3467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展示方式</a:t>
            </a:r>
          </a:p>
        </p:txBody>
      </p:sp>
      <p:sp>
        <p:nvSpPr>
          <p:cNvPr id="17" name="aiimage-evidence-2-body">
            <a:extLst xmlns:a="http://schemas.openxmlformats.org/drawingml/2006/main">
              <a:ext uri="{FF2B5EF4-FFF2-40B4-BE49-F238E27FC236}">
                <a16:creationId xmlns:a16="http://schemas.microsoft.com/office/drawing/2014/main" id="{A882D901-D101-4E63-B0FA-DC5ED42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29125"/>
            <a:ext cx="346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后续四页分别呈现输入、掩码或中间结果、最终输出及关键数值，让读者直接判断每个 runner 能做什么。</a:t>
            </a:r>
          </a:p>
        </p:txBody>
      </p:sp>
      <p:sp>
        <p:nvSpPr>
          <p:cNvPr id="18" name="aiimage-bottom">
            <a:extLst xmlns:a="http://schemas.openxmlformats.org/drawingml/2006/main">
              <a:ext uri="{FF2B5EF4-FFF2-40B4-BE49-F238E27FC236}">
                <a16:creationId xmlns:a16="http://schemas.microsoft.com/office/drawing/2014/main" id="{1A659AEE-6961-4177-9A1D-54A705A1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19" name="aiimage-bottom-text">
            <a:extLst xmlns:a="http://schemas.openxmlformats.org/drawingml/2006/main">
              <a:ext uri="{FF2B5EF4-FFF2-40B4-BE49-F238E27FC236}">
                <a16:creationId xmlns:a16="http://schemas.microsoft.com/office/drawing/2014/main" id="{1F25C0D7-9AB3-41C4-928C-D615F03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673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以下结果均来自 2026-07-14 仓内静默跑测；模型功能、输入输出与测试结果一一对应。</a:t>
            </a:r>
          </a:p>
        </p:txBody>
      </p:sp>
      <p:cxnSp>
        <p:nvCxnSpPr>
          <p:cNvPr id="83" name="footer-rule-9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9">
            <a:extLst xmlns:a="http://schemas.openxmlformats.org/drawingml/2006/main">
              <a:ext uri="{FF2B5EF4-FFF2-40B4-BE49-F238E27FC236}">
                <a16:creationId xmlns:a16="http://schemas.microsoft.com/office/drawing/2014/main" id="{DCCA6B73-C38E-4708-AA43-BEC5D96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REAL RUNNER EVIDENCE</a:t>
            </a:r>
          </a:p>
        </p:txBody>
      </p:sp>
      <p:sp>
        <p:nvSpPr>
          <p:cNvPr id="22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DB9322B8-4F43-4599-9FBD-9411A6D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1832156cc4b4d"/>
          <a:srcRect xmlns:a="http://schemas.openxmlformats.org/drawingml/2006/main" l="13953" t="0" r="139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90700"/>
            <a:ext cx="3276600" cy="2552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439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9">
            <a:extLst xmlns:a="http://schemas.openxmlformats.org/drawingml/2006/main">
              <a:ext uri="{FF2B5EF4-FFF2-40B4-BE49-F238E27FC236}">
                <a16:creationId xmlns:a16="http://schemas.microsoft.com/office/drawing/2014/main" id="{36602B1F-FE5C-434C-87FF-68CF0751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RUNNER DEMO / CLIP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31F2265-AE09-4197-A48A-9C35ECAF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CLIP：把图片变成可用于检索与分流的语义标签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F38D6F6-6335-42DA-87F7-D140B8F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cxnSp>
        <p:nvCxnSpPr>
          <p:cNvPr id="68" name="header-rule-9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6" name="aiimage-image-label-fill">
            <a:extLst xmlns:a="http://schemas.openxmlformats.org/drawingml/2006/main">
              <a:ext uri="{FF2B5EF4-FFF2-40B4-BE49-F238E27FC236}">
                <a16:creationId xmlns:a16="http://schemas.microsoft.com/office/drawing/2014/main" id="{CE2BA456-B411-4944-BA99-200CA48D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276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7" name="aiimage-image-label-text">
            <a:extLst xmlns:a="http://schemas.openxmlformats.org/drawingml/2006/main">
              <a:ext uri="{FF2B5EF4-FFF2-40B4-BE49-F238E27FC236}">
                <a16:creationId xmlns:a16="http://schemas.microsoft.com/office/drawing/2014/main" id="{122BBB00-3B87-43A2-90AC-25C6EC65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08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输入：03.jpg（600 x 337）</a:t>
            </a:r>
          </a:p>
        </p:txBody>
      </p:sp>
      <p:sp>
        <p:nvSpPr>
          <p:cNvPr id="8" name="aiimage-title">
            <a:extLst xmlns:a="http://schemas.openxmlformats.org/drawingml/2006/main">
              <a:ext uri="{FF2B5EF4-FFF2-40B4-BE49-F238E27FC236}">
                <a16:creationId xmlns:a16="http://schemas.microsoft.com/office/drawing/2014/main" id="{CC0C2CF0-25D1-4AAD-96B9-5C4FEB9E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790700"/>
            <a:ext cx="690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Top-1 输出：Photo，置信度 0.873903</a:t>
            </a:r>
          </a:p>
        </p:txBody>
      </p:sp>
      <p:sp>
        <p:nvSpPr>
          <p:cNvPr id="9" name="aiimage-body">
            <a:extLst xmlns:a="http://schemas.openxmlformats.org/drawingml/2006/main">
              <a:ext uri="{FF2B5EF4-FFF2-40B4-BE49-F238E27FC236}">
                <a16:creationId xmlns:a16="http://schemas.microsoft.com/office/drawing/2014/main" id="{3E39A888-444E-4D91-810B-244B99A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24100"/>
            <a:ext cx="6858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同一张图片与预设文本标签计算相似度，得到可直接供素材检索、自动归档、内容路由或审核辅助使用的类别结果。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本次静默跑测：模型 mobileclip_s0_export；总耗时 31,247 ms。</a:t>
            </a:r>
          </a:p>
        </p:txBody>
      </p:sp>
      <p:sp>
        <p:nvSpPr>
          <p:cNvPr id="10" name="aiimage-evidence-1-panel">
            <a:extLst xmlns:a="http://schemas.openxmlformats.org/drawingml/2006/main">
              <a:ext uri="{FF2B5EF4-FFF2-40B4-BE49-F238E27FC236}">
                <a16:creationId xmlns:a16="http://schemas.microsoft.com/office/drawing/2014/main" id="{50948150-4AD8-4A62-9C33-BEB1C0E0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3314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aiimage-evidence-1-accent">
            <a:extLst xmlns:a="http://schemas.openxmlformats.org/drawingml/2006/main">
              <a:ext uri="{FF2B5EF4-FFF2-40B4-BE49-F238E27FC236}">
                <a16:creationId xmlns:a16="http://schemas.microsoft.com/office/drawing/2014/main" id="{5CB43ECC-69CD-4E0A-BFBF-6470F618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12" name="aiimage-evidence-1-title">
            <a:extLst xmlns:a="http://schemas.openxmlformats.org/drawingml/2006/main">
              <a:ext uri="{FF2B5EF4-FFF2-40B4-BE49-F238E27FC236}">
                <a16:creationId xmlns:a16="http://schemas.microsoft.com/office/drawing/2014/main" id="{0B3BB95F-DA65-4870-9281-66C41308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576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Top-2 / Top-3</a:t>
            </a:r>
          </a:p>
        </p:txBody>
      </p:sp>
      <p:sp>
        <p:nvSpPr>
          <p:cNvPr id="13" name="aiimage-evidence-1-body">
            <a:extLst xmlns:a="http://schemas.openxmlformats.org/drawingml/2006/main">
              <a:ext uri="{FF2B5EF4-FFF2-40B4-BE49-F238E27FC236}">
                <a16:creationId xmlns:a16="http://schemas.microsoft.com/office/drawing/2014/main" id="{6E9598A0-1929-4640-A47A-412A2A6E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29125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Portrait  0.099077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Night  0.013508</a:t>
            </a:r>
          </a:p>
        </p:txBody>
      </p:sp>
      <p:sp>
        <p:nvSpPr>
          <p:cNvPr id="14" name="aiimage-evidence-2-panel">
            <a:extLst xmlns:a="http://schemas.openxmlformats.org/drawingml/2006/main">
              <a:ext uri="{FF2B5EF4-FFF2-40B4-BE49-F238E27FC236}">
                <a16:creationId xmlns:a16="http://schemas.microsoft.com/office/drawing/2014/main" id="{40E258C2-FFE2-4E73-A1BC-F3F5D9A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386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aiimage-evidence-2-accent">
            <a:extLst xmlns:a="http://schemas.openxmlformats.org/drawingml/2006/main">
              <a:ext uri="{FF2B5EF4-FFF2-40B4-BE49-F238E27FC236}">
                <a16:creationId xmlns:a16="http://schemas.microsoft.com/office/drawing/2014/main" id="{9964E978-A3A8-4E28-898D-6D810466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6" name="aiimage-evidence-2-title">
            <a:extLst xmlns:a="http://schemas.openxmlformats.org/drawingml/2006/main">
              <a:ext uri="{FF2B5EF4-FFF2-40B4-BE49-F238E27FC236}">
                <a16:creationId xmlns:a16="http://schemas.microsoft.com/office/drawing/2014/main" id="{C2C8B2E0-FFF7-448C-A342-9EC9593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3467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可实现的产品能力</a:t>
            </a:r>
          </a:p>
        </p:txBody>
      </p:sp>
      <p:sp>
        <p:nvSpPr>
          <p:cNvPr id="17" name="aiimage-evidence-2-body">
            <a:extLst xmlns:a="http://schemas.openxmlformats.org/drawingml/2006/main">
              <a:ext uri="{FF2B5EF4-FFF2-40B4-BE49-F238E27FC236}">
                <a16:creationId xmlns:a16="http://schemas.microsoft.com/office/drawing/2014/main" id="{A882D901-D101-4E63-B0FA-DC5ED42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29125"/>
            <a:ext cx="346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图片语义分类、相似内容分流、素材检索入口与按标签触发的后续编辑链路。</a:t>
            </a:r>
          </a:p>
        </p:txBody>
      </p:sp>
      <p:sp>
        <p:nvSpPr>
          <p:cNvPr id="18" name="aiimage-bottom">
            <a:extLst xmlns:a="http://schemas.openxmlformats.org/drawingml/2006/main">
              <a:ext uri="{FF2B5EF4-FFF2-40B4-BE49-F238E27FC236}">
                <a16:creationId xmlns:a16="http://schemas.microsoft.com/office/drawing/2014/main" id="{1A659AEE-6961-4177-9A1D-54A705A1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19" name="aiimage-bottom-text">
            <a:extLst xmlns:a="http://schemas.openxmlformats.org/drawingml/2006/main">
              <a:ext uri="{FF2B5EF4-FFF2-40B4-BE49-F238E27FC236}">
                <a16:creationId xmlns:a16="http://schemas.microsoft.com/office/drawing/2014/main" id="{1F25C0D7-9AB3-41C4-928C-D615F03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673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输出不只是 embedding：runner 已将 embedding 与标签集转换成可读、可用的分类结果。</a:t>
            </a:r>
          </a:p>
        </p:txBody>
      </p:sp>
      <p:cxnSp>
        <p:nvCxnSpPr>
          <p:cNvPr id="83" name="footer-rule-9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9">
            <a:extLst xmlns:a="http://schemas.openxmlformats.org/drawingml/2006/main">
              <a:ext uri="{FF2B5EF4-FFF2-40B4-BE49-F238E27FC236}">
                <a16:creationId xmlns:a16="http://schemas.microsoft.com/office/drawing/2014/main" id="{DCCA6B73-C38E-4708-AA43-BEC5D96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CLIP CLASSIFICATION</a:t>
            </a:r>
          </a:p>
        </p:txBody>
      </p:sp>
      <p:sp>
        <p:nvSpPr>
          <p:cNvPr id="22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DB9322B8-4F43-4599-9FBD-9411A6D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db14aea9743b5"/>
          <a:srcRect xmlns:a="http://schemas.openxmlformats.org/drawingml/2006/main" l="13953" t="0" r="139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90700"/>
            <a:ext cx="3276600" cy="2552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439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9">
            <a:extLst xmlns:a="http://schemas.openxmlformats.org/drawingml/2006/main">
              <a:ext uri="{FF2B5EF4-FFF2-40B4-BE49-F238E27FC236}">
                <a16:creationId xmlns:a16="http://schemas.microsoft.com/office/drawing/2014/main" id="{36602B1F-FE5C-434C-87FF-68CF0751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RUNNER DEMO / YOLO + INPAINT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31F2265-AE09-4197-A48A-9C35ECAF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一键去路人：检测、掩码与局部重绘形成完整闭环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F38D6F6-6335-42DA-87F7-D140B8F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cxnSp>
        <p:nvCxnSpPr>
          <p:cNvPr id="70" name="header-rule-9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6" name="aiimage-image-label-fill">
            <a:extLst xmlns:a="http://schemas.openxmlformats.org/drawingml/2006/main">
              <a:ext uri="{FF2B5EF4-FFF2-40B4-BE49-F238E27FC236}">
                <a16:creationId xmlns:a16="http://schemas.microsoft.com/office/drawing/2014/main" id="{CE2BA456-B411-4944-BA99-200CA48D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276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7" name="aiimage-image-label-text">
            <a:extLst xmlns:a="http://schemas.openxmlformats.org/drawingml/2006/main">
              <a:ext uri="{FF2B5EF4-FFF2-40B4-BE49-F238E27FC236}">
                <a16:creationId xmlns:a16="http://schemas.microsoft.com/office/drawing/2014/main" id="{122BBB00-3B87-43A2-90AC-25C6EC65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08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输入：03.jpg；右下：人像掩码与最终输出</a:t>
            </a:r>
          </a:p>
        </p:txBody>
      </p:sp>
      <p:sp>
        <p:nvSpPr>
          <p:cNvPr id="8" name="aiimage-title">
            <a:extLst xmlns:a="http://schemas.openxmlformats.org/drawingml/2006/main">
              <a:ext uri="{FF2B5EF4-FFF2-40B4-BE49-F238E27FC236}">
                <a16:creationId xmlns:a16="http://schemas.microsoft.com/office/drawing/2014/main" id="{CC0C2CF0-25D1-4AAD-96B9-5C4FEB9E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790700"/>
            <a:ext cx="690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YOLO 检出 2 个人像，输出可直接驱动重绘的掩码</a:t>
            </a:r>
          </a:p>
        </p:txBody>
      </p:sp>
      <p:sp>
        <p:nvSpPr>
          <p:cNvPr id="9" name="aiimage-body">
            <a:extLst xmlns:a="http://schemas.openxmlformats.org/drawingml/2006/main">
              <a:ext uri="{FF2B5EF4-FFF2-40B4-BE49-F238E27FC236}">
                <a16:creationId xmlns:a16="http://schemas.microsoft.com/office/drawing/2014/main" id="{3E39A888-444E-4D91-810B-244B99A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24100"/>
            <a:ext cx="6858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YOLO 对原图完成实例级人像分割；掩码既可用于抠图，也可传给局部重绘模型。静默跑测中，固定 seed=123456，12 步完成去人流程。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最终输出展示了被选区域已被背景内容替换，形成可编辑的“去路人”功能。</a:t>
            </a:r>
          </a:p>
        </p:txBody>
      </p:sp>
      <p:sp>
        <p:nvSpPr>
          <p:cNvPr id="10" name="aiimage-evidence-1-panel">
            <a:extLst xmlns:a="http://schemas.openxmlformats.org/drawingml/2006/main">
              <a:ext uri="{FF2B5EF4-FFF2-40B4-BE49-F238E27FC236}">
                <a16:creationId xmlns:a16="http://schemas.microsoft.com/office/drawing/2014/main" id="{50948150-4AD8-4A62-9C33-BEB1C0E0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3314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aiimage-evidence-1-accent">
            <a:extLst xmlns:a="http://schemas.openxmlformats.org/drawingml/2006/main">
              <a:ext uri="{FF2B5EF4-FFF2-40B4-BE49-F238E27FC236}">
                <a16:creationId xmlns:a16="http://schemas.microsoft.com/office/drawing/2014/main" id="{5CB43ECC-69CD-4E0A-BFBF-6470F618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12" name="aiimage-evidence-1-title">
            <a:extLst xmlns:a="http://schemas.openxmlformats.org/drawingml/2006/main">
              <a:ext uri="{FF2B5EF4-FFF2-40B4-BE49-F238E27FC236}">
                <a16:creationId xmlns:a16="http://schemas.microsoft.com/office/drawing/2014/main" id="{0B3BB95F-DA65-4870-9281-66C41308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576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掩码结果</a:t>
            </a:r>
          </a:p>
        </p:txBody>
      </p:sp>
      <p:sp>
        <p:nvSpPr>
          <p:cNvPr id="13" name="aiimage-evidence-1-body">
            <a:extLst xmlns:a="http://schemas.openxmlformats.org/drawingml/2006/main">
              <a:ext uri="{FF2B5EF4-FFF2-40B4-BE49-F238E27FC236}">
                <a16:creationId xmlns:a16="http://schemas.microsoft.com/office/drawing/2014/main" id="{6E9598A0-1929-4640-A47A-412A2A6E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29125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detections = 2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mask coverage = 0.788294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主目标置信度 = 0.821035</a:t>
            </a:r>
          </a:p>
        </p:txBody>
      </p:sp>
      <p:sp>
        <p:nvSpPr>
          <p:cNvPr id="14" name="aiimage-evidence-2-panel">
            <a:extLst xmlns:a="http://schemas.openxmlformats.org/drawingml/2006/main">
              <a:ext uri="{FF2B5EF4-FFF2-40B4-BE49-F238E27FC236}">
                <a16:creationId xmlns:a16="http://schemas.microsoft.com/office/drawing/2014/main" id="{40E258C2-FFE2-4E73-A1BC-F3F5D9A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386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aiimage-evidence-2-accent">
            <a:extLst xmlns:a="http://schemas.openxmlformats.org/drawingml/2006/main">
              <a:ext uri="{FF2B5EF4-FFF2-40B4-BE49-F238E27FC236}">
                <a16:creationId xmlns:a16="http://schemas.microsoft.com/office/drawing/2014/main" id="{9964E978-A3A8-4E28-898D-6D810466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6" name="aiimage-evidence-2-title">
            <a:extLst xmlns:a="http://schemas.openxmlformats.org/drawingml/2006/main">
              <a:ext uri="{FF2B5EF4-FFF2-40B4-BE49-F238E27FC236}">
                <a16:creationId xmlns:a16="http://schemas.microsoft.com/office/drawing/2014/main" id="{C2C8B2E0-FFF7-448C-A342-9EC9593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3467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去人输出</a:t>
            </a:r>
          </a:p>
        </p:txBody>
      </p:sp>
      <p:sp>
        <p:nvSpPr>
          <p:cNvPr id="17" name="aiimage-evidence-2-body">
            <a:extLst xmlns:a="http://schemas.openxmlformats.org/drawingml/2006/main">
              <a:ext uri="{FF2B5EF4-FFF2-40B4-BE49-F238E27FC236}">
                <a16:creationId xmlns:a16="http://schemas.microsoft.com/office/drawing/2014/main" id="{A882D901-D101-4E63-B0FA-DC5ED42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29125"/>
            <a:ext cx="346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重绘成功完成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耗时 428,331 ms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输出：07_final_output.png</a:t>
            </a:r>
          </a:p>
        </p:txBody>
      </p:sp>
      <p:sp>
        <p:nvSpPr>
          <p:cNvPr id="18" name="aiimage-bottom">
            <a:extLst xmlns:a="http://schemas.openxmlformats.org/drawingml/2006/main">
              <a:ext uri="{FF2B5EF4-FFF2-40B4-BE49-F238E27FC236}">
                <a16:creationId xmlns:a16="http://schemas.microsoft.com/office/drawing/2014/main" id="{1A659AEE-6961-4177-9A1D-54A705A1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19" name="aiimage-bottom-text">
            <a:extLst xmlns:a="http://schemas.openxmlformats.org/drawingml/2006/main">
              <a:ext uri="{FF2B5EF4-FFF2-40B4-BE49-F238E27FC236}">
                <a16:creationId xmlns:a16="http://schemas.microsoft.com/office/drawing/2014/main" id="{1F25C0D7-9AB3-41C4-928C-D615F03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673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输入图片 -&gt; 人像掩码 -&gt; 局部重绘输出：同一条工作流可服务内容清理、主体替换与设计编辑。</a:t>
            </a:r>
          </a:p>
        </p:txBody>
      </p:sp>
      <p:cxnSp>
        <p:nvCxnSpPr>
          <p:cNvPr id="85" name="footer-rule-9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9">
            <a:extLst xmlns:a="http://schemas.openxmlformats.org/drawingml/2006/main">
              <a:ext uri="{FF2B5EF4-FFF2-40B4-BE49-F238E27FC236}">
                <a16:creationId xmlns:a16="http://schemas.microsoft.com/office/drawing/2014/main" id="{DCCA6B73-C38E-4708-AA43-BEC5D96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PEOPLE REMOVAL</a:t>
            </a:r>
          </a:p>
        </p:txBody>
      </p:sp>
      <p:sp>
        <p:nvSpPr>
          <p:cNvPr id="22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DB9322B8-4F43-4599-9FBD-9411A6D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b39ce481a483f"/>
          <a:srcRect xmlns:a="http://schemas.openxmlformats.org/drawingml/2006/main" l="13953" t="0" r="139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90700"/>
            <a:ext cx="3276600" cy="2552700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cfd5f60c74c57"/>
          <a:srcRect xmlns:a="http://schemas.openxmlformats.org/drawingml/2006/main" l="0" t="16010" r="0" b="160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3962400"/>
            <a:ext cx="3143250" cy="1200150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3becee0494c28"/>
          <a:srcRect xmlns:a="http://schemas.openxmlformats.org/drawingml/2006/main" l="0" t="21091" r="0" b="21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3962400"/>
            <a:ext cx="3695700" cy="1200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43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9">
            <a:extLst xmlns:a="http://schemas.openxmlformats.org/drawingml/2006/main">
              <a:ext uri="{FF2B5EF4-FFF2-40B4-BE49-F238E27FC236}">
                <a16:creationId xmlns:a16="http://schemas.microsoft.com/office/drawing/2014/main" id="{36602B1F-FE5C-434C-87FF-68CF0751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RUNNER DEMO / CODEFORMER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31F2265-AE09-4197-A48A-9C35ECAF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CodeFormer：从模糊人脸中恢复更清晰、可用的面部细节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F38D6F6-6335-42DA-87F7-D140B8F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cxnSp>
        <p:nvCxnSpPr>
          <p:cNvPr id="69" name="header-rule-9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6" name="aiimage-image-label-fill">
            <a:extLst xmlns:a="http://schemas.openxmlformats.org/drawingml/2006/main">
              <a:ext uri="{FF2B5EF4-FFF2-40B4-BE49-F238E27FC236}">
                <a16:creationId xmlns:a16="http://schemas.microsoft.com/office/drawing/2014/main" id="{CE2BA456-B411-4944-BA99-200CA48D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276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7" name="aiimage-image-label-text">
            <a:extLst xmlns:a="http://schemas.openxmlformats.org/drawingml/2006/main">
              <a:ext uri="{FF2B5EF4-FFF2-40B4-BE49-F238E27FC236}">
                <a16:creationId xmlns:a16="http://schemas.microsoft.com/office/drawing/2014/main" id="{122BBB00-3B87-43A2-90AC-25C6EC65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08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左侧：修复后的完整图；右下：自动检出的人脸区域</a:t>
            </a:r>
          </a:p>
        </p:txBody>
      </p:sp>
      <p:sp>
        <p:nvSpPr>
          <p:cNvPr id="8" name="aiimage-title">
            <a:extLst xmlns:a="http://schemas.openxmlformats.org/drawingml/2006/main">
              <a:ext uri="{FF2B5EF4-FFF2-40B4-BE49-F238E27FC236}">
                <a16:creationId xmlns:a16="http://schemas.microsoft.com/office/drawing/2014/main" id="{CC0C2CF0-25D1-4AAD-96B9-5C4FEB9E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790700"/>
            <a:ext cx="690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先定位人脸，再恢复细节并回贴到原图</a:t>
            </a:r>
          </a:p>
        </p:txBody>
      </p:sp>
      <p:sp>
        <p:nvSpPr>
          <p:cNvPr id="9" name="aiimage-body">
            <a:extLst xmlns:a="http://schemas.openxmlformats.org/drawingml/2006/main">
              <a:ext uri="{FF2B5EF4-FFF2-40B4-BE49-F238E27FC236}">
                <a16:creationId xmlns:a16="http://schemas.microsoft.com/office/drawing/2014/main" id="{3E39A888-444E-4D91-810B-244B99A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24100"/>
            <a:ext cx="6858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runner 从 03.jpg 自动检出 1 个主要人脸，将区域归一化到 512 x 512 进行修复，并把结果回贴到整图。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左图是完整输出，右下是模型实际处理的人脸输入区域；整条流程可用于历史照片、低清截图和人像素材修复。</a:t>
            </a:r>
          </a:p>
        </p:txBody>
      </p:sp>
      <p:sp>
        <p:nvSpPr>
          <p:cNvPr id="10" name="aiimage-evidence-1-panel">
            <a:extLst xmlns:a="http://schemas.openxmlformats.org/drawingml/2006/main">
              <a:ext uri="{FF2B5EF4-FFF2-40B4-BE49-F238E27FC236}">
                <a16:creationId xmlns:a16="http://schemas.microsoft.com/office/drawing/2014/main" id="{50948150-4AD8-4A62-9C33-BEB1C0E0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3314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aiimage-evidence-1-accent">
            <a:extLst xmlns:a="http://schemas.openxmlformats.org/drawingml/2006/main">
              <a:ext uri="{FF2B5EF4-FFF2-40B4-BE49-F238E27FC236}">
                <a16:creationId xmlns:a16="http://schemas.microsoft.com/office/drawing/2014/main" id="{5CB43ECC-69CD-4E0A-BFBF-6470F618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12" name="aiimage-evidence-1-title">
            <a:extLst xmlns:a="http://schemas.openxmlformats.org/drawingml/2006/main">
              <a:ext uri="{FF2B5EF4-FFF2-40B4-BE49-F238E27FC236}">
                <a16:creationId xmlns:a16="http://schemas.microsoft.com/office/drawing/2014/main" id="{0B3BB95F-DA65-4870-9281-66C41308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576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输入区域</a:t>
            </a:r>
          </a:p>
        </p:txBody>
      </p:sp>
      <p:sp>
        <p:nvSpPr>
          <p:cNvPr id="13" name="aiimage-evidence-1-body">
            <a:extLst xmlns:a="http://schemas.openxmlformats.org/drawingml/2006/main">
              <a:ext uri="{FF2B5EF4-FFF2-40B4-BE49-F238E27FC236}">
                <a16:creationId xmlns:a16="http://schemas.microsoft.com/office/drawing/2014/main" id="{6E9598A0-1929-4640-A47A-412A2A6E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29125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 张人脸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512 x 512 对齐裁剪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包含检测与回贴步骤</a:t>
            </a:r>
          </a:p>
        </p:txBody>
      </p:sp>
      <p:sp>
        <p:nvSpPr>
          <p:cNvPr id="14" name="aiimage-evidence-2-panel">
            <a:extLst xmlns:a="http://schemas.openxmlformats.org/drawingml/2006/main">
              <a:ext uri="{FF2B5EF4-FFF2-40B4-BE49-F238E27FC236}">
                <a16:creationId xmlns:a16="http://schemas.microsoft.com/office/drawing/2014/main" id="{40E258C2-FFE2-4E73-A1BC-F3F5D9A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386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aiimage-evidence-2-accent">
            <a:extLst xmlns:a="http://schemas.openxmlformats.org/drawingml/2006/main">
              <a:ext uri="{FF2B5EF4-FFF2-40B4-BE49-F238E27FC236}">
                <a16:creationId xmlns:a16="http://schemas.microsoft.com/office/drawing/2014/main" id="{9964E978-A3A8-4E28-898D-6D810466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6" name="aiimage-evidence-2-title">
            <a:extLst xmlns:a="http://schemas.openxmlformats.org/drawingml/2006/main">
              <a:ext uri="{FF2B5EF4-FFF2-40B4-BE49-F238E27FC236}">
                <a16:creationId xmlns:a16="http://schemas.microsoft.com/office/drawing/2014/main" id="{C2C8B2E0-FFF7-448C-A342-9EC9593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3467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修复结果</a:t>
            </a:r>
          </a:p>
        </p:txBody>
      </p:sp>
      <p:sp>
        <p:nvSpPr>
          <p:cNvPr id="17" name="aiimage-evidence-2-body">
            <a:extLst xmlns:a="http://schemas.openxmlformats.org/drawingml/2006/main">
              <a:ext uri="{FF2B5EF4-FFF2-40B4-BE49-F238E27FC236}">
                <a16:creationId xmlns:a16="http://schemas.microsoft.com/office/drawing/2014/main" id="{A882D901-D101-4E63-B0FA-DC5ED42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29125"/>
            <a:ext cx="346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运行成功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elapsed = 18,606 ms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输出：17_full_output.png</a:t>
            </a:r>
          </a:p>
        </p:txBody>
      </p:sp>
      <p:sp>
        <p:nvSpPr>
          <p:cNvPr id="18" name="aiimage-bottom">
            <a:extLst xmlns:a="http://schemas.openxmlformats.org/drawingml/2006/main">
              <a:ext uri="{FF2B5EF4-FFF2-40B4-BE49-F238E27FC236}">
                <a16:creationId xmlns:a16="http://schemas.microsoft.com/office/drawing/2014/main" id="{1A659AEE-6961-4177-9A1D-54A705A1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19" name="aiimage-bottom-text">
            <a:extLst xmlns:a="http://schemas.openxmlformats.org/drawingml/2006/main">
              <a:ext uri="{FF2B5EF4-FFF2-40B4-BE49-F238E27FC236}">
                <a16:creationId xmlns:a16="http://schemas.microsoft.com/office/drawing/2014/main" id="{1F25C0D7-9AB3-41C4-928C-D615F03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673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对用户而言，能力不是“跑了一个模型”，而是“模糊人脸可以自动定位、修复并回到原图”。</a:t>
            </a:r>
          </a:p>
        </p:txBody>
      </p:sp>
      <p:cxnSp>
        <p:nvCxnSpPr>
          <p:cNvPr id="84" name="footer-rule-9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9">
            <a:extLst xmlns:a="http://schemas.openxmlformats.org/drawingml/2006/main">
              <a:ext uri="{FF2B5EF4-FFF2-40B4-BE49-F238E27FC236}">
                <a16:creationId xmlns:a16="http://schemas.microsoft.com/office/drawing/2014/main" id="{DCCA6B73-C38E-4708-AA43-BEC5D96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CODEFORMER FACE RESTORATION</a:t>
            </a:r>
          </a:p>
        </p:txBody>
      </p:sp>
      <p:sp>
        <p:nvSpPr>
          <p:cNvPr id="22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DB9322B8-4F43-4599-9FBD-9411A6D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ff9d4e1fc4a4b"/>
          <a:srcRect xmlns:a="http://schemas.openxmlformats.org/drawingml/2006/main" l="13953" t="0" r="139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90700"/>
            <a:ext cx="3276600" cy="25527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65316b8074c02"/>
          <a:srcRect xmlns:a="http://schemas.openxmlformats.org/drawingml/2006/main" l="0" t="30909" r="0" b="30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3962400"/>
            <a:ext cx="3143250" cy="1200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439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9">
            <a:extLst xmlns:a="http://schemas.openxmlformats.org/drawingml/2006/main">
              <a:ext uri="{FF2B5EF4-FFF2-40B4-BE49-F238E27FC236}">
                <a16:creationId xmlns:a16="http://schemas.microsoft.com/office/drawing/2014/main" id="{36602B1F-FE5C-434C-87FF-68CF0751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RUNNER DEMO / REAL-ESRGAN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31F2265-AE09-4197-A48A-9C35ECAF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RealESRGAN：对输入图片输出增强后的视觉结果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F38D6F6-6335-42DA-87F7-D140B8F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cxnSp>
        <p:nvCxnSpPr>
          <p:cNvPr id="69" name="header-rule-9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6" name="aiimage-image-label-fill">
            <a:extLst xmlns:a="http://schemas.openxmlformats.org/drawingml/2006/main">
              <a:ext uri="{FF2B5EF4-FFF2-40B4-BE49-F238E27FC236}">
                <a16:creationId xmlns:a16="http://schemas.microsoft.com/office/drawing/2014/main" id="{CE2BA456-B411-4944-BA99-200CA48D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276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7" name="aiimage-image-label-text">
            <a:extLst xmlns:a="http://schemas.openxmlformats.org/drawingml/2006/main">
              <a:ext uri="{FF2B5EF4-FFF2-40B4-BE49-F238E27FC236}">
                <a16:creationId xmlns:a16="http://schemas.microsoft.com/office/drawing/2014/main" id="{122BBB00-3B87-43A2-90AC-25C6EC65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08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左侧：增强输出；右下：原始输入</a:t>
            </a:r>
          </a:p>
        </p:txBody>
      </p:sp>
      <p:sp>
        <p:nvSpPr>
          <p:cNvPr id="8" name="aiimage-title">
            <a:extLst xmlns:a="http://schemas.openxmlformats.org/drawingml/2006/main">
              <a:ext uri="{FF2B5EF4-FFF2-40B4-BE49-F238E27FC236}">
                <a16:creationId xmlns:a16="http://schemas.microsoft.com/office/drawing/2014/main" id="{CC0C2CF0-25D1-4AAD-96B9-5C4FEB9E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790700"/>
            <a:ext cx="690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同一张 03.jpg 经过图像增强，得到新的可用图像</a:t>
            </a:r>
          </a:p>
        </p:txBody>
      </p:sp>
      <p:sp>
        <p:nvSpPr>
          <p:cNvPr id="9" name="aiimage-body">
            <a:extLst xmlns:a="http://schemas.openxmlformats.org/drawingml/2006/main">
              <a:ext uri="{FF2B5EF4-FFF2-40B4-BE49-F238E27FC236}">
                <a16:creationId xmlns:a16="http://schemas.microsoft.com/office/drawing/2014/main" id="{3E39A888-444E-4D91-810B-244B99A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24100"/>
            <a:ext cx="6858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本次使用 realesrgan-x4plus-anime 模型，对 03.jpg 执行图像增强。左图为静默跑测实际输出，右下保留原图用于视觉对照。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该 runner 可作为图像增强、二次创作前处理和低质量素材处理的独立能力，也可串接在人像修复之后。</a:t>
            </a:r>
          </a:p>
        </p:txBody>
      </p:sp>
      <p:sp>
        <p:nvSpPr>
          <p:cNvPr id="10" name="aiimage-evidence-1-panel">
            <a:extLst xmlns:a="http://schemas.openxmlformats.org/drawingml/2006/main">
              <a:ext uri="{FF2B5EF4-FFF2-40B4-BE49-F238E27FC236}">
                <a16:creationId xmlns:a16="http://schemas.microsoft.com/office/drawing/2014/main" id="{50948150-4AD8-4A62-9C33-BEB1C0E0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3314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aiimage-evidence-1-accent">
            <a:extLst xmlns:a="http://schemas.openxmlformats.org/drawingml/2006/main">
              <a:ext uri="{FF2B5EF4-FFF2-40B4-BE49-F238E27FC236}">
                <a16:creationId xmlns:a16="http://schemas.microsoft.com/office/drawing/2014/main" id="{5CB43ECC-69CD-4E0A-BFBF-6470F618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12" name="aiimage-evidence-1-title">
            <a:extLst xmlns:a="http://schemas.openxmlformats.org/drawingml/2006/main">
              <a:ext uri="{FF2B5EF4-FFF2-40B4-BE49-F238E27FC236}">
                <a16:creationId xmlns:a16="http://schemas.microsoft.com/office/drawing/2014/main" id="{0B3BB95F-DA65-4870-9281-66C41308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576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输入与输出</a:t>
            </a:r>
          </a:p>
        </p:txBody>
      </p:sp>
      <p:sp>
        <p:nvSpPr>
          <p:cNvPr id="13" name="aiimage-evidence-1-body">
            <a:extLst xmlns:a="http://schemas.openxmlformats.org/drawingml/2006/main">
              <a:ext uri="{FF2B5EF4-FFF2-40B4-BE49-F238E27FC236}">
                <a16:creationId xmlns:a16="http://schemas.microsoft.com/office/drawing/2014/main" id="{6E9598A0-1929-4640-A47A-412A2A6E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29125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输入：600 x 337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输出：600 x 337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保留为可视化结果文件</a:t>
            </a:r>
          </a:p>
        </p:txBody>
      </p:sp>
      <p:sp>
        <p:nvSpPr>
          <p:cNvPr id="14" name="aiimage-evidence-2-panel">
            <a:extLst xmlns:a="http://schemas.openxmlformats.org/drawingml/2006/main">
              <a:ext uri="{FF2B5EF4-FFF2-40B4-BE49-F238E27FC236}">
                <a16:creationId xmlns:a16="http://schemas.microsoft.com/office/drawing/2014/main" id="{40E258C2-FFE2-4E73-A1BC-F3F5D9A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386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aiimage-evidence-2-accent">
            <a:extLst xmlns:a="http://schemas.openxmlformats.org/drawingml/2006/main">
              <a:ext uri="{FF2B5EF4-FFF2-40B4-BE49-F238E27FC236}">
                <a16:creationId xmlns:a16="http://schemas.microsoft.com/office/drawing/2014/main" id="{9964E978-A3A8-4E28-898D-6D810466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6" name="aiimage-evidence-2-title">
            <a:extLst xmlns:a="http://schemas.openxmlformats.org/drawingml/2006/main">
              <a:ext uri="{FF2B5EF4-FFF2-40B4-BE49-F238E27FC236}">
                <a16:creationId xmlns:a16="http://schemas.microsoft.com/office/drawing/2014/main" id="{C2C8B2E0-FFF7-448C-A342-9EC9593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3467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验证记录</a:t>
            </a:r>
          </a:p>
        </p:txBody>
      </p:sp>
      <p:sp>
        <p:nvSpPr>
          <p:cNvPr id="17" name="aiimage-evidence-2-body">
            <a:extLst xmlns:a="http://schemas.openxmlformats.org/drawingml/2006/main">
              <a:ext uri="{FF2B5EF4-FFF2-40B4-BE49-F238E27FC236}">
                <a16:creationId xmlns:a16="http://schemas.microsoft.com/office/drawing/2014/main" id="{A882D901-D101-4E63-B0FA-DC5ED42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29125"/>
            <a:ext cx="346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status = ok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elapsed = 5,187 ms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输出：realesrgan-x4plus-anime_03_cmd.png</a:t>
            </a:r>
          </a:p>
        </p:txBody>
      </p:sp>
      <p:sp>
        <p:nvSpPr>
          <p:cNvPr id="18" name="aiimage-bottom">
            <a:extLst xmlns:a="http://schemas.openxmlformats.org/drawingml/2006/main">
              <a:ext uri="{FF2B5EF4-FFF2-40B4-BE49-F238E27FC236}">
                <a16:creationId xmlns:a16="http://schemas.microsoft.com/office/drawing/2014/main" id="{1A659AEE-6961-4177-9A1D-54A705A1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19" name="aiimage-bottom-text">
            <a:extLst xmlns:a="http://schemas.openxmlformats.org/drawingml/2006/main">
              <a:ext uri="{FF2B5EF4-FFF2-40B4-BE49-F238E27FC236}">
                <a16:creationId xmlns:a16="http://schemas.microsoft.com/office/drawing/2014/main" id="{1F25C0D7-9AB3-41C4-928C-D615F03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673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增强类 runner 将图像作为输入，也将新的图像作为输出，便于直接接入编辑器、素材管线和后续视觉模型。</a:t>
            </a:r>
          </a:p>
        </p:txBody>
      </p:sp>
      <p:cxnSp>
        <p:nvCxnSpPr>
          <p:cNvPr id="84" name="footer-rule-9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9">
            <a:extLst xmlns:a="http://schemas.openxmlformats.org/drawingml/2006/main">
              <a:ext uri="{FF2B5EF4-FFF2-40B4-BE49-F238E27FC236}">
                <a16:creationId xmlns:a16="http://schemas.microsoft.com/office/drawing/2014/main" id="{DCCA6B73-C38E-4708-AA43-BEC5D96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REAL-ESRGAN ENHANCEMENT</a:t>
            </a:r>
          </a:p>
        </p:txBody>
      </p:sp>
      <p:sp>
        <p:nvSpPr>
          <p:cNvPr id="22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DB9322B8-4F43-4599-9FBD-9411A6D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122c480eb4e19"/>
          <a:srcRect xmlns:a="http://schemas.openxmlformats.org/drawingml/2006/main" l="13953" t="0" r="139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90700"/>
            <a:ext cx="3276600" cy="25527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f2107699e410d"/>
          <a:srcRect xmlns:a="http://schemas.openxmlformats.org/drawingml/2006/main" l="0" t="16010" r="0" b="160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3962400"/>
            <a:ext cx="3143250" cy="1200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439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9">
            <a:extLst xmlns:a="http://schemas.openxmlformats.org/drawingml/2006/main">
              <a:ext uri="{FF2B5EF4-FFF2-40B4-BE49-F238E27FC236}">
                <a16:creationId xmlns:a16="http://schemas.microsoft.com/office/drawing/2014/main" id="{36602B1F-FE5C-434C-87FF-68CF0751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APPLICATION / MEDICAL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31F2265-AE09-4197-A48A-9C35ECAF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MONAI / VISTA：3D 分割用于体渲染、切割和导航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F38D6F6-6335-42DA-87F7-D140B8F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cxnSp>
        <p:nvCxnSpPr>
          <p:cNvPr id="68" name="header-rule-9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6" name="aiimage-image-label-fill">
            <a:extLst xmlns:a="http://schemas.openxmlformats.org/drawingml/2006/main">
              <a:ext uri="{FF2B5EF4-FFF2-40B4-BE49-F238E27FC236}">
                <a16:creationId xmlns:a16="http://schemas.microsoft.com/office/drawing/2014/main" id="{CE2BA456-B411-4944-BA99-200CA48D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276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7" name="aiimage-image-label-text">
            <a:extLst xmlns:a="http://schemas.openxmlformats.org/drawingml/2006/main">
              <a:ext uri="{FF2B5EF4-FFF2-40B4-BE49-F238E27FC236}">
                <a16:creationId xmlns:a16="http://schemas.microsoft.com/office/drawing/2014/main" id="{122BBB00-3B87-43A2-90AC-25C6EC65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08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3D 分割结果可视化示意</a:t>
            </a:r>
          </a:p>
        </p:txBody>
      </p:sp>
      <p:sp>
        <p:nvSpPr>
          <p:cNvPr id="8" name="aiimage-title">
            <a:extLst xmlns:a="http://schemas.openxmlformats.org/drawingml/2006/main">
              <a:ext uri="{FF2B5EF4-FFF2-40B4-BE49-F238E27FC236}">
                <a16:creationId xmlns:a16="http://schemas.microsoft.com/office/drawing/2014/main" id="{CC0C2CF0-25D1-4AAD-96B9-5C4FEB9E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790700"/>
            <a:ext cx="690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医学分割交付可复核的多标签体数据</a:t>
            </a:r>
          </a:p>
        </p:txBody>
      </p:sp>
      <p:sp>
        <p:nvSpPr>
          <p:cNvPr id="9" name="aiimage-body">
            <a:extLst xmlns:a="http://schemas.openxmlformats.org/drawingml/2006/main">
              <a:ext uri="{FF2B5EF4-FFF2-40B4-BE49-F238E27FC236}">
                <a16:creationId xmlns:a16="http://schemas.microsoft.com/office/drawing/2014/main" id="{3E39A888-444E-4D91-810B-244B99A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24100"/>
            <a:ext cx="6858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WholeBrain 用于脑室等结构分割，VISTA 用于带提示的解剖结构分割。输出可作为多标签 label volume、置信度或边界距离数据被体渲染和导航模块直接消费。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现有验证采用 Python 基线与 Unity 对照，并保留内存守卫、超时与审计记录。</a:t>
            </a:r>
          </a:p>
        </p:txBody>
      </p:sp>
      <p:sp>
        <p:nvSpPr>
          <p:cNvPr id="10" name="aiimage-evidence-1-panel">
            <a:extLst xmlns:a="http://schemas.openxmlformats.org/drawingml/2006/main">
              <a:ext uri="{FF2B5EF4-FFF2-40B4-BE49-F238E27FC236}">
                <a16:creationId xmlns:a16="http://schemas.microsoft.com/office/drawing/2014/main" id="{50948150-4AD8-4A62-9C33-BEB1C0E0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3314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aiimage-evidence-1-accent">
            <a:extLst xmlns:a="http://schemas.openxmlformats.org/drawingml/2006/main">
              <a:ext uri="{FF2B5EF4-FFF2-40B4-BE49-F238E27FC236}">
                <a16:creationId xmlns:a16="http://schemas.microsoft.com/office/drawing/2014/main" id="{5CB43ECC-69CD-4E0A-BFBF-6470F618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12" name="aiimage-evidence-1-title">
            <a:extLst xmlns:a="http://schemas.openxmlformats.org/drawingml/2006/main">
              <a:ext uri="{FF2B5EF4-FFF2-40B4-BE49-F238E27FC236}">
                <a16:creationId xmlns:a16="http://schemas.microsoft.com/office/drawing/2014/main" id="{0B3BB95F-DA65-4870-9281-66C41308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576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WholeBrain 能做什么</a:t>
            </a:r>
          </a:p>
        </p:txBody>
      </p:sp>
      <p:sp>
        <p:nvSpPr>
          <p:cNvPr id="13" name="aiimage-evidence-1-body">
            <a:extLst xmlns:a="http://schemas.openxmlformats.org/drawingml/2006/main">
              <a:ext uri="{FF2B5EF4-FFF2-40B4-BE49-F238E27FC236}">
                <a16:creationId xmlns:a16="http://schemas.microsoft.com/office/drawing/2014/main" id="{6E9598A0-1929-4640-A47A-412A2A6E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29125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MRI 体数据 -&gt; 脑室 labelmap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sliding-window 全量推理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run46 labelmap 对齐率 0.998750372</a:t>
            </a:r>
          </a:p>
        </p:txBody>
      </p:sp>
      <p:sp>
        <p:nvSpPr>
          <p:cNvPr id="14" name="aiimage-evidence-2-panel">
            <a:extLst xmlns:a="http://schemas.openxmlformats.org/drawingml/2006/main">
              <a:ext uri="{FF2B5EF4-FFF2-40B4-BE49-F238E27FC236}">
                <a16:creationId xmlns:a16="http://schemas.microsoft.com/office/drawing/2014/main" id="{40E258C2-FFE2-4E73-A1BC-F3F5D9A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386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aiimage-evidence-2-accent">
            <a:extLst xmlns:a="http://schemas.openxmlformats.org/drawingml/2006/main">
              <a:ext uri="{FF2B5EF4-FFF2-40B4-BE49-F238E27FC236}">
                <a16:creationId xmlns:a16="http://schemas.microsoft.com/office/drawing/2014/main" id="{9964E978-A3A8-4E28-898D-6D810466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6" name="aiimage-evidence-2-title">
            <a:extLst xmlns:a="http://schemas.openxmlformats.org/drawingml/2006/main">
              <a:ext uri="{FF2B5EF4-FFF2-40B4-BE49-F238E27FC236}">
                <a16:creationId xmlns:a16="http://schemas.microsoft.com/office/drawing/2014/main" id="{C2C8B2E0-FFF7-448C-A342-9EC9593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3467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VISTA 能做什么</a:t>
            </a:r>
          </a:p>
        </p:txBody>
      </p:sp>
      <p:sp>
        <p:nvSpPr>
          <p:cNvPr id="17" name="aiimage-evidence-2-body">
            <a:extLst xmlns:a="http://schemas.openxmlformats.org/drawingml/2006/main">
              <a:ext uri="{FF2B5EF4-FFF2-40B4-BE49-F238E27FC236}">
                <a16:creationId xmlns:a16="http://schemas.microsoft.com/office/drawing/2014/main" id="{A882D901-D101-4E63-B0FA-DC5ED42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29125"/>
            <a:ext cx="346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CT / MRI + 类别提示 -&gt; 多标签掩码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已建立 skull 分割 Python 基线与 Unity 对齐验证</a:t>
            </a:r>
          </a:p>
        </p:txBody>
      </p:sp>
      <p:sp>
        <p:nvSpPr>
          <p:cNvPr id="18" name="aiimage-bottom">
            <a:extLst xmlns:a="http://schemas.openxmlformats.org/drawingml/2006/main">
              <a:ext uri="{FF2B5EF4-FFF2-40B4-BE49-F238E27FC236}">
                <a16:creationId xmlns:a16="http://schemas.microsoft.com/office/drawing/2014/main" id="{1A659AEE-6961-4177-9A1D-54A705A1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19" name="aiimage-bottom-text">
            <a:extLst xmlns:a="http://schemas.openxmlformats.org/drawingml/2006/main">
              <a:ext uri="{FF2B5EF4-FFF2-40B4-BE49-F238E27FC236}">
                <a16:creationId xmlns:a16="http://schemas.microsoft.com/office/drawing/2014/main" id="{1F25C0D7-9AB3-41C4-928C-D615F03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673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医学能力以准确性、可重复、可审计和受控资源为第一约束，目标是本地端侧的可消费分割结果。</a:t>
            </a:r>
          </a:p>
        </p:txBody>
      </p:sp>
      <p:cxnSp>
        <p:nvCxnSpPr>
          <p:cNvPr id="83" name="footer-rule-9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9">
            <a:extLst xmlns:a="http://schemas.openxmlformats.org/drawingml/2006/main">
              <a:ext uri="{FF2B5EF4-FFF2-40B4-BE49-F238E27FC236}">
                <a16:creationId xmlns:a16="http://schemas.microsoft.com/office/drawing/2014/main" id="{DCCA6B73-C38E-4708-AA43-BEC5D96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MONAI + VISTA</a:t>
            </a:r>
          </a:p>
        </p:txBody>
      </p:sp>
      <p:sp>
        <p:nvSpPr>
          <p:cNvPr id="22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DB9322B8-4F43-4599-9FBD-9411A6D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ae47e1f074a3c"/>
          <a:srcRect xmlns:a="http://schemas.openxmlformats.org/drawingml/2006/main" l="4905" t="0" r="49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90700"/>
            <a:ext cx="3276600" cy="2552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439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9">
            <a:extLst xmlns:a="http://schemas.openxmlformats.org/drawingml/2006/main">
              <a:ext uri="{FF2B5EF4-FFF2-40B4-BE49-F238E27FC236}">
                <a16:creationId xmlns:a16="http://schemas.microsoft.com/office/drawing/2014/main" id="{36602B1F-FE5C-434C-87FF-68CF0751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APPLICATION / EDUCATION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31F2265-AE09-4197-A48A-9C35ECAF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Vibe Coding：自然语言转为可审查的教学 IR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F38D6F6-6335-42DA-87F7-D140B8F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cxnSp>
        <p:nvCxnSpPr>
          <p:cNvPr id="68" name="header-rule-9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6" name="aiimage-image-label-fill">
            <a:extLst xmlns:a="http://schemas.openxmlformats.org/drawingml/2006/main">
              <a:ext uri="{FF2B5EF4-FFF2-40B4-BE49-F238E27FC236}">
                <a16:creationId xmlns:a16="http://schemas.microsoft.com/office/drawing/2014/main" id="{CE2BA456-B411-4944-BA99-200CA48D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276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7" name="aiimage-image-label-text">
            <a:extLst xmlns:a="http://schemas.openxmlformats.org/drawingml/2006/main">
              <a:ext uri="{FF2B5EF4-FFF2-40B4-BE49-F238E27FC236}">
                <a16:creationId xmlns:a16="http://schemas.microsoft.com/office/drawing/2014/main" id="{122BBB00-3B87-43A2-90AC-25C6EC65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08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jiaoyux Vibe Coding 实机界面</a:t>
            </a:r>
          </a:p>
        </p:txBody>
      </p:sp>
      <p:sp>
        <p:nvSpPr>
          <p:cNvPr id="8" name="aiimage-title">
            <a:extLst xmlns:a="http://schemas.openxmlformats.org/drawingml/2006/main">
              <a:ext uri="{FF2B5EF4-FFF2-40B4-BE49-F238E27FC236}">
                <a16:creationId xmlns:a16="http://schemas.microsoft.com/office/drawing/2014/main" id="{CC0C2CF0-25D1-4AAD-96B9-5C4FEB9E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790700"/>
            <a:ext cx="690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学习者用中文描述意图，系统给出候选教学指令和可读预览</a:t>
            </a:r>
          </a:p>
        </p:txBody>
      </p:sp>
      <p:sp>
        <p:nvSpPr>
          <p:cNvPr id="9" name="aiimage-body">
            <a:extLst xmlns:a="http://schemas.openxmlformats.org/drawingml/2006/main">
              <a:ext uri="{FF2B5EF4-FFF2-40B4-BE49-F238E27FC236}">
                <a16:creationId xmlns:a16="http://schemas.microsoft.com/office/drawing/2014/main" id="{3E39A888-444E-4D91-810B-244B99A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24100"/>
            <a:ext cx="6858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引擎可提供端侧自然语言模型调用；jiaoyux 保持 ir_v0.1 的语言定义和执行器所有权。模型只负责生成候选 JSON，不能绕过规则或直接控制硬件。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截图展示了自然语言输入、指令候选与执行前预览的真实界面。</a:t>
            </a:r>
          </a:p>
        </p:txBody>
      </p:sp>
      <p:sp>
        <p:nvSpPr>
          <p:cNvPr id="10" name="aiimage-evidence-1-panel">
            <a:extLst xmlns:a="http://schemas.openxmlformats.org/drawingml/2006/main">
              <a:ext uri="{FF2B5EF4-FFF2-40B4-BE49-F238E27FC236}">
                <a16:creationId xmlns:a16="http://schemas.microsoft.com/office/drawing/2014/main" id="{50948150-4AD8-4A62-9C33-BEB1C0E0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3314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aiimage-evidence-1-accent">
            <a:extLst xmlns:a="http://schemas.openxmlformats.org/drawingml/2006/main">
              <a:ext uri="{FF2B5EF4-FFF2-40B4-BE49-F238E27FC236}">
                <a16:creationId xmlns:a16="http://schemas.microsoft.com/office/drawing/2014/main" id="{5CB43ECC-69CD-4E0A-BFBF-6470F618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12" name="aiimage-evidence-1-title">
            <a:extLst xmlns:a="http://schemas.openxmlformats.org/drawingml/2006/main">
              <a:ext uri="{FF2B5EF4-FFF2-40B4-BE49-F238E27FC236}">
                <a16:creationId xmlns:a16="http://schemas.microsoft.com/office/drawing/2014/main" id="{0B3BB95F-DA65-4870-9281-66C41308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576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受控转换链路</a:t>
            </a:r>
          </a:p>
        </p:txBody>
      </p:sp>
      <p:sp>
        <p:nvSpPr>
          <p:cNvPr id="13" name="aiimage-evidence-1-body">
            <a:extLst xmlns:a="http://schemas.openxmlformats.org/drawingml/2006/main">
              <a:ext uri="{FF2B5EF4-FFF2-40B4-BE49-F238E27FC236}">
                <a16:creationId xmlns:a16="http://schemas.microsoft.com/office/drawing/2014/main" id="{6E9598A0-1929-4640-A47A-412A2A6E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29125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自然语言 -&gt; 候选 JSON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-&gt; schema / 能力校验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-&gt; 可读 IR 预览</a:t>
            </a:r>
          </a:p>
        </p:txBody>
      </p:sp>
      <p:sp>
        <p:nvSpPr>
          <p:cNvPr id="14" name="aiimage-evidence-2-panel">
            <a:extLst xmlns:a="http://schemas.openxmlformats.org/drawingml/2006/main">
              <a:ext uri="{FF2B5EF4-FFF2-40B4-BE49-F238E27FC236}">
                <a16:creationId xmlns:a16="http://schemas.microsoft.com/office/drawing/2014/main" id="{40E258C2-FFE2-4E73-A1BC-F3F5D9A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386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aiimage-evidence-2-accent">
            <a:extLst xmlns:a="http://schemas.openxmlformats.org/drawingml/2006/main">
              <a:ext uri="{FF2B5EF4-FFF2-40B4-BE49-F238E27FC236}">
                <a16:creationId xmlns:a16="http://schemas.microsoft.com/office/drawing/2014/main" id="{9964E978-A3A8-4E28-898D-6D810466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6" name="aiimage-evidence-2-title">
            <a:extLst xmlns:a="http://schemas.openxmlformats.org/drawingml/2006/main">
              <a:ext uri="{FF2B5EF4-FFF2-40B4-BE49-F238E27FC236}">
                <a16:creationId xmlns:a16="http://schemas.microsoft.com/office/drawing/2014/main" id="{C2C8B2E0-FFF7-448C-A342-9EC9593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3467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用户获得什么</a:t>
            </a:r>
          </a:p>
        </p:txBody>
      </p:sp>
      <p:sp>
        <p:nvSpPr>
          <p:cNvPr id="17" name="aiimage-evidence-2-body">
            <a:extLst xmlns:a="http://schemas.openxmlformats.org/drawingml/2006/main">
              <a:ext uri="{FF2B5EF4-FFF2-40B4-BE49-F238E27FC236}">
                <a16:creationId xmlns:a16="http://schemas.microsoft.com/office/drawing/2014/main" id="{A882D901-D101-4E63-B0FA-DC5ED42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29125"/>
            <a:ext cx="346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解释得清楚的教学步骤；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未知 op、越界参数和不支持结构会被拒绝；用户确认后才进入 IRExecutor。</a:t>
            </a:r>
          </a:p>
        </p:txBody>
      </p:sp>
      <p:sp>
        <p:nvSpPr>
          <p:cNvPr id="18" name="aiimage-bottom">
            <a:extLst xmlns:a="http://schemas.openxmlformats.org/drawingml/2006/main">
              <a:ext uri="{FF2B5EF4-FFF2-40B4-BE49-F238E27FC236}">
                <a16:creationId xmlns:a16="http://schemas.microsoft.com/office/drawing/2014/main" id="{1A659AEE-6961-4177-9A1D-54A705A1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19" name="aiimage-bottom-text">
            <a:extLst xmlns:a="http://schemas.openxmlformats.org/drawingml/2006/main">
              <a:ext uri="{FF2B5EF4-FFF2-40B4-BE49-F238E27FC236}">
                <a16:creationId xmlns:a16="http://schemas.microsoft.com/office/drawing/2014/main" id="{1F25C0D7-9AB3-41C4-928C-D615F03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673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 条自然语言规则映射到现有 canonical op；模型输出被视为不可信输入，安全性来自 schema 与确认流程。</a:t>
            </a:r>
          </a:p>
        </p:txBody>
      </p:sp>
      <p:cxnSp>
        <p:nvCxnSpPr>
          <p:cNvPr id="83" name="footer-rule-9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9">
            <a:extLst xmlns:a="http://schemas.openxmlformats.org/drawingml/2006/main">
              <a:ext uri="{FF2B5EF4-FFF2-40B4-BE49-F238E27FC236}">
                <a16:creationId xmlns:a16="http://schemas.microsoft.com/office/drawing/2014/main" id="{DCCA6B73-C38E-4708-AA43-BEC5D96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JIAOYUX / VIBE CODING</a:t>
            </a:r>
          </a:p>
        </p:txBody>
      </p:sp>
      <p:sp>
        <p:nvSpPr>
          <p:cNvPr id="22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DB9322B8-4F43-4599-9FBD-9411A6D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a30d9083a44d0"/>
          <a:srcRect xmlns:a="http://schemas.openxmlformats.org/drawingml/2006/main" l="13899" t="0" r="138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90700"/>
            <a:ext cx="3276600" cy="2552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439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9">
            <a:extLst xmlns:a="http://schemas.openxmlformats.org/drawingml/2006/main">
              <a:ext uri="{FF2B5EF4-FFF2-40B4-BE49-F238E27FC236}">
                <a16:creationId xmlns:a16="http://schemas.microsoft.com/office/drawing/2014/main" id="{36602B1F-FE5C-434C-87FF-68CF0751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APPLICATION / GAME AR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31F2265-AE09-4197-A48A-9C35ECAF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AICityRunner：把相机画面转成分类、姿态和手势等 AR 结果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F38D6F6-6335-42DA-87F7-D140B8F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cxnSp>
        <p:nvCxnSpPr>
          <p:cNvPr id="68" name="header-rule-9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6" name="aiimage-image-label-fill">
            <a:extLst xmlns:a="http://schemas.openxmlformats.org/drawingml/2006/main">
              <a:ext uri="{FF2B5EF4-FFF2-40B4-BE49-F238E27FC236}">
                <a16:creationId xmlns:a16="http://schemas.microsoft.com/office/drawing/2014/main" id="{CE2BA456-B411-4944-BA99-200CA48D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276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7" name="aiimage-image-label-text">
            <a:extLst xmlns:a="http://schemas.openxmlformats.org/drawingml/2006/main">
              <a:ext uri="{FF2B5EF4-FFF2-40B4-BE49-F238E27FC236}">
                <a16:creationId xmlns:a16="http://schemas.microsoft.com/office/drawing/2014/main" id="{122BBB00-3B87-43A2-90AC-25C6EC65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08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AICityRunner 场景素材</a:t>
            </a:r>
          </a:p>
        </p:txBody>
      </p:sp>
      <p:sp>
        <p:nvSpPr>
          <p:cNvPr id="8" name="aiimage-title">
            <a:extLst xmlns:a="http://schemas.openxmlformats.org/drawingml/2006/main">
              <a:ext uri="{FF2B5EF4-FFF2-40B4-BE49-F238E27FC236}">
                <a16:creationId xmlns:a16="http://schemas.microsoft.com/office/drawing/2014/main" id="{CC0C2CF0-25D1-4AAD-96B9-5C4FEB9E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790700"/>
            <a:ext cx="690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游戏和 AR 业务直接消费可定位、可叠加、可追溯的推理结果</a:t>
            </a:r>
          </a:p>
        </p:txBody>
      </p:sp>
      <p:sp>
        <p:nvSpPr>
          <p:cNvPr id="9" name="aiimage-body">
            <a:extLst xmlns:a="http://schemas.openxmlformats.org/drawingml/2006/main">
              <a:ext uri="{FF2B5EF4-FFF2-40B4-BE49-F238E27FC236}">
                <a16:creationId xmlns:a16="http://schemas.microsoft.com/office/drawing/2014/main" id="{3E39A888-444E-4D91-810B-244B99A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24100"/>
            <a:ext cx="6858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接入目标覆盖图像识别、人体 / 物体姿态与手势识别。调用方提交 AR Camera 图像及坐标元数据，按需接收分类、框、关键点、置信度和可用于叠加的结果。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引擎负责模型与后处理；何时提交、何时消费、如何驱动玩法由 AICityRunner 业务层决定。</a:t>
            </a:r>
          </a:p>
        </p:txBody>
      </p:sp>
      <p:sp>
        <p:nvSpPr>
          <p:cNvPr id="10" name="aiimage-evidence-1-panel">
            <a:extLst xmlns:a="http://schemas.openxmlformats.org/drawingml/2006/main">
              <a:ext uri="{FF2B5EF4-FFF2-40B4-BE49-F238E27FC236}">
                <a16:creationId xmlns:a16="http://schemas.microsoft.com/office/drawing/2014/main" id="{50948150-4AD8-4A62-9C33-BEB1C0E0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3314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aiimage-evidence-1-accent">
            <a:extLst xmlns:a="http://schemas.openxmlformats.org/drawingml/2006/main">
              <a:ext uri="{FF2B5EF4-FFF2-40B4-BE49-F238E27FC236}">
                <a16:creationId xmlns:a16="http://schemas.microsoft.com/office/drawing/2014/main" id="{5CB43ECC-69CD-4E0A-BFBF-6470F618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12" name="aiimage-evidence-1-title">
            <a:extLst xmlns:a="http://schemas.openxmlformats.org/drawingml/2006/main">
              <a:ext uri="{FF2B5EF4-FFF2-40B4-BE49-F238E27FC236}">
                <a16:creationId xmlns:a16="http://schemas.microsoft.com/office/drawing/2014/main" id="{0B3BB95F-DA65-4870-9281-66C41308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576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可实现的交互</a:t>
            </a:r>
          </a:p>
        </p:txBody>
      </p:sp>
      <p:sp>
        <p:nvSpPr>
          <p:cNvPr id="13" name="aiimage-evidence-1-body">
            <a:extLst xmlns:a="http://schemas.openxmlformats.org/drawingml/2006/main">
              <a:ext uri="{FF2B5EF4-FFF2-40B4-BE49-F238E27FC236}">
                <a16:creationId xmlns:a16="http://schemas.microsoft.com/office/drawing/2014/main" id="{6E9598A0-1929-4640-A47A-412A2A6E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29125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场景物体识别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单人 / 多人姿态关键点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手势识别与手部 landmark</a:t>
            </a:r>
          </a:p>
        </p:txBody>
      </p:sp>
      <p:sp>
        <p:nvSpPr>
          <p:cNvPr id="14" name="aiimage-evidence-2-panel">
            <a:extLst xmlns:a="http://schemas.openxmlformats.org/drawingml/2006/main">
              <a:ext uri="{FF2B5EF4-FFF2-40B4-BE49-F238E27FC236}">
                <a16:creationId xmlns:a16="http://schemas.microsoft.com/office/drawing/2014/main" id="{40E258C2-FFE2-4E73-A1BC-F3F5D9A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386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aiimage-evidence-2-accent">
            <a:extLst xmlns:a="http://schemas.openxmlformats.org/drawingml/2006/main">
              <a:ext uri="{FF2B5EF4-FFF2-40B4-BE49-F238E27FC236}">
                <a16:creationId xmlns:a16="http://schemas.microsoft.com/office/drawing/2014/main" id="{9964E978-A3A8-4E28-898D-6D810466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6" name="aiimage-evidence-2-title">
            <a:extLst xmlns:a="http://schemas.openxmlformats.org/drawingml/2006/main">
              <a:ext uri="{FF2B5EF4-FFF2-40B4-BE49-F238E27FC236}">
                <a16:creationId xmlns:a16="http://schemas.microsoft.com/office/drawing/2014/main" id="{C2C8B2E0-FFF7-448C-A342-9EC9593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3467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结果给游戏什么</a:t>
            </a:r>
          </a:p>
        </p:txBody>
      </p:sp>
      <p:sp>
        <p:nvSpPr>
          <p:cNvPr id="17" name="aiimage-evidence-2-body">
            <a:extLst xmlns:a="http://schemas.openxmlformats.org/drawingml/2006/main">
              <a:ext uri="{FF2B5EF4-FFF2-40B4-BE49-F238E27FC236}">
                <a16:creationId xmlns:a16="http://schemas.microsoft.com/office/drawing/2014/main" id="{A882D901-D101-4E63-B0FA-DC5ED42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29125"/>
            <a:ext cx="346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请求 ID、时间戳、模型版本、置信度、坐标空间、关键点 / 分类结果与可用于 overlay 的 GPU 结果句柄。</a:t>
            </a:r>
          </a:p>
        </p:txBody>
      </p:sp>
      <p:sp>
        <p:nvSpPr>
          <p:cNvPr id="18" name="aiimage-bottom">
            <a:extLst xmlns:a="http://schemas.openxmlformats.org/drawingml/2006/main">
              <a:ext uri="{FF2B5EF4-FFF2-40B4-BE49-F238E27FC236}">
                <a16:creationId xmlns:a16="http://schemas.microsoft.com/office/drawing/2014/main" id="{1A659AEE-6961-4177-9A1D-54A705A1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19" name="aiimage-bottom-text">
            <a:extLst xmlns:a="http://schemas.openxmlformats.org/drawingml/2006/main">
              <a:ext uri="{FF2B5EF4-FFF2-40B4-BE49-F238E27FC236}">
                <a16:creationId xmlns:a16="http://schemas.microsoft.com/office/drawing/2014/main" id="{1F25C0D7-9AB3-41C4-928C-D615F03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673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目标是让视觉模型输出成为 AR 场景里的可靠输入，而不是把推理细节和帧调度耦合进游戏代码。</a:t>
            </a:r>
          </a:p>
        </p:txBody>
      </p:sp>
      <p:cxnSp>
        <p:nvCxnSpPr>
          <p:cNvPr id="83" name="footer-rule-9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1" name="footer-9">
            <a:extLst xmlns:a="http://schemas.openxmlformats.org/drawingml/2006/main">
              <a:ext uri="{FF2B5EF4-FFF2-40B4-BE49-F238E27FC236}">
                <a16:creationId xmlns:a16="http://schemas.microsoft.com/office/drawing/2014/main" id="{DCCA6B73-C38E-4708-AA43-BEC5D96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AICITYRUNNER / GAME AR</a:t>
            </a:r>
          </a:p>
        </p:txBody>
      </p:sp>
      <p:sp>
        <p:nvSpPr>
          <p:cNvPr id="22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DB9322B8-4F43-4599-9FBD-9411A6D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48b87dea44e11"/>
          <a:srcRect xmlns:a="http://schemas.openxmlformats.org/drawingml/2006/main" l="13914" t="0" r="139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90700"/>
            <a:ext cx="3276600" cy="2552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439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1">
            <a:extLst xmlns:a="http://schemas.openxmlformats.org/drawingml/2006/main">
              <a:ext uri="{FF2B5EF4-FFF2-40B4-BE49-F238E27FC236}">
                <a16:creationId xmlns:a16="http://schemas.microsoft.com/office/drawing/2014/main" id="{C94414AF-20B8-4EA7-BB0A-83C29D67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APPLICATION / PHARMA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8A9335A8-6D92-4EEC-8712-E7EC9EC3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PharmaDockingMR3：分子候选筛选可追溯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CBABF7E7-5A67-40D9-BC89-D9988DD9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cxnSp>
        <p:nvCxnSpPr>
          <p:cNvPr id="75" name="header-rule-11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medical-stat">
            <a:extLst xmlns:a="http://schemas.openxmlformats.org/drawingml/2006/main">
              <a:ext uri="{FF2B5EF4-FFF2-40B4-BE49-F238E27FC236}">
                <a16:creationId xmlns:a16="http://schemas.microsoft.com/office/drawing/2014/main" id="{3AA5DDD8-7450-48A6-A7F0-8B062F83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8577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6" name="medical-stat-number">
            <a:extLst xmlns:a="http://schemas.openxmlformats.org/drawingml/2006/main">
              <a:ext uri="{FF2B5EF4-FFF2-40B4-BE49-F238E27FC236}">
                <a16:creationId xmlns:a16="http://schemas.microsoft.com/office/drawing/2014/main" id="{DE47FCE9-1D0E-440F-86F2-E0AD179F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333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7" name="medical-stat-label">
            <a:extLst xmlns:a="http://schemas.openxmlformats.org/drawingml/2006/main">
              <a:ext uri="{FF2B5EF4-FFF2-40B4-BE49-F238E27FC236}">
                <a16:creationId xmlns:a16="http://schemas.microsoft.com/office/drawing/2014/main" id="{15F27AB9-ACFC-473E-9F67-907CF4C1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A7C7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C7E7"/>
                </a:solidFill>
                <a:latin typeface="Microsoft YaHei"/>
                <a:ea typeface="Microsoft YaHei"/>
                <a:cs typeface="Microsoft YaHei"/>
              </a:rPr>
              <a:t>中间态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A7C7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C7E7"/>
                </a:solidFill>
                <a:latin typeface="Microsoft YaHei"/>
                <a:ea typeface="Microsoft YaHei"/>
                <a:cs typeface="Microsoft YaHei"/>
              </a:rPr>
              <a:t>保留在端侧</a:t>
            </a:r>
          </a:p>
        </p:txBody>
      </p:sp>
      <p:cxnSp>
        <p:nvCxnSpPr>
          <p:cNvPr id="79" name="medical-stat-rule"/>
          <p:cNvCxnSpPr/>
          <p:nvPr/>
        </p:nvCxnSpPr>
        <p:spPr>
          <a:xfrm xmlns:a="http://schemas.openxmlformats.org/drawingml/2006/main">
            <a:off x="1104900" y="4095750"/>
            <a:ext cx="35623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383A3"/>
            </a:solidFill>
            <a:prstDash val="solid"/>
          </a:ln>
        </p:spPr>
      </p:cxnSp>
      <p:sp>
        <p:nvSpPr>
          <p:cNvPr id="9" name="medical-stat-note">
            <a:extLst xmlns:a="http://schemas.openxmlformats.org/drawingml/2006/main">
              <a:ext uri="{FF2B5EF4-FFF2-40B4-BE49-F238E27FC236}">
                <a16:creationId xmlns:a16="http://schemas.microsoft.com/office/drawing/2014/main" id="{D3D10B5F-ED06-4A15-95CE-F8A6AA7C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775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只返回最终候选、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9F3"/>
                </a:solidFill>
                <a:latin typeface="Microsoft YaHei"/>
                <a:ea typeface="Microsoft YaHei"/>
                <a:cs typeface="Microsoft YaHei"/>
              </a:rPr>
              <a:t>排序和可视化所需数据。</a:t>
            </a:r>
          </a:p>
        </p:txBody>
      </p:sp>
      <p:sp>
        <p:nvSpPr>
          <p:cNvPr id="10" name="medical-1-panel">
            <a:extLst xmlns:a="http://schemas.openxmlformats.org/drawingml/2006/main">
              <a:ext uri="{FF2B5EF4-FFF2-40B4-BE49-F238E27FC236}">
                <a16:creationId xmlns:a16="http://schemas.microsoft.com/office/drawing/2014/main" id="{F5542BEC-66FD-4A67-A590-623ECF54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809750"/>
            <a:ext cx="59340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medical-1-accent">
            <a:extLst xmlns:a="http://schemas.openxmlformats.org/drawingml/2006/main">
              <a:ext uri="{FF2B5EF4-FFF2-40B4-BE49-F238E27FC236}">
                <a16:creationId xmlns:a16="http://schemas.microsoft.com/office/drawing/2014/main" id="{F032165C-17B3-469B-B426-9444284D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809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12" name="medical-1-title">
            <a:extLst xmlns:a="http://schemas.openxmlformats.org/drawingml/2006/main">
              <a:ext uri="{FF2B5EF4-FFF2-40B4-BE49-F238E27FC236}">
                <a16:creationId xmlns:a16="http://schemas.microsoft.com/office/drawing/2014/main" id="{1DC808BE-E070-4834-8349-9CCCD01B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81200"/>
            <a:ext cx="553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用户能得到什么</a:t>
            </a:r>
          </a:p>
        </p:txBody>
      </p:sp>
      <p:sp>
        <p:nvSpPr>
          <p:cNvPr id="13" name="medical-1-body">
            <a:extLst xmlns:a="http://schemas.openxmlformats.org/drawingml/2006/main">
              <a:ext uri="{FF2B5EF4-FFF2-40B4-BE49-F238E27FC236}">
                <a16:creationId xmlns:a16="http://schemas.microsoft.com/office/drawing/2014/main" id="{F348EAFD-22F1-423F-A0DB-971A8198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526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蛋白结构到口袋 / 体素条件，再到候选生成、fingerprint 与规则筛选，最终得到带分数、索引和 schema 版本的候选排序。</a:t>
            </a:r>
          </a:p>
        </p:txBody>
      </p:sp>
      <p:sp>
        <p:nvSpPr>
          <p:cNvPr id="14" name="medical-2-panel">
            <a:extLst xmlns:a="http://schemas.openxmlformats.org/drawingml/2006/main">
              <a:ext uri="{FF2B5EF4-FFF2-40B4-BE49-F238E27FC236}">
                <a16:creationId xmlns:a16="http://schemas.microsoft.com/office/drawing/2014/main" id="{98833C4A-9BFA-45C3-8B03-E011A26A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67050"/>
            <a:ext cx="59340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medical-2-accent">
            <a:extLst xmlns:a="http://schemas.openxmlformats.org/drawingml/2006/main">
              <a:ext uri="{FF2B5EF4-FFF2-40B4-BE49-F238E27FC236}">
                <a16:creationId xmlns:a16="http://schemas.microsoft.com/office/drawing/2014/main" id="{5ECBC955-32F3-4774-8DDD-7935F0E9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670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16" name="medical-2-title">
            <a:extLst xmlns:a="http://schemas.openxmlformats.org/drawingml/2006/main">
              <a:ext uri="{FF2B5EF4-FFF2-40B4-BE49-F238E27FC236}">
                <a16:creationId xmlns:a16="http://schemas.microsoft.com/office/drawing/2014/main" id="{3ADD4D19-6D8A-4F31-BCDE-0252D1CF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38500"/>
            <a:ext cx="553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引擎沉淀什么</a:t>
            </a:r>
          </a:p>
        </p:txBody>
      </p:sp>
      <p:sp>
        <p:nvSpPr>
          <p:cNvPr id="17" name="medical-2-body">
            <a:extLst xmlns:a="http://schemas.openxmlformats.org/drawingml/2006/main">
              <a:ext uri="{FF2B5EF4-FFF2-40B4-BE49-F238E27FC236}">
                <a16:creationId xmlns:a16="http://schemas.microsoft.com/office/drawing/2014/main" id="{85D6E5F3-C100-4B3C-944E-6285A76F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6099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统一 C# / HLSL 原子类型、键类型、电荷、坐标、体素 / 热力图、候选索引和 fingerprint 的结构化数据契约。</a:t>
            </a:r>
          </a:p>
        </p:txBody>
      </p:sp>
      <p:sp>
        <p:nvSpPr>
          <p:cNvPr id="18" name="medical-3-panel">
            <a:extLst xmlns:a="http://schemas.openxmlformats.org/drawingml/2006/main">
              <a:ext uri="{FF2B5EF4-FFF2-40B4-BE49-F238E27FC236}">
                <a16:creationId xmlns:a16="http://schemas.microsoft.com/office/drawing/2014/main" id="{B8A0EAB3-24ED-48C7-8BCA-ADD198F7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324350"/>
            <a:ext cx="59340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9" name="medical-3-accent">
            <a:extLst xmlns:a="http://schemas.openxmlformats.org/drawingml/2006/main">
              <a:ext uri="{FF2B5EF4-FFF2-40B4-BE49-F238E27FC236}">
                <a16:creationId xmlns:a16="http://schemas.microsoft.com/office/drawing/2014/main" id="{2DAF4E0D-98BE-441D-ADCC-1C231B73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3243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0" name="medical-3-title">
            <a:extLst xmlns:a="http://schemas.openxmlformats.org/drawingml/2006/main">
              <a:ext uri="{FF2B5EF4-FFF2-40B4-BE49-F238E27FC236}">
                <a16:creationId xmlns:a16="http://schemas.microsoft.com/office/drawing/2014/main" id="{8432C02D-B46E-409F-BF8C-715FAEB9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495800"/>
            <a:ext cx="553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为什么必须可追溯</a:t>
            </a:r>
          </a:p>
        </p:txBody>
      </p:sp>
      <p:sp>
        <p:nvSpPr>
          <p:cNvPr id="21" name="medical-3-body">
            <a:extLst xmlns:a="http://schemas.openxmlformats.org/drawingml/2006/main">
              <a:ext uri="{FF2B5EF4-FFF2-40B4-BE49-F238E27FC236}">
                <a16:creationId xmlns:a16="http://schemas.microsoft.com/office/drawing/2014/main" id="{286245CF-BB79-4BE9-A0A4-452F1DD6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8672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药物筛选的风险不只是数值偏差，更是索引、类型和数据源错位。每次结果需要保留候选链、规则和版本，才能复核与迭代。</a:t>
            </a:r>
          </a:p>
        </p:txBody>
      </p:sp>
      <p:sp>
        <p:nvSpPr>
          <p:cNvPr id="22" name="medical-footnote">
            <a:extLst xmlns:a="http://schemas.openxmlformats.org/drawingml/2006/main">
              <a:ext uri="{FF2B5EF4-FFF2-40B4-BE49-F238E27FC236}">
                <a16:creationId xmlns:a16="http://schemas.microsoft.com/office/drawing/2014/main" id="{AF1E16FD-D9D2-4E8D-A76F-99AF8D7D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2927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药物方向先统一数据语义与候选索引链，再扩展领域模型；这样才能把计算结果可靠地映射回正确的分子候选。</a:t>
            </a:r>
          </a:p>
        </p:txBody>
      </p:sp>
      <p:cxnSp>
        <p:nvCxnSpPr>
          <p:cNvPr id="94" name="footer-rule-11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24" name="footer-11">
            <a:extLst xmlns:a="http://schemas.openxmlformats.org/drawingml/2006/main">
              <a:ext uri="{FF2B5EF4-FFF2-40B4-BE49-F238E27FC236}">
                <a16:creationId xmlns:a16="http://schemas.microsoft.com/office/drawing/2014/main" id="{2CAC8277-C0E1-4DAA-BABB-DBC72854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PHARMADOCKINGMR3 / MOLECULAR INFERENCE</a:t>
            </a:r>
          </a:p>
        </p:txBody>
      </p:sp>
      <p:sp>
        <p:nvSpPr>
          <p:cNvPr id="2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B1934FE8-E590-4B5C-8C97-5DFC52DD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580016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2">
            <a:extLst xmlns:a="http://schemas.openxmlformats.org/drawingml/2006/main">
              <a:ext uri="{FF2B5EF4-FFF2-40B4-BE49-F238E27FC236}">
                <a16:creationId xmlns:a16="http://schemas.microsoft.com/office/drawing/2014/main" id="{79C7D920-8F75-49D5-9D12-49737C33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PROMOTION ROADMAP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9F9007DE-B58B-4567-BB72-BAE18231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从 ncnn 复刻推广到 Sentis、MNN 与五类领域应用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CBC6F32C-E8F2-41D4-9AA9-EE820384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cxnSp>
        <p:nvCxnSpPr>
          <p:cNvPr id="105" name="header-rule-12"/>
          <p:cNvCxnSpPr/>
          <p:nvPr/>
        </p:nvCxnSpPr>
        <p:spPr>
          <a:xfrm xmlns:a="http://schemas.openxmlformats.org/drawingml/2006/main">
            <a:off x="457200" y="133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5" name="roadmap-lede">
            <a:extLst xmlns:a="http://schemas.openxmlformats.org/drawingml/2006/main">
              <a:ext uri="{FF2B5EF4-FFF2-40B4-BE49-F238E27FC236}">
                <a16:creationId xmlns:a16="http://schemas.microsoft.com/office/drawing/2014/main" id="{7D5D0021-29CC-4E94-9C8F-16C673AB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推广的顺序不是简单扩大范围，而是先把可验证的通用能力做稳，再让新的模型生态和领域需求复用它。</a:t>
            </a:r>
          </a:p>
        </p:txBody>
      </p:sp>
      <p:cxnSp>
        <p:nvCxnSpPr>
          <p:cNvPr id="107" name="roadmap-line"/>
          <p:cNvCxnSpPr/>
          <p:nvPr/>
        </p:nvCxnSpPr>
        <p:spPr>
          <a:xfrm xmlns:a="http://schemas.openxmlformats.org/drawingml/2006/main">
            <a:off x="819150" y="3162300"/>
            <a:ext cx="105727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sp>
        <p:nvSpPr>
          <p:cNvPr id="7" name="roadmap-dot-0">
            <a:extLst xmlns:a="http://schemas.openxmlformats.org/drawingml/2006/main">
              <a:ext uri="{FF2B5EF4-FFF2-40B4-BE49-F238E27FC236}">
                <a16:creationId xmlns:a16="http://schemas.microsoft.com/office/drawing/2014/main" id="{A1786F98-D5E3-4E48-B9E2-6083C5BA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A5A"/>
          </a:solidFill>
          <a:ln xmlns:a="http://schemas.openxmlformats.org/drawingml/2006/main" w="9525">
            <a:solidFill>
              <a:srgbClr val="C74A5A"/>
            </a:solidFill>
            <a:prstDash val="solid"/>
          </a:ln>
        </p:spPr>
      </p:sp>
      <p:sp>
        <p:nvSpPr>
          <p:cNvPr id="8" name="roadmap-num-0">
            <a:extLst xmlns:a="http://schemas.openxmlformats.org/drawingml/2006/main">
              <a:ext uri="{FF2B5EF4-FFF2-40B4-BE49-F238E27FC236}">
                <a16:creationId xmlns:a16="http://schemas.microsoft.com/office/drawing/2014/main" id="{9233565D-FA7A-4AEF-AA41-FC0B9621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4A5A"/>
                </a:solidFill>
                <a:latin typeface="Microsoft YaHei"/>
                <a:ea typeface="Microsoft YaHei"/>
                <a:cs typeface="Microsoft YaHei"/>
              </a:rPr>
              <a:t>NOW</a:t>
            </a:r>
          </a:p>
        </p:txBody>
      </p:sp>
      <p:sp>
        <p:nvSpPr>
          <p:cNvPr id="9" name="roadmap-title-0">
            <a:extLst xmlns:a="http://schemas.openxmlformats.org/drawingml/2006/main">
              <a:ext uri="{FF2B5EF4-FFF2-40B4-BE49-F238E27FC236}">
                <a16:creationId xmlns:a16="http://schemas.microsoft.com/office/drawing/2014/main" id="{69DEB7E9-6A2E-45B8-8963-6537FD44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86150"/>
            <a:ext cx="147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ncnn 复刻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与视觉证据</a:t>
            </a:r>
          </a:p>
        </p:txBody>
      </p:sp>
      <p:sp>
        <p:nvSpPr>
          <p:cNvPr id="10" name="roadmap-body-0">
            <a:extLst xmlns:a="http://schemas.openxmlformats.org/drawingml/2006/main">
              <a:ext uri="{FF2B5EF4-FFF2-40B4-BE49-F238E27FC236}">
                <a16:creationId xmlns:a16="http://schemas.microsoft.com/office/drawing/2014/main" id="{E206E053-C953-461A-B38E-8D27592E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48150"/>
            <a:ext cx="147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CLIP、YOLO、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去人、修复、增强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真实跑测</a:t>
            </a:r>
          </a:p>
        </p:txBody>
      </p:sp>
      <p:sp>
        <p:nvSpPr>
          <p:cNvPr id="11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5E982523-AD8B-4C21-8706-35D5D10A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A11"/>
          </a:solidFill>
          <a:ln xmlns:a="http://schemas.openxmlformats.org/drawingml/2006/main" w="9525">
            <a:solidFill>
              <a:srgbClr val="D59A11"/>
            </a:solidFill>
            <a:prstDash val="solid"/>
          </a:ln>
        </p:spPr>
      </p:sp>
      <p:sp>
        <p:nvSpPr>
          <p:cNvPr id="12" name="roadmap-num-1">
            <a:extLst xmlns:a="http://schemas.openxmlformats.org/drawingml/2006/main">
              <a:ext uri="{FF2B5EF4-FFF2-40B4-BE49-F238E27FC236}">
                <a16:creationId xmlns:a16="http://schemas.microsoft.com/office/drawing/2014/main" id="{D16CD4EA-5CBD-4F48-83D7-4AEDE5DE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9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59A11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13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26480045-E875-47E0-9082-A24E7B44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86150"/>
            <a:ext cx="147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通用 IR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与能力报告</a:t>
            </a:r>
          </a:p>
        </p:txBody>
      </p:sp>
      <p:sp>
        <p:nvSpPr>
          <p:cNvPr id="14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B233428F-30A1-405D-9E85-EBBF4374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48150"/>
            <a:ext cx="147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输入输出契约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算子能力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回归与诊断</a:t>
            </a:r>
          </a:p>
        </p:txBody>
      </p:sp>
      <p:sp>
        <p:nvSpPr>
          <p:cNvPr id="15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6C0395E7-0655-4D45-A0E7-B6A85B63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6" name="roadmap-num-2">
            <a:extLst xmlns:a="http://schemas.openxmlformats.org/drawingml/2006/main">
              <a:ext uri="{FF2B5EF4-FFF2-40B4-BE49-F238E27FC236}">
                <a16:creationId xmlns:a16="http://schemas.microsoft.com/office/drawing/2014/main" id="{0D9502F0-0313-43A4-94A8-44EFF149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EXPAND</a:t>
            </a:r>
          </a:p>
        </p:txBody>
      </p:sp>
      <p:sp>
        <p:nvSpPr>
          <p:cNvPr id="17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9FA6ED74-456A-463D-B8C8-704E8532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86150"/>
            <a:ext cx="147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Sentis / ONNX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</p:txBody>
      </p:sp>
      <p:sp>
        <p:nvSpPr>
          <p:cNvPr id="18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7DD28EBF-9A78-49EB-9CCD-D55AE537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248150"/>
            <a:ext cx="147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图结构接入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视觉后处理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通用模型导入</a:t>
            </a:r>
          </a:p>
        </p:txBody>
      </p:sp>
      <p:sp>
        <p:nvSpPr>
          <p:cNvPr id="19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F357C16D-F284-49B9-BA86-5D6DBCB7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9525">
            <a:solidFill>
              <a:srgbClr val="0E9F9A"/>
            </a:solidFill>
            <a:prstDash val="solid"/>
          </a:ln>
        </p:spPr>
      </p:sp>
      <p:sp>
        <p:nvSpPr>
          <p:cNvPr id="20" name="roadmap-num-3">
            <a:extLst xmlns:a="http://schemas.openxmlformats.org/drawingml/2006/main">
              <a:ext uri="{FF2B5EF4-FFF2-40B4-BE49-F238E27FC236}">
                <a16:creationId xmlns:a16="http://schemas.microsoft.com/office/drawing/2014/main" id="{ED266F97-F10B-4819-BEAC-0D9568E7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E9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E9F9A"/>
                </a:solidFill>
                <a:latin typeface="Microsoft YaHei"/>
                <a:ea typeface="Microsoft YaHei"/>
                <a:cs typeface="Microsoft YaHei"/>
              </a:rPr>
              <a:t>APPLY</a:t>
            </a:r>
          </a:p>
        </p:txBody>
      </p:sp>
      <p:sp>
        <p:nvSpPr>
          <p:cNvPr id="21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5AA47B52-B240-4BC6-B6EC-A7C31530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147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教育、游戏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与医学</a:t>
            </a:r>
          </a:p>
        </p:txBody>
      </p:sp>
      <p:sp>
        <p:nvSpPr>
          <p:cNvPr id="22" name="roadmap-body-3">
            <a:extLst xmlns:a="http://schemas.openxmlformats.org/drawingml/2006/main">
              <a:ext uri="{FF2B5EF4-FFF2-40B4-BE49-F238E27FC236}">
                <a16:creationId xmlns:a16="http://schemas.microsoft.com/office/drawing/2014/main" id="{E3A0C953-D328-4273-8D79-7AF6AB68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147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教学 IR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AR 结果契约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3D 分割</a:t>
            </a:r>
          </a:p>
        </p:txBody>
      </p:sp>
      <p:sp>
        <p:nvSpPr>
          <p:cNvPr id="23" name="roadmap-dot-4">
            <a:extLst xmlns:a="http://schemas.openxmlformats.org/drawingml/2006/main">
              <a:ext uri="{FF2B5EF4-FFF2-40B4-BE49-F238E27FC236}">
                <a16:creationId xmlns:a16="http://schemas.microsoft.com/office/drawing/2014/main" id="{2C2C8234-2504-4FFA-A908-414D6ADD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9525">
            <a:solidFill>
              <a:srgbClr val="168A5B"/>
            </a:solidFill>
            <a:prstDash val="solid"/>
          </a:ln>
        </p:spPr>
      </p:sp>
      <p:sp>
        <p:nvSpPr>
          <p:cNvPr id="24" name="roadmap-num-4">
            <a:extLst xmlns:a="http://schemas.openxmlformats.org/drawingml/2006/main">
              <a:ext uri="{FF2B5EF4-FFF2-40B4-BE49-F238E27FC236}">
                <a16:creationId xmlns:a16="http://schemas.microsoft.com/office/drawing/2014/main" id="{0D6C3240-16B8-4F55-8548-395D2CF6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A5B"/>
                </a:solidFill>
                <a:latin typeface="Microsoft YaHei"/>
                <a:ea typeface="Microsoft YaHei"/>
                <a:cs typeface="Microsoft YaHei"/>
              </a:rPr>
              <a:t>EXTEND</a:t>
            </a:r>
          </a:p>
        </p:txBody>
      </p:sp>
      <p:sp>
        <p:nvSpPr>
          <p:cNvPr id="25" name="roadmap-title-4">
            <a:extLst xmlns:a="http://schemas.openxmlformats.org/drawingml/2006/main">
              <a:ext uri="{FF2B5EF4-FFF2-40B4-BE49-F238E27FC236}">
                <a16:creationId xmlns:a16="http://schemas.microsoft.com/office/drawing/2014/main" id="{C5033FBF-CF77-4188-B01B-B1D44CAD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86150"/>
            <a:ext cx="147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MNN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与药物方向</a:t>
            </a:r>
          </a:p>
        </p:txBody>
      </p:sp>
      <p:sp>
        <p:nvSpPr>
          <p:cNvPr id="26" name="roadmap-body-4">
            <a:extLst xmlns:a="http://schemas.openxmlformats.org/drawingml/2006/main">
              <a:ext uri="{FF2B5EF4-FFF2-40B4-BE49-F238E27FC236}">
                <a16:creationId xmlns:a16="http://schemas.microsoft.com/office/drawing/2014/main" id="{7381CC76-EF95-4D46-8F85-99422646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48150"/>
            <a:ext cx="147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移动模型生态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分子数据契约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候选排序</a:t>
            </a:r>
          </a:p>
        </p:txBody>
      </p:sp>
      <p:sp>
        <p:nvSpPr>
          <p:cNvPr id="27" name="roadmap-dot-5">
            <a:extLst xmlns:a="http://schemas.openxmlformats.org/drawingml/2006/main">
              <a:ext uri="{FF2B5EF4-FFF2-40B4-BE49-F238E27FC236}">
                <a16:creationId xmlns:a16="http://schemas.microsoft.com/office/drawing/2014/main" id="{D38FA5C9-08B2-4E21-978B-667A12FB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28" name="roadmap-num-5">
            <a:extLst xmlns:a="http://schemas.openxmlformats.org/drawingml/2006/main">
              <a:ext uri="{FF2B5EF4-FFF2-40B4-BE49-F238E27FC236}">
                <a16:creationId xmlns:a16="http://schemas.microsoft.com/office/drawing/2014/main" id="{047EBA90-109F-43AB-B454-BAB8D852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RELEASE</a:t>
            </a:r>
          </a:p>
        </p:txBody>
      </p:sp>
      <p:sp>
        <p:nvSpPr>
          <p:cNvPr id="29" name="roadmap-title-5">
            <a:extLst xmlns:a="http://schemas.openxmlformats.org/drawingml/2006/main">
              <a:ext uri="{FF2B5EF4-FFF2-40B4-BE49-F238E27FC236}">
                <a16:creationId xmlns:a16="http://schemas.microsoft.com/office/drawing/2014/main" id="{2BDEC306-7EB7-4CF0-9DA3-14CF4135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86150"/>
            <a:ext cx="147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可发布的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端侧产品包</a:t>
            </a:r>
          </a:p>
        </p:txBody>
      </p:sp>
      <p:sp>
        <p:nvSpPr>
          <p:cNvPr id="30" name="roadmap-body-5">
            <a:extLst xmlns:a="http://schemas.openxmlformats.org/drawingml/2006/main">
              <a:ext uri="{FF2B5EF4-FFF2-40B4-BE49-F238E27FC236}">
                <a16:creationId xmlns:a16="http://schemas.microsoft.com/office/drawing/2014/main" id="{22E9C39F-D022-41A7-B902-DC106C22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48150"/>
            <a:ext cx="147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Manifest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验证报告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平台能力档</a:t>
            </a:r>
          </a:p>
        </p:txBody>
      </p:sp>
      <p:sp>
        <p:nvSpPr>
          <p:cNvPr id="31" name="roadmap-bottom">
            <a:extLst xmlns:a="http://schemas.openxmlformats.org/drawingml/2006/main">
              <a:ext uri="{FF2B5EF4-FFF2-40B4-BE49-F238E27FC236}">
                <a16:creationId xmlns:a16="http://schemas.microsoft.com/office/drawing/2014/main" id="{D9680356-02B7-4BD6-81D7-984ADC2B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32" name="roadmap-bottom-text">
            <a:extLst xmlns:a="http://schemas.openxmlformats.org/drawingml/2006/main">
              <a:ext uri="{FF2B5EF4-FFF2-40B4-BE49-F238E27FC236}">
                <a16:creationId xmlns:a16="http://schemas.microsoft.com/office/drawing/2014/main" id="{3E29AEBF-65C0-469B-9033-54CDDD2D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2927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路径已经清晰：源于 ncnn 的 Unity 跨平台问题，沉淀为通用引擎，再推广到 Sentis、MNN 与五类应用方向。</a:t>
            </a:r>
          </a:p>
        </p:txBody>
      </p:sp>
      <p:cxnSp>
        <p:nvCxnSpPr>
          <p:cNvPr id="134" name="footer-rule-12"/>
          <p:cNvCxnSpPr/>
          <p:nvPr/>
        </p:nvCxnSpPr>
        <p:spPr>
          <a:xfrm xmlns:a="http://schemas.openxmlformats.org/drawingml/2006/main">
            <a:off x="457200" y="62960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7DE"/>
            </a:solidFill>
            <a:prstDash val="solid"/>
          </a:ln>
        </p:spPr>
      </p:cxnSp>
      <p:sp>
        <p:nvSpPr>
          <p:cNvPr id="34" name="footer-12">
            <a:extLst xmlns:a="http://schemas.openxmlformats.org/drawingml/2006/main">
              <a:ext uri="{FF2B5EF4-FFF2-40B4-BE49-F238E27FC236}">
                <a16:creationId xmlns:a16="http://schemas.microsoft.com/office/drawing/2014/main" id="{005EEDE8-363F-40C6-805B-1DA24A1A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PROMOTION ROADMAP</a:t>
            </a:r>
          </a:p>
        </p:txBody>
      </p:sp>
      <p:sp>
        <p:nvSpPr>
          <p:cNvPr id="35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2894DF7B-E161-4F39-8FEA-69F18413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116749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9C4198F9-DCA2-4E69-AC68-10F84721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END STATE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73D52C8-B040-453A-8FF5-726E0585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让端侧 AI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真正成为产品能力</a:t>
            </a:r>
          </a:p>
        </p:txBody>
      </p:sp>
      <p:sp>
        <p:nvSpPr>
          <p:cNvPr id="3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1AA749E2-2DAC-4354-8681-B7D4A88F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端侧推理引擎的价值，不在于累积更多单点 runner，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而在于让每个模型来源、每次输出和每类业务结果都可复用、可验证、可推广。</a:t>
            </a:r>
          </a:p>
        </p:txBody>
      </p:sp>
      <p:cxnSp>
        <p:nvCxnSpPr>
          <p:cNvPr id="43" name="close-rule"/>
          <p:cNvCxnSpPr/>
          <p:nvPr/>
        </p:nvCxnSpPr>
        <p:spPr>
          <a:xfrm xmlns:a="http://schemas.openxmlformats.org/drawingml/2006/main">
            <a:off x="647700" y="4591050"/>
            <a:ext cx="65722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7DE"/>
            </a:solidFill>
            <a:prstDash val="solid"/>
          </a:ln>
        </p:spPr>
      </p:cxnSp>
      <p:sp>
        <p:nvSpPr>
          <p:cNvPr id="5" name="close-next">
            <a:extLst xmlns:a="http://schemas.openxmlformats.org/drawingml/2006/main">
              <a:ext uri="{FF2B5EF4-FFF2-40B4-BE49-F238E27FC236}">
                <a16:creationId xmlns:a16="http://schemas.microsoft.com/office/drawing/2014/main" id="{D7A16D5F-4D08-4356-A1C3-9EF8A9A3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623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下一步：以真实 runner 结果持续扩展模型生态，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让 Sentis、MNN 与 AIImage / 教育 / 游戏 / 医学 / 药学复用同一引擎底座。</a:t>
            </a:r>
          </a:p>
        </p:txBody>
      </p:sp>
      <p:sp>
        <p:nvSpPr>
          <p:cNvPr id="6" name="close-field">
            <a:extLst xmlns:a="http://schemas.openxmlformats.org/drawingml/2006/main">
              <a:ext uri="{FF2B5EF4-FFF2-40B4-BE49-F238E27FC236}">
                <a16:creationId xmlns:a16="http://schemas.microsoft.com/office/drawing/2014/main" id="{550AF770-C854-4D13-AA33-82B2A6A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386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3"/>
          </a:solidFill>
          <a:ln xmlns:a="http://schemas.openxmlformats.org/drawingml/2006/main" w="9525">
            <a:solidFill>
              <a:srgbClr val="142433"/>
            </a:solidFill>
            <a:prstDash val="solid"/>
          </a:ln>
        </p:spPr>
      </p:sp>
      <p:sp>
        <p:nvSpPr>
          <p:cNvPr id="7" name="close-right-title">
            <a:extLst xmlns:a="http://schemas.openxmlformats.org/drawingml/2006/main">
              <a:ext uri="{FF2B5EF4-FFF2-40B4-BE49-F238E27FC236}">
                <a16:creationId xmlns:a16="http://schemas.microsoft.com/office/drawing/2014/main" id="{D386D94E-5740-4E59-93BA-D8741530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14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93D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3D5FF"/>
                </a:solidFill>
                <a:latin typeface="Microsoft YaHei"/>
                <a:ea typeface="Microsoft YaHei"/>
                <a:cs typeface="Microsoft YaHei"/>
              </a:rPr>
              <a:t>跨格式</a:t>
            </a:r>
          </a:p>
        </p:txBody>
      </p:sp>
      <p:sp>
        <p:nvSpPr>
          <p:cNvPr id="8" name="close-right-1">
            <a:extLst xmlns:a="http://schemas.openxmlformats.org/drawingml/2006/main">
              <a:ext uri="{FF2B5EF4-FFF2-40B4-BE49-F238E27FC236}">
                <a16:creationId xmlns:a16="http://schemas.microsoft.com/office/drawing/2014/main" id="{8AB8EEEE-EFC9-4682-A2AE-7EDAD782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ncnn / ONNX / Sentis / MNN</a:t>
            </a:r>
          </a:p>
        </p:txBody>
      </p:sp>
      <p:cxnSp>
        <p:nvCxnSpPr>
          <p:cNvPr id="48" name="close-right-rule-1"/>
          <p:cNvCxnSpPr/>
          <p:nvPr/>
        </p:nvCxnSpPr>
        <p:spPr>
          <a:xfrm xmlns:a="http://schemas.openxmlformats.org/drawingml/2006/main">
            <a:off x="8877300" y="2505075"/>
            <a:ext cx="2114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16C83"/>
            </a:solidFill>
            <a:prstDash val="solid"/>
          </a:ln>
        </p:spPr>
      </p:cxnSp>
      <p:sp>
        <p:nvSpPr>
          <p:cNvPr id="10" name="close-right-title-2">
            <a:extLst xmlns:a="http://schemas.openxmlformats.org/drawingml/2006/main">
              <a:ext uri="{FF2B5EF4-FFF2-40B4-BE49-F238E27FC236}">
                <a16:creationId xmlns:a16="http://schemas.microsoft.com/office/drawing/2014/main" id="{80AF6178-67E1-460D-8D1E-D7B37C60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EE7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EE7DC"/>
                </a:solidFill>
                <a:latin typeface="Microsoft YaHei"/>
                <a:ea typeface="Microsoft YaHei"/>
                <a:cs typeface="Microsoft YaHei"/>
              </a:rPr>
              <a:t>可验证</a:t>
            </a:r>
          </a:p>
        </p:txBody>
      </p:sp>
      <p:sp>
        <p:nvSpPr>
          <p:cNvPr id="11" name="close-right-2">
            <a:extLst xmlns:a="http://schemas.openxmlformats.org/drawingml/2006/main">
              <a:ext uri="{FF2B5EF4-FFF2-40B4-BE49-F238E27FC236}">
                <a16:creationId xmlns:a16="http://schemas.microsoft.com/office/drawing/2014/main" id="{1E92D706-E82D-4436-8C30-6C8676B9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623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输入输出 / 指标 / 回归 / 诊断</a:t>
            </a:r>
          </a:p>
        </p:txBody>
      </p:sp>
      <p:cxnSp>
        <p:nvCxnSpPr>
          <p:cNvPr id="51" name="close-right-rule-2"/>
          <p:cNvCxnSpPr/>
          <p:nvPr/>
        </p:nvCxnSpPr>
        <p:spPr>
          <a:xfrm xmlns:a="http://schemas.openxmlformats.org/drawingml/2006/main">
            <a:off x="8877300" y="3905250"/>
            <a:ext cx="2114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16C83"/>
            </a:solidFill>
            <a:prstDash val="solid"/>
          </a:ln>
        </p:spPr>
      </p:cxnSp>
      <p:sp>
        <p:nvSpPr>
          <p:cNvPr id="13" name="close-right-title-3">
            <a:extLst xmlns:a="http://schemas.openxmlformats.org/drawingml/2006/main">
              <a:ext uri="{FF2B5EF4-FFF2-40B4-BE49-F238E27FC236}">
                <a16:creationId xmlns:a16="http://schemas.microsoft.com/office/drawing/2014/main" id="{D51056B5-7461-4386-9137-EE768959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148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BA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BAC2"/>
                </a:solidFill>
                <a:latin typeface="Microsoft YaHei"/>
                <a:ea typeface="Microsoft YaHei"/>
                <a:cs typeface="Microsoft YaHei"/>
              </a:rPr>
              <a:t>按领域扩展</a:t>
            </a:r>
          </a:p>
        </p:txBody>
      </p:sp>
      <p:sp>
        <p:nvSpPr>
          <p:cNvPr id="14" name="close-right-3">
            <a:extLst xmlns:a="http://schemas.openxmlformats.org/drawingml/2006/main">
              <a:ext uri="{FF2B5EF4-FFF2-40B4-BE49-F238E27FC236}">
                <a16:creationId xmlns:a16="http://schemas.microsoft.com/office/drawing/2014/main" id="{847A5F9C-E4B7-45D3-9DC4-E5889ADA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62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AIImage / 教育 / 游戏 / 医学 / 药学</a:t>
            </a:r>
          </a:p>
        </p:txBody>
      </p:sp>
      <p:sp>
        <p:nvSpPr>
          <p:cNvPr id="15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4564847D-74A5-40EB-B99C-1C962F8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AIIMAGE / UNITY INFERENCE ENGINE / 2026.07</a:t>
            </a:r>
          </a:p>
        </p:txBody>
      </p:sp>
    </p:spTree>
    <p:extLst>
      <p:ext uri="{BB962C8B-B14F-4D97-AF65-F5344CB8AC3E}">
        <p14:creationId xmlns:p14="http://schemas.microsoft.com/office/powerpoint/2010/main" val="895029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2026-07-14T09:44:46.0380000Z</dcterms:created>
  <dcterms:modified xsi:type="dcterms:W3CDTF">2026-07-14T09:44:46.0380000Z</dcterms:modified>
</coreProperties>
</file>